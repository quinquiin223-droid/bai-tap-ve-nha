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2.mp3" ContentType="audio/mpeg"/>
  <Override PartName="/ppt/media/media3.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65" r:id="rId2"/>
    <p:sldId id="260" r:id="rId3"/>
    <p:sldId id="7181" r:id="rId4"/>
    <p:sldId id="7182" r:id="rId5"/>
    <p:sldId id="7237" r:id="rId6"/>
    <p:sldId id="7245" r:id="rId7"/>
    <p:sldId id="7187" r:id="rId8"/>
    <p:sldId id="7186" r:id="rId9"/>
    <p:sldId id="7238" r:id="rId10"/>
    <p:sldId id="7185" r:id="rId11"/>
    <p:sldId id="7184" r:id="rId12"/>
    <p:sldId id="7183" r:id="rId13"/>
    <p:sldId id="7240" r:id="rId14"/>
    <p:sldId id="7239" r:id="rId15"/>
    <p:sldId id="7190" r:id="rId16"/>
    <p:sldId id="7196" r:id="rId17"/>
    <p:sldId id="7195" r:id="rId18"/>
    <p:sldId id="7257" r:id="rId19"/>
    <p:sldId id="7194" r:id="rId20"/>
    <p:sldId id="7193" r:id="rId21"/>
    <p:sldId id="7241" r:id="rId22"/>
    <p:sldId id="7199" r:id="rId23"/>
    <p:sldId id="7198" r:id="rId24"/>
    <p:sldId id="7197" r:id="rId25"/>
    <p:sldId id="7242" r:id="rId26"/>
    <p:sldId id="7180" r:id="rId27"/>
    <p:sldId id="7243" r:id="rId28"/>
    <p:sldId id="7244" r:id="rId29"/>
    <p:sldId id="7200" r:id="rId30"/>
    <p:sldId id="7205" r:id="rId31"/>
    <p:sldId id="7206" r:id="rId32"/>
    <p:sldId id="7208" r:id="rId33"/>
    <p:sldId id="7258" r:id="rId34"/>
    <p:sldId id="7207" r:id="rId35"/>
    <p:sldId id="7246" r:id="rId36"/>
    <p:sldId id="7247" r:id="rId37"/>
    <p:sldId id="7201" r:id="rId38"/>
    <p:sldId id="7248" r:id="rId39"/>
    <p:sldId id="7249" r:id="rId40"/>
    <p:sldId id="7204" r:id="rId41"/>
    <p:sldId id="7209" r:id="rId42"/>
    <p:sldId id="7255" r:id="rId43"/>
    <p:sldId id="7214" r:id="rId44"/>
    <p:sldId id="7213" r:id="rId45"/>
    <p:sldId id="7250" r:id="rId46"/>
    <p:sldId id="7211" r:id="rId47"/>
    <p:sldId id="7212" r:id="rId48"/>
    <p:sldId id="7210" r:id="rId49"/>
    <p:sldId id="7217" r:id="rId50"/>
    <p:sldId id="7218" r:id="rId51"/>
    <p:sldId id="7223" r:id="rId52"/>
    <p:sldId id="7222" r:id="rId53"/>
    <p:sldId id="7251" r:id="rId54"/>
    <p:sldId id="7252" r:id="rId55"/>
    <p:sldId id="7221" r:id="rId56"/>
    <p:sldId id="7253" r:id="rId57"/>
    <p:sldId id="7260" r:id="rId80"/>
    <p:sldId id="7202" r:id="rId58"/>
    <p:sldId id="7254" r:id="rId59"/>
    <p:sldId id="7256" r:id="rId60"/>
    <p:sldId id="7225" r:id="rId61"/>
    <p:sldId id="7226" r:id="rId62"/>
    <p:sldId id="7227" r:id="rId63"/>
    <p:sldId id="7228" r:id="rId64"/>
    <p:sldId id="7229" r:id="rId65"/>
    <p:sldId id="7230" r:id="rId66"/>
    <p:sldId id="7232" r:id="rId67"/>
    <p:sldId id="7236" r:id="rId68"/>
    <p:sldId id="7235" r:id="rId69"/>
    <p:sldId id="7233" r:id="rId70"/>
    <p:sldId id="7234" r:id="rId71"/>
    <p:sldId id="7259" r:id="rId72"/>
    <p:sldId id="7151" r:id="rId73"/>
  </p:sldIdLst>
  <p:sldSz cx="12192000" cy="6858000"/>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AF6"/>
    <a:srgbClr val="B1977A"/>
    <a:srgbClr val="A3B8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82" autoAdjust="0"/>
    <p:restoredTop sz="93715" autoAdjust="0"/>
  </p:normalViewPr>
  <p:slideViewPr>
    <p:cSldViewPr snapToGrid="0">
      <p:cViewPr varScale="1">
        <p:scale>
          <a:sx n="118" d="100"/>
          <a:sy n="118" d="100"/>
        </p:scale>
        <p:origin x="2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tags" Target="tags/tag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1D86B-6614-4721-BA70-BAF33CCA8E39}"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10B4A-0904-4E9E-A428-EA3E6B848F06}" type="slidenum">
              <a:rPr lang="zh-CN" altLang="en-US" smtClean="0"/>
              <a:t>‹#›</a:t>
            </a:fld>
            <a:endParaRPr lang="zh-CN" altLang="en-US"/>
          </a:p>
        </p:txBody>
      </p:sp>
    </p:spTree>
    <p:extLst>
      <p:ext uri="{BB962C8B-B14F-4D97-AF65-F5344CB8AC3E}">
        <p14:creationId xmlns:p14="http://schemas.microsoft.com/office/powerpoint/2010/main" val="296356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B10B4A-0904-4E9E-A428-EA3E6B848F06}" type="slidenum">
              <a:rPr lang="zh-CN" altLang="en-US" smtClean="0"/>
              <a:t>1</a:t>
            </a:fld>
            <a:endParaRPr lang="zh-CN" altLang="en-US"/>
          </a:p>
        </p:txBody>
      </p:sp>
    </p:spTree>
    <p:extLst>
      <p:ext uri="{BB962C8B-B14F-4D97-AF65-F5344CB8AC3E}">
        <p14:creationId xmlns:p14="http://schemas.microsoft.com/office/powerpoint/2010/main" val="2805902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2</a:t>
            </a:fld>
            <a:endParaRPr lang="zh-CN" altLang="en-US"/>
          </a:p>
        </p:txBody>
      </p:sp>
    </p:spTree>
    <p:extLst>
      <p:ext uri="{BB962C8B-B14F-4D97-AF65-F5344CB8AC3E}">
        <p14:creationId xmlns:p14="http://schemas.microsoft.com/office/powerpoint/2010/main" val="75989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3</a:t>
            </a:fld>
            <a:endParaRPr lang="en-US"/>
          </a:p>
        </p:txBody>
      </p:sp>
    </p:spTree>
    <p:extLst>
      <p:ext uri="{BB962C8B-B14F-4D97-AF65-F5344CB8AC3E}">
        <p14:creationId xmlns:p14="http://schemas.microsoft.com/office/powerpoint/2010/main" val="1996156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a:t>
            </a:fld>
            <a:endParaRPr lang="en-US"/>
          </a:p>
        </p:txBody>
      </p:sp>
    </p:spTree>
    <p:extLst>
      <p:ext uri="{BB962C8B-B14F-4D97-AF65-F5344CB8AC3E}">
        <p14:creationId xmlns:p14="http://schemas.microsoft.com/office/powerpoint/2010/main" val="3399663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44C75-FE02-80E4-9279-DCF7DAD4A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6BB95-992D-B15C-818C-6738DFF6BA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DD09AD-6F63-97C9-15FB-E71B4A1194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A5228E-0CB9-0BDB-58D2-9876D84D559A}"/>
              </a:ext>
            </a:extLst>
          </p:cNvPr>
          <p:cNvSpPr>
            <a:spLocks noGrp="1"/>
          </p:cNvSpPr>
          <p:nvPr>
            <p:ph type="sldNum" sz="quarter" idx="10"/>
          </p:nvPr>
        </p:nvSpPr>
        <p:spPr/>
        <p:txBody>
          <a:bodyPr/>
          <a:lstStyle/>
          <a:p>
            <a:fld id="{CE1689F0-D8FB-450F-A36F-553F26501FEE}" type="slidenum">
              <a:rPr lang="zh-CN" altLang="en-US" smtClean="0"/>
              <a:t>5</a:t>
            </a:fld>
            <a:endParaRPr lang="en-US"/>
          </a:p>
        </p:txBody>
      </p:sp>
    </p:spTree>
    <p:extLst>
      <p:ext uri="{BB962C8B-B14F-4D97-AF65-F5344CB8AC3E}">
        <p14:creationId xmlns:p14="http://schemas.microsoft.com/office/powerpoint/2010/main" val="552912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7</a:t>
            </a:fld>
            <a:endParaRPr lang="en-US"/>
          </a:p>
        </p:txBody>
      </p:sp>
    </p:spTree>
    <p:extLst>
      <p:ext uri="{BB962C8B-B14F-4D97-AF65-F5344CB8AC3E}">
        <p14:creationId xmlns:p14="http://schemas.microsoft.com/office/powerpoint/2010/main" val="3822699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8</a:t>
            </a:fld>
            <a:endParaRPr lang="en-US"/>
          </a:p>
        </p:txBody>
      </p:sp>
    </p:spTree>
    <p:extLst>
      <p:ext uri="{BB962C8B-B14F-4D97-AF65-F5344CB8AC3E}">
        <p14:creationId xmlns:p14="http://schemas.microsoft.com/office/powerpoint/2010/main" val="2934243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E5A45-FCC3-074B-A2F2-D2D656ACD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CC8EF-4D6B-5056-F7FF-C612A627FF9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FD180E-EF62-11B6-A3EC-FB285239BB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6C5A18-FDA9-EFD9-369D-E97946704096}"/>
              </a:ext>
            </a:extLst>
          </p:cNvPr>
          <p:cNvSpPr>
            <a:spLocks noGrp="1"/>
          </p:cNvSpPr>
          <p:nvPr>
            <p:ph type="sldNum" sz="quarter" idx="10"/>
          </p:nvPr>
        </p:nvSpPr>
        <p:spPr/>
        <p:txBody>
          <a:bodyPr/>
          <a:lstStyle/>
          <a:p>
            <a:fld id="{CE1689F0-D8FB-450F-A36F-553F26501FEE}" type="slidenum">
              <a:rPr lang="zh-CN" altLang="en-US" smtClean="0"/>
              <a:t>9</a:t>
            </a:fld>
            <a:endParaRPr lang="en-US"/>
          </a:p>
        </p:txBody>
      </p:sp>
    </p:spTree>
    <p:extLst>
      <p:ext uri="{BB962C8B-B14F-4D97-AF65-F5344CB8AC3E}">
        <p14:creationId xmlns:p14="http://schemas.microsoft.com/office/powerpoint/2010/main" val="373337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10</a:t>
            </a:fld>
            <a:endParaRPr lang="en-US"/>
          </a:p>
        </p:txBody>
      </p:sp>
    </p:spTree>
    <p:extLst>
      <p:ext uri="{BB962C8B-B14F-4D97-AF65-F5344CB8AC3E}">
        <p14:creationId xmlns:p14="http://schemas.microsoft.com/office/powerpoint/2010/main" val="282184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11</a:t>
            </a:fld>
            <a:endParaRPr lang="en-US"/>
          </a:p>
        </p:txBody>
      </p:sp>
    </p:spTree>
    <p:extLst>
      <p:ext uri="{BB962C8B-B14F-4D97-AF65-F5344CB8AC3E}">
        <p14:creationId xmlns:p14="http://schemas.microsoft.com/office/powerpoint/2010/main" val="736869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12</a:t>
            </a:fld>
            <a:endParaRPr lang="en-US"/>
          </a:p>
        </p:txBody>
      </p:sp>
    </p:spTree>
    <p:extLst>
      <p:ext uri="{BB962C8B-B14F-4D97-AF65-F5344CB8AC3E}">
        <p14:creationId xmlns:p14="http://schemas.microsoft.com/office/powerpoint/2010/main" val="1177472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9267-077E-1112-B5A5-D25B1561D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5C1DA-BFA4-2FCF-25D7-77EC176FF0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03D9E0-B8A7-3E10-3F83-1FB24BDC09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47DBC0-7BA6-374A-7A90-87B61BFA934F}"/>
              </a:ext>
            </a:extLst>
          </p:cNvPr>
          <p:cNvSpPr>
            <a:spLocks noGrp="1"/>
          </p:cNvSpPr>
          <p:nvPr>
            <p:ph type="sldNum" sz="quarter" idx="10"/>
          </p:nvPr>
        </p:nvSpPr>
        <p:spPr/>
        <p:txBody>
          <a:bodyPr/>
          <a:lstStyle/>
          <a:p>
            <a:fld id="{CE1689F0-D8FB-450F-A36F-553F26501FEE}" type="slidenum">
              <a:rPr lang="zh-CN" altLang="en-US" smtClean="0"/>
              <a:t>13</a:t>
            </a:fld>
            <a:endParaRPr lang="en-US"/>
          </a:p>
        </p:txBody>
      </p:sp>
    </p:spTree>
    <p:extLst>
      <p:ext uri="{BB962C8B-B14F-4D97-AF65-F5344CB8AC3E}">
        <p14:creationId xmlns:p14="http://schemas.microsoft.com/office/powerpoint/2010/main" val="4137404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E803F-1048-CDAE-B93A-61AFF25FC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806C1-4F07-8286-E559-A7AFFB84BBA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0AD3E5A-82A7-F518-F4E2-B28CEF3616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79657C-0EBB-B6E0-A9E6-2C45455E02C8}"/>
              </a:ext>
            </a:extLst>
          </p:cNvPr>
          <p:cNvSpPr>
            <a:spLocks noGrp="1"/>
          </p:cNvSpPr>
          <p:nvPr>
            <p:ph type="sldNum" sz="quarter" idx="10"/>
          </p:nvPr>
        </p:nvSpPr>
        <p:spPr/>
        <p:txBody>
          <a:bodyPr/>
          <a:lstStyle/>
          <a:p>
            <a:fld id="{CE1689F0-D8FB-450F-A36F-553F26501FEE}" type="slidenum">
              <a:rPr lang="zh-CN" altLang="en-US" smtClean="0"/>
              <a:t>14</a:t>
            </a:fld>
            <a:endParaRPr lang="en-US"/>
          </a:p>
        </p:txBody>
      </p:sp>
    </p:spTree>
    <p:extLst>
      <p:ext uri="{BB962C8B-B14F-4D97-AF65-F5344CB8AC3E}">
        <p14:creationId xmlns:p14="http://schemas.microsoft.com/office/powerpoint/2010/main" val="1229446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15</a:t>
            </a:fld>
            <a:endParaRPr lang="en-US"/>
          </a:p>
        </p:txBody>
      </p:sp>
    </p:spTree>
    <p:extLst>
      <p:ext uri="{BB962C8B-B14F-4D97-AF65-F5344CB8AC3E}">
        <p14:creationId xmlns:p14="http://schemas.microsoft.com/office/powerpoint/2010/main" val="3252817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16</a:t>
            </a:fld>
            <a:endParaRPr lang="en-US"/>
          </a:p>
        </p:txBody>
      </p:sp>
    </p:spTree>
    <p:extLst>
      <p:ext uri="{BB962C8B-B14F-4D97-AF65-F5344CB8AC3E}">
        <p14:creationId xmlns:p14="http://schemas.microsoft.com/office/powerpoint/2010/main" val="3654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17</a:t>
            </a:fld>
            <a:endParaRPr lang="en-US"/>
          </a:p>
        </p:txBody>
      </p:sp>
    </p:spTree>
    <p:extLst>
      <p:ext uri="{BB962C8B-B14F-4D97-AF65-F5344CB8AC3E}">
        <p14:creationId xmlns:p14="http://schemas.microsoft.com/office/powerpoint/2010/main" val="2045112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19</a:t>
            </a:fld>
            <a:endParaRPr lang="en-US"/>
          </a:p>
        </p:txBody>
      </p:sp>
    </p:spTree>
    <p:extLst>
      <p:ext uri="{BB962C8B-B14F-4D97-AF65-F5344CB8AC3E}">
        <p14:creationId xmlns:p14="http://schemas.microsoft.com/office/powerpoint/2010/main" val="3820612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20</a:t>
            </a:fld>
            <a:endParaRPr lang="en-US"/>
          </a:p>
        </p:txBody>
      </p:sp>
    </p:spTree>
    <p:extLst>
      <p:ext uri="{BB962C8B-B14F-4D97-AF65-F5344CB8AC3E}">
        <p14:creationId xmlns:p14="http://schemas.microsoft.com/office/powerpoint/2010/main" val="78464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B852A-E58A-9333-9A8D-2FE950DDC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E7AFB-E432-C210-ED56-B2E22CD16E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EBEE02-3142-0FDF-041F-B384D3234C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AC2704-5C49-0CF2-50D0-2C4FB8718497}"/>
              </a:ext>
            </a:extLst>
          </p:cNvPr>
          <p:cNvSpPr>
            <a:spLocks noGrp="1"/>
          </p:cNvSpPr>
          <p:nvPr>
            <p:ph type="sldNum" sz="quarter" idx="10"/>
          </p:nvPr>
        </p:nvSpPr>
        <p:spPr/>
        <p:txBody>
          <a:bodyPr/>
          <a:lstStyle/>
          <a:p>
            <a:fld id="{CE1689F0-D8FB-450F-A36F-553F26501FEE}" type="slidenum">
              <a:rPr lang="zh-CN" altLang="en-US" smtClean="0"/>
              <a:t>21</a:t>
            </a:fld>
            <a:endParaRPr lang="en-US"/>
          </a:p>
        </p:txBody>
      </p:sp>
    </p:spTree>
    <p:extLst>
      <p:ext uri="{BB962C8B-B14F-4D97-AF65-F5344CB8AC3E}">
        <p14:creationId xmlns:p14="http://schemas.microsoft.com/office/powerpoint/2010/main" val="1446764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22</a:t>
            </a:fld>
            <a:endParaRPr lang="en-US"/>
          </a:p>
        </p:txBody>
      </p:sp>
    </p:spTree>
    <p:extLst>
      <p:ext uri="{BB962C8B-B14F-4D97-AF65-F5344CB8AC3E}">
        <p14:creationId xmlns:p14="http://schemas.microsoft.com/office/powerpoint/2010/main" val="3926039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23</a:t>
            </a:fld>
            <a:endParaRPr lang="en-US"/>
          </a:p>
        </p:txBody>
      </p:sp>
    </p:spTree>
    <p:extLst>
      <p:ext uri="{BB962C8B-B14F-4D97-AF65-F5344CB8AC3E}">
        <p14:creationId xmlns:p14="http://schemas.microsoft.com/office/powerpoint/2010/main" val="3990739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24</a:t>
            </a:fld>
            <a:endParaRPr lang="en-US"/>
          </a:p>
        </p:txBody>
      </p:sp>
    </p:spTree>
    <p:extLst>
      <p:ext uri="{BB962C8B-B14F-4D97-AF65-F5344CB8AC3E}">
        <p14:creationId xmlns:p14="http://schemas.microsoft.com/office/powerpoint/2010/main" val="228043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508C5-8C05-F746-B739-E99BCC510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05C0D-605C-4C04-7DB4-5A164B45F4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F0C06E-05B0-DB85-1CC1-6929CC6C1B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46C43-B1F3-C11E-850D-6FC1A2D09F8E}"/>
              </a:ext>
            </a:extLst>
          </p:cNvPr>
          <p:cNvSpPr>
            <a:spLocks noGrp="1"/>
          </p:cNvSpPr>
          <p:nvPr>
            <p:ph type="sldNum" sz="quarter" idx="10"/>
          </p:nvPr>
        </p:nvSpPr>
        <p:spPr/>
        <p:txBody>
          <a:bodyPr/>
          <a:lstStyle/>
          <a:p>
            <a:fld id="{CE1689F0-D8FB-450F-A36F-553F26501FEE}" type="slidenum">
              <a:rPr lang="zh-CN" altLang="en-US" smtClean="0"/>
              <a:t>25</a:t>
            </a:fld>
            <a:endParaRPr lang="en-US"/>
          </a:p>
        </p:txBody>
      </p:sp>
    </p:spTree>
    <p:extLst>
      <p:ext uri="{BB962C8B-B14F-4D97-AF65-F5344CB8AC3E}">
        <p14:creationId xmlns:p14="http://schemas.microsoft.com/office/powerpoint/2010/main" val="803596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26</a:t>
            </a:fld>
            <a:endParaRPr lang="zh-CN" altLang="en-US"/>
          </a:p>
        </p:txBody>
      </p:sp>
    </p:spTree>
    <p:extLst>
      <p:ext uri="{BB962C8B-B14F-4D97-AF65-F5344CB8AC3E}">
        <p14:creationId xmlns:p14="http://schemas.microsoft.com/office/powerpoint/2010/main" val="1633326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3097-F5B1-79CE-82CF-080FE76F6F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057F64-776B-6C3D-C68D-35CEC96442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97CEA9-07AA-7786-7585-87374F4B747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35FCA9B-1697-9735-4A76-8F8C7FFDF0F9}"/>
              </a:ext>
            </a:extLst>
          </p:cNvPr>
          <p:cNvSpPr>
            <a:spLocks noGrp="1"/>
          </p:cNvSpPr>
          <p:nvPr>
            <p:ph type="sldNum" sz="quarter" idx="5"/>
          </p:nvPr>
        </p:nvSpPr>
        <p:spPr/>
        <p:txBody>
          <a:bodyPr/>
          <a:lstStyle/>
          <a:p>
            <a:fld id="{D0B10B4A-0904-4E9E-A428-EA3E6B848F06}" type="slidenum">
              <a:rPr lang="zh-CN" altLang="en-US" smtClean="0"/>
              <a:t>27</a:t>
            </a:fld>
            <a:endParaRPr lang="zh-CN" altLang="en-US"/>
          </a:p>
        </p:txBody>
      </p:sp>
    </p:spTree>
    <p:extLst>
      <p:ext uri="{BB962C8B-B14F-4D97-AF65-F5344CB8AC3E}">
        <p14:creationId xmlns:p14="http://schemas.microsoft.com/office/powerpoint/2010/main" val="1246073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640E-651F-8C3B-0F9D-96E5DCECCF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A3D0B4-E293-DF8C-FBF1-3ED87F575F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96310E-2E01-BBA7-871D-74828F33543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FEC7309-1218-3B5C-C541-2AADA006B668}"/>
              </a:ext>
            </a:extLst>
          </p:cNvPr>
          <p:cNvSpPr>
            <a:spLocks noGrp="1"/>
          </p:cNvSpPr>
          <p:nvPr>
            <p:ph type="sldNum" sz="quarter" idx="5"/>
          </p:nvPr>
        </p:nvSpPr>
        <p:spPr/>
        <p:txBody>
          <a:bodyPr/>
          <a:lstStyle/>
          <a:p>
            <a:fld id="{D0B10B4A-0904-4E9E-A428-EA3E6B848F06}" type="slidenum">
              <a:rPr lang="zh-CN" altLang="en-US" smtClean="0"/>
              <a:t>28</a:t>
            </a:fld>
            <a:endParaRPr lang="zh-CN" altLang="en-US"/>
          </a:p>
        </p:txBody>
      </p:sp>
    </p:spTree>
    <p:extLst>
      <p:ext uri="{BB962C8B-B14F-4D97-AF65-F5344CB8AC3E}">
        <p14:creationId xmlns:p14="http://schemas.microsoft.com/office/powerpoint/2010/main" val="2022895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29</a:t>
            </a:fld>
            <a:endParaRPr lang="en-US"/>
          </a:p>
        </p:txBody>
      </p:sp>
    </p:spTree>
    <p:extLst>
      <p:ext uri="{BB962C8B-B14F-4D97-AF65-F5344CB8AC3E}">
        <p14:creationId xmlns:p14="http://schemas.microsoft.com/office/powerpoint/2010/main" val="24263521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30</a:t>
            </a:fld>
            <a:endParaRPr lang="en-US"/>
          </a:p>
        </p:txBody>
      </p:sp>
    </p:spTree>
    <p:extLst>
      <p:ext uri="{BB962C8B-B14F-4D97-AF65-F5344CB8AC3E}">
        <p14:creationId xmlns:p14="http://schemas.microsoft.com/office/powerpoint/2010/main" val="3560906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31</a:t>
            </a:fld>
            <a:endParaRPr lang="en-US"/>
          </a:p>
        </p:txBody>
      </p:sp>
    </p:spTree>
    <p:extLst>
      <p:ext uri="{BB962C8B-B14F-4D97-AF65-F5344CB8AC3E}">
        <p14:creationId xmlns:p14="http://schemas.microsoft.com/office/powerpoint/2010/main" val="1729036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32</a:t>
            </a:fld>
            <a:endParaRPr lang="en-US"/>
          </a:p>
        </p:txBody>
      </p:sp>
    </p:spTree>
    <p:extLst>
      <p:ext uri="{BB962C8B-B14F-4D97-AF65-F5344CB8AC3E}">
        <p14:creationId xmlns:p14="http://schemas.microsoft.com/office/powerpoint/2010/main" val="3537045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34</a:t>
            </a:fld>
            <a:endParaRPr lang="en-US"/>
          </a:p>
        </p:txBody>
      </p:sp>
    </p:spTree>
    <p:extLst>
      <p:ext uri="{BB962C8B-B14F-4D97-AF65-F5344CB8AC3E}">
        <p14:creationId xmlns:p14="http://schemas.microsoft.com/office/powerpoint/2010/main" val="151474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42ED1-7613-7BC5-6D60-88AFA049C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BB061-CC63-AFF5-431C-B7D9992717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6145D8-A5BB-224B-0AB1-B56DDF6206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241342-7C67-1278-FBD0-9B25B57172FD}"/>
              </a:ext>
            </a:extLst>
          </p:cNvPr>
          <p:cNvSpPr>
            <a:spLocks noGrp="1"/>
          </p:cNvSpPr>
          <p:nvPr>
            <p:ph type="sldNum" sz="quarter" idx="10"/>
          </p:nvPr>
        </p:nvSpPr>
        <p:spPr/>
        <p:txBody>
          <a:bodyPr/>
          <a:lstStyle/>
          <a:p>
            <a:fld id="{CE1689F0-D8FB-450F-A36F-553F26501FEE}" type="slidenum">
              <a:rPr lang="zh-CN" altLang="en-US" smtClean="0"/>
              <a:t>35</a:t>
            </a:fld>
            <a:endParaRPr lang="en-US"/>
          </a:p>
        </p:txBody>
      </p:sp>
    </p:spTree>
    <p:extLst>
      <p:ext uri="{BB962C8B-B14F-4D97-AF65-F5344CB8AC3E}">
        <p14:creationId xmlns:p14="http://schemas.microsoft.com/office/powerpoint/2010/main" val="37164406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667F-1890-7407-36F7-ADC42101B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EB2B9-33B8-18DC-ACA4-6BFA7307D3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5317B1-9FB7-628B-9D63-4AC8243829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CEF5FB-E780-86AF-81C4-45D1DA1E7122}"/>
              </a:ext>
            </a:extLst>
          </p:cNvPr>
          <p:cNvSpPr>
            <a:spLocks noGrp="1"/>
          </p:cNvSpPr>
          <p:nvPr>
            <p:ph type="sldNum" sz="quarter" idx="10"/>
          </p:nvPr>
        </p:nvSpPr>
        <p:spPr/>
        <p:txBody>
          <a:bodyPr/>
          <a:lstStyle/>
          <a:p>
            <a:fld id="{CE1689F0-D8FB-450F-A36F-553F26501FEE}" type="slidenum">
              <a:rPr lang="zh-CN" altLang="en-US" smtClean="0"/>
              <a:t>36</a:t>
            </a:fld>
            <a:endParaRPr lang="en-US"/>
          </a:p>
        </p:txBody>
      </p:sp>
    </p:spTree>
    <p:extLst>
      <p:ext uri="{BB962C8B-B14F-4D97-AF65-F5344CB8AC3E}">
        <p14:creationId xmlns:p14="http://schemas.microsoft.com/office/powerpoint/2010/main" val="25433786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37</a:t>
            </a:fld>
            <a:endParaRPr lang="zh-CN" altLang="en-US"/>
          </a:p>
        </p:txBody>
      </p:sp>
    </p:spTree>
    <p:extLst>
      <p:ext uri="{BB962C8B-B14F-4D97-AF65-F5344CB8AC3E}">
        <p14:creationId xmlns:p14="http://schemas.microsoft.com/office/powerpoint/2010/main" val="3948619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38</a:t>
            </a:fld>
            <a:endParaRPr lang="zh-CN" altLang="en-US"/>
          </a:p>
        </p:txBody>
      </p:sp>
    </p:spTree>
    <p:extLst>
      <p:ext uri="{BB962C8B-B14F-4D97-AF65-F5344CB8AC3E}">
        <p14:creationId xmlns:p14="http://schemas.microsoft.com/office/powerpoint/2010/main" val="40822498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8CF7-81EB-E09B-F8CC-B88766E989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7053EF-915C-6D08-2BB7-F650E14242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1E770F-2E14-8A8E-316B-ABA693A1857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37EA1A5-C32F-FBEB-1449-2DF7D811C615}"/>
              </a:ext>
            </a:extLst>
          </p:cNvPr>
          <p:cNvSpPr>
            <a:spLocks noGrp="1"/>
          </p:cNvSpPr>
          <p:nvPr>
            <p:ph type="sldNum" sz="quarter" idx="5"/>
          </p:nvPr>
        </p:nvSpPr>
        <p:spPr/>
        <p:txBody>
          <a:bodyPr/>
          <a:lstStyle/>
          <a:p>
            <a:fld id="{D0B10B4A-0904-4E9E-A428-EA3E6B848F06}" type="slidenum">
              <a:rPr lang="zh-CN" altLang="en-US" smtClean="0"/>
              <a:t>39</a:t>
            </a:fld>
            <a:endParaRPr lang="zh-CN" altLang="en-US"/>
          </a:p>
        </p:txBody>
      </p:sp>
    </p:spTree>
    <p:extLst>
      <p:ext uri="{BB962C8B-B14F-4D97-AF65-F5344CB8AC3E}">
        <p14:creationId xmlns:p14="http://schemas.microsoft.com/office/powerpoint/2010/main" val="1496303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40</a:t>
            </a:fld>
            <a:endParaRPr lang="en-US"/>
          </a:p>
        </p:txBody>
      </p:sp>
    </p:spTree>
    <p:extLst>
      <p:ext uri="{BB962C8B-B14F-4D97-AF65-F5344CB8AC3E}">
        <p14:creationId xmlns:p14="http://schemas.microsoft.com/office/powerpoint/2010/main" val="3127094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41</a:t>
            </a:fld>
            <a:endParaRPr lang="en-US"/>
          </a:p>
        </p:txBody>
      </p:sp>
    </p:spTree>
    <p:extLst>
      <p:ext uri="{BB962C8B-B14F-4D97-AF65-F5344CB8AC3E}">
        <p14:creationId xmlns:p14="http://schemas.microsoft.com/office/powerpoint/2010/main" val="2161801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9E904-2277-361F-5B15-FD9AFC0BC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2B22A-565B-4DBA-AE39-6679C71E3B2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62FC2D-FD5B-6161-240C-4B8600A17E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C5C65B-3104-E0C2-8614-1A4116C9E7B2}"/>
              </a:ext>
            </a:extLst>
          </p:cNvPr>
          <p:cNvSpPr>
            <a:spLocks noGrp="1"/>
          </p:cNvSpPr>
          <p:nvPr>
            <p:ph type="sldNum" sz="quarter" idx="10"/>
          </p:nvPr>
        </p:nvSpPr>
        <p:spPr/>
        <p:txBody>
          <a:bodyPr/>
          <a:lstStyle/>
          <a:p>
            <a:fld id="{CE1689F0-D8FB-450F-A36F-553F26501FEE}" type="slidenum">
              <a:rPr lang="zh-CN" altLang="en-US" smtClean="0"/>
              <a:t>42</a:t>
            </a:fld>
            <a:endParaRPr lang="en-US"/>
          </a:p>
        </p:txBody>
      </p:sp>
    </p:spTree>
    <p:extLst>
      <p:ext uri="{BB962C8B-B14F-4D97-AF65-F5344CB8AC3E}">
        <p14:creationId xmlns:p14="http://schemas.microsoft.com/office/powerpoint/2010/main" val="2094956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43</a:t>
            </a:fld>
            <a:endParaRPr lang="en-US"/>
          </a:p>
        </p:txBody>
      </p:sp>
    </p:spTree>
    <p:extLst>
      <p:ext uri="{BB962C8B-B14F-4D97-AF65-F5344CB8AC3E}">
        <p14:creationId xmlns:p14="http://schemas.microsoft.com/office/powerpoint/2010/main" val="3032380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44</a:t>
            </a:fld>
            <a:endParaRPr lang="en-US"/>
          </a:p>
        </p:txBody>
      </p:sp>
    </p:spTree>
    <p:extLst>
      <p:ext uri="{BB962C8B-B14F-4D97-AF65-F5344CB8AC3E}">
        <p14:creationId xmlns:p14="http://schemas.microsoft.com/office/powerpoint/2010/main" val="2976216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D75AB-4E3F-3782-4D85-C2097E65C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03504-4022-4B7E-6E29-DE35B13A28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6847E76-7756-2ADC-E598-CCEFB5E2AB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EA1936-F1E5-75E8-A300-28ED8F5CFDAD}"/>
              </a:ext>
            </a:extLst>
          </p:cNvPr>
          <p:cNvSpPr>
            <a:spLocks noGrp="1"/>
          </p:cNvSpPr>
          <p:nvPr>
            <p:ph type="sldNum" sz="quarter" idx="10"/>
          </p:nvPr>
        </p:nvSpPr>
        <p:spPr/>
        <p:txBody>
          <a:bodyPr/>
          <a:lstStyle/>
          <a:p>
            <a:fld id="{CE1689F0-D8FB-450F-A36F-553F26501FEE}" type="slidenum">
              <a:rPr lang="zh-CN" altLang="en-US" smtClean="0"/>
              <a:t>45</a:t>
            </a:fld>
            <a:endParaRPr lang="en-US"/>
          </a:p>
        </p:txBody>
      </p:sp>
    </p:spTree>
    <p:extLst>
      <p:ext uri="{BB962C8B-B14F-4D97-AF65-F5344CB8AC3E}">
        <p14:creationId xmlns:p14="http://schemas.microsoft.com/office/powerpoint/2010/main" val="348730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46</a:t>
            </a:fld>
            <a:endParaRPr lang="en-US"/>
          </a:p>
        </p:txBody>
      </p:sp>
    </p:spTree>
    <p:extLst>
      <p:ext uri="{BB962C8B-B14F-4D97-AF65-F5344CB8AC3E}">
        <p14:creationId xmlns:p14="http://schemas.microsoft.com/office/powerpoint/2010/main" val="31730063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47</a:t>
            </a:fld>
            <a:endParaRPr lang="en-US"/>
          </a:p>
        </p:txBody>
      </p:sp>
    </p:spTree>
    <p:extLst>
      <p:ext uri="{BB962C8B-B14F-4D97-AF65-F5344CB8AC3E}">
        <p14:creationId xmlns:p14="http://schemas.microsoft.com/office/powerpoint/2010/main" val="7697956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48</a:t>
            </a:fld>
            <a:endParaRPr lang="en-US"/>
          </a:p>
        </p:txBody>
      </p:sp>
    </p:spTree>
    <p:extLst>
      <p:ext uri="{BB962C8B-B14F-4D97-AF65-F5344CB8AC3E}">
        <p14:creationId xmlns:p14="http://schemas.microsoft.com/office/powerpoint/2010/main" val="2600693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49</a:t>
            </a:fld>
            <a:endParaRPr lang="en-US"/>
          </a:p>
        </p:txBody>
      </p:sp>
    </p:spTree>
    <p:extLst>
      <p:ext uri="{BB962C8B-B14F-4D97-AF65-F5344CB8AC3E}">
        <p14:creationId xmlns:p14="http://schemas.microsoft.com/office/powerpoint/2010/main" val="37115992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50</a:t>
            </a:fld>
            <a:endParaRPr lang="en-US"/>
          </a:p>
        </p:txBody>
      </p:sp>
    </p:spTree>
    <p:extLst>
      <p:ext uri="{BB962C8B-B14F-4D97-AF65-F5344CB8AC3E}">
        <p14:creationId xmlns:p14="http://schemas.microsoft.com/office/powerpoint/2010/main" val="22138592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51</a:t>
            </a:fld>
            <a:endParaRPr lang="en-US"/>
          </a:p>
        </p:txBody>
      </p:sp>
    </p:spTree>
    <p:extLst>
      <p:ext uri="{BB962C8B-B14F-4D97-AF65-F5344CB8AC3E}">
        <p14:creationId xmlns:p14="http://schemas.microsoft.com/office/powerpoint/2010/main" val="17479529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52</a:t>
            </a:fld>
            <a:endParaRPr lang="en-US"/>
          </a:p>
        </p:txBody>
      </p:sp>
    </p:spTree>
    <p:extLst>
      <p:ext uri="{BB962C8B-B14F-4D97-AF65-F5344CB8AC3E}">
        <p14:creationId xmlns:p14="http://schemas.microsoft.com/office/powerpoint/2010/main" val="19949392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BB98E-13FF-F53C-32D3-AA494B85E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8D459-C18C-4BFA-C536-F52645EA589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0EB0340-3315-2156-1224-1B22B78482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386BF5-9CEA-784F-0821-4B390C3011D7}"/>
              </a:ext>
            </a:extLst>
          </p:cNvPr>
          <p:cNvSpPr>
            <a:spLocks noGrp="1"/>
          </p:cNvSpPr>
          <p:nvPr>
            <p:ph type="sldNum" sz="quarter" idx="10"/>
          </p:nvPr>
        </p:nvSpPr>
        <p:spPr/>
        <p:txBody>
          <a:bodyPr/>
          <a:lstStyle/>
          <a:p>
            <a:fld id="{CE1689F0-D8FB-450F-A36F-553F26501FEE}" type="slidenum">
              <a:rPr lang="zh-CN" altLang="en-US" smtClean="0"/>
              <a:t>53</a:t>
            </a:fld>
            <a:endParaRPr lang="en-US"/>
          </a:p>
        </p:txBody>
      </p:sp>
    </p:spTree>
    <p:extLst>
      <p:ext uri="{BB962C8B-B14F-4D97-AF65-F5344CB8AC3E}">
        <p14:creationId xmlns:p14="http://schemas.microsoft.com/office/powerpoint/2010/main" val="37156702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5CD18-9B96-9AD5-2B25-4120ADCDD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8BE0D-C7A2-006D-2B82-09C19BF68B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5A0ADD-D77C-1EDA-03C4-22C19DF619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97DA64-D348-CF80-42A5-ACFD69B8E7FC}"/>
              </a:ext>
            </a:extLst>
          </p:cNvPr>
          <p:cNvSpPr>
            <a:spLocks noGrp="1"/>
          </p:cNvSpPr>
          <p:nvPr>
            <p:ph type="sldNum" sz="quarter" idx="10"/>
          </p:nvPr>
        </p:nvSpPr>
        <p:spPr/>
        <p:txBody>
          <a:bodyPr/>
          <a:lstStyle/>
          <a:p>
            <a:fld id="{CE1689F0-D8FB-450F-A36F-553F26501FEE}" type="slidenum">
              <a:rPr lang="zh-CN" altLang="en-US" smtClean="0"/>
              <a:t>54</a:t>
            </a:fld>
            <a:endParaRPr lang="en-US"/>
          </a:p>
        </p:txBody>
      </p:sp>
    </p:spTree>
    <p:extLst>
      <p:ext uri="{BB962C8B-B14F-4D97-AF65-F5344CB8AC3E}">
        <p14:creationId xmlns:p14="http://schemas.microsoft.com/office/powerpoint/2010/main" val="28947189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55</a:t>
            </a:fld>
            <a:endParaRPr lang="en-US"/>
          </a:p>
        </p:txBody>
      </p:sp>
    </p:spTree>
    <p:extLst>
      <p:ext uri="{BB962C8B-B14F-4D97-AF65-F5344CB8AC3E}">
        <p14:creationId xmlns:p14="http://schemas.microsoft.com/office/powerpoint/2010/main" val="18235521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616D-F83C-59F4-9CED-32FE4BFBB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E62E0-3D48-C339-56F3-69CFC1D3A5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67CA13-191C-D024-A8E8-685A6E7D3B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D73FA1-6495-652F-C118-195626F03369}"/>
              </a:ext>
            </a:extLst>
          </p:cNvPr>
          <p:cNvSpPr>
            <a:spLocks noGrp="1"/>
          </p:cNvSpPr>
          <p:nvPr>
            <p:ph type="sldNum" sz="quarter" idx="10"/>
          </p:nvPr>
        </p:nvSpPr>
        <p:spPr/>
        <p:txBody>
          <a:bodyPr/>
          <a:lstStyle/>
          <a:p>
            <a:fld id="{CE1689F0-D8FB-450F-A36F-553F26501FEE}" type="slidenum">
              <a:rPr lang="zh-CN" altLang="en-US" smtClean="0"/>
              <a:t>56</a:t>
            </a:fld>
            <a:endParaRPr lang="en-US"/>
          </a:p>
        </p:txBody>
      </p:sp>
    </p:spTree>
    <p:extLst>
      <p:ext uri="{BB962C8B-B14F-4D97-AF65-F5344CB8AC3E}">
        <p14:creationId xmlns:p14="http://schemas.microsoft.com/office/powerpoint/2010/main" val="11385463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0B10B4A-0904-4E9E-A428-EA3E6B848F06}" type="slidenum">
              <a:rPr lang="zh-CN" altLang="en-US" smtClean="0"/>
              <a:t>58</a:t>
            </a:fld>
            <a:endParaRPr lang="zh-CN" altLang="en-US"/>
          </a:p>
        </p:txBody>
      </p:sp>
    </p:spTree>
    <p:extLst>
      <p:ext uri="{BB962C8B-B14F-4D97-AF65-F5344CB8AC3E}">
        <p14:creationId xmlns:p14="http://schemas.microsoft.com/office/powerpoint/2010/main" val="25652644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5A9F0-0219-FA1D-A78D-691281895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D4719-0444-C6B9-FC0F-6187581F0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23A07-81E2-E3DC-CEDD-EABA833F17D9}"/>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A0EE56EE-D60C-FA94-08CB-0774518BF30A}"/>
              </a:ext>
            </a:extLst>
          </p:cNvPr>
          <p:cNvSpPr>
            <a:spLocks noGrp="1"/>
          </p:cNvSpPr>
          <p:nvPr>
            <p:ph type="sldNum" sz="quarter" idx="5"/>
          </p:nvPr>
        </p:nvSpPr>
        <p:spPr/>
        <p:txBody>
          <a:bodyPr/>
          <a:lstStyle/>
          <a:p>
            <a:fld id="{D0B10B4A-0904-4E9E-A428-EA3E6B848F06}" type="slidenum">
              <a:rPr lang="zh-CN" altLang="en-US" smtClean="0"/>
              <a:t>59</a:t>
            </a:fld>
            <a:endParaRPr lang="zh-CN" altLang="en-US"/>
          </a:p>
        </p:txBody>
      </p:sp>
    </p:spTree>
    <p:extLst>
      <p:ext uri="{BB962C8B-B14F-4D97-AF65-F5344CB8AC3E}">
        <p14:creationId xmlns:p14="http://schemas.microsoft.com/office/powerpoint/2010/main" val="31157717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60</a:t>
            </a:fld>
            <a:endParaRPr lang="zh-CN" altLang="en-US"/>
          </a:p>
        </p:txBody>
      </p:sp>
    </p:spTree>
    <p:extLst>
      <p:ext uri="{BB962C8B-B14F-4D97-AF65-F5344CB8AC3E}">
        <p14:creationId xmlns:p14="http://schemas.microsoft.com/office/powerpoint/2010/main" val="19827844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1689F0-D8FB-450F-A36F-553F26501FEE}" type="slidenum">
              <a:rPr lang="zh-CN" altLang="en-US" smtClean="0"/>
              <a:t>66</a:t>
            </a:fld>
            <a:endParaRPr lang="en-US"/>
          </a:p>
        </p:txBody>
      </p:sp>
    </p:spTree>
    <p:extLst>
      <p:ext uri="{BB962C8B-B14F-4D97-AF65-F5344CB8AC3E}">
        <p14:creationId xmlns:p14="http://schemas.microsoft.com/office/powerpoint/2010/main" val="24245381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0B10B4A-0904-4E9E-A428-EA3E6B848F06}" type="slidenum">
              <a:rPr lang="zh-CN" altLang="en-US" smtClean="0"/>
              <a:t>67</a:t>
            </a:fld>
            <a:endParaRPr lang="zh-CN" altLang="en-US"/>
          </a:p>
        </p:txBody>
      </p:sp>
    </p:spTree>
    <p:extLst>
      <p:ext uri="{BB962C8B-B14F-4D97-AF65-F5344CB8AC3E}">
        <p14:creationId xmlns:p14="http://schemas.microsoft.com/office/powerpoint/2010/main" val="19529975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68</a:t>
            </a:fld>
            <a:endParaRPr lang="en-US">
              <a:solidFill>
                <a:prstClr val="black"/>
              </a:solidFill>
            </a:endParaRPr>
          </a:p>
        </p:txBody>
      </p:sp>
    </p:spTree>
    <p:extLst>
      <p:ext uri="{BB962C8B-B14F-4D97-AF65-F5344CB8AC3E}">
        <p14:creationId xmlns:p14="http://schemas.microsoft.com/office/powerpoint/2010/main" val="24456114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69</a:t>
            </a:fld>
            <a:endParaRPr lang="en-US">
              <a:solidFill>
                <a:prstClr val="black"/>
              </a:solidFill>
            </a:endParaRPr>
          </a:p>
        </p:txBody>
      </p:sp>
    </p:spTree>
    <p:extLst>
      <p:ext uri="{BB962C8B-B14F-4D97-AF65-F5344CB8AC3E}">
        <p14:creationId xmlns:p14="http://schemas.microsoft.com/office/powerpoint/2010/main" val="39119465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70</a:t>
            </a:fld>
            <a:endParaRPr lang="en-US">
              <a:solidFill>
                <a:prstClr val="black"/>
              </a:solidFill>
            </a:endParaRPr>
          </a:p>
        </p:txBody>
      </p:sp>
    </p:spTree>
    <p:extLst>
      <p:ext uri="{BB962C8B-B14F-4D97-AF65-F5344CB8AC3E}">
        <p14:creationId xmlns:p14="http://schemas.microsoft.com/office/powerpoint/2010/main" val="19940257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953A-6AF7-8BBD-020E-ED87270C5B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1E1260-F809-0EEF-6A04-6D60D2188D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563D32-D846-7554-7607-A1A9039EC59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B5DABB2-F38B-A12A-DF68-43A7AB9F0A1B}"/>
              </a:ext>
            </a:extLst>
          </p:cNvPr>
          <p:cNvSpPr>
            <a:spLocks noGrp="1"/>
          </p:cNvSpPr>
          <p:nvPr>
            <p:ph type="sldNum" sz="quarter" idx="5"/>
          </p:nvPr>
        </p:nvSpPr>
        <p:spPr/>
        <p:txBody>
          <a:bodyPr/>
          <a:lstStyle/>
          <a:p>
            <a:fld id="{D0B10B4A-0904-4E9E-A428-EA3E6B848F06}" type="slidenum">
              <a:rPr lang="zh-CN" altLang="en-US" smtClean="0"/>
              <a:t>71</a:t>
            </a:fld>
            <a:endParaRPr lang="zh-CN" altLang="en-US"/>
          </a:p>
        </p:txBody>
      </p:sp>
    </p:spTree>
    <p:extLst>
      <p:ext uri="{BB962C8B-B14F-4D97-AF65-F5344CB8AC3E}">
        <p14:creationId xmlns:p14="http://schemas.microsoft.com/office/powerpoint/2010/main" val="15517272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0B10B4A-0904-4E9E-A428-EA3E6B848F06}" type="slidenum">
              <a:rPr lang="zh-CN" altLang="en-US" smtClean="0"/>
              <a:t>72</a:t>
            </a:fld>
            <a:endParaRPr lang="zh-CN" altLang="en-US"/>
          </a:p>
        </p:txBody>
      </p:sp>
    </p:spTree>
    <p:extLst>
      <p:ext uri="{BB962C8B-B14F-4D97-AF65-F5344CB8AC3E}">
        <p14:creationId xmlns:p14="http://schemas.microsoft.com/office/powerpoint/2010/main" val="3123806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2A2595-D983-4F7A-8355-EDDC66F3D8C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E7C732A-1A60-4844-9D44-0426BD3057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4537D1C-4B15-40C7-BA5C-79A8DF2B0CF9}"/>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712821D-B961-4679-AC93-17FE35A16F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C53F52-F9B1-4BC5-A061-E9FA1AE32433}"/>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1598301819"/>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E5CB4-987B-4A42-804A-64E1F73A75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6F4096-6AB1-4CF4-B981-78CBAEDCE62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8A8684-0D20-47DC-B33E-44101B820175}"/>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4ADF7C3-E187-47B4-928D-2B8DD93842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2394B2-8246-4EDA-8FD9-B8F01EE2CEF3}"/>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767611109"/>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6185A-95FC-4BA3-BC2B-3A3BD62F540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BD41CDE-32BC-4B52-A00C-E8CD330760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89BBCE8-98D8-42CD-804D-020B28CCA803}"/>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4BC04750-34C0-43D8-823B-E5CFCECCFA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9B351A-A736-4839-8D8C-0EBA175DC736}"/>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292784824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6C7ACA-80F9-4450-9A96-2D3743CB23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D0B5ACC-F12B-435A-9F44-9DA49935046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F2BE2AC-FF98-4445-8B03-AFD741AFCCE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463F997-F431-4EC4-AA4B-E027E6013AF6}"/>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66FAE1F-DC6E-48B3-B756-565B660678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556921-086A-46BE-9700-0B382C49F4D8}"/>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2390221143"/>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191B81-983A-4EAE-8189-1DC9AA1E5CB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1EBC87C-D96F-4E88-A4D6-C5F57FECBC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29743B6-AD3A-4012-908F-1C73E5219CD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96B1698-FBD6-4FC7-9A3F-E957DF9D50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041B4C0-5484-45F7-8A3D-77969C4481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0E7C6A5-6CE5-434C-ADF2-183749B39383}"/>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008009C4-05E7-46F9-8A64-5C8EE4BCB51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0CE290E-8660-41A0-92CF-304ED44966B9}"/>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2337616788"/>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9EFBE1-13F5-4C42-95EE-5CE7A0099CF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DD60421-0466-4EB6-B531-47D17086D931}"/>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7FB47F0D-D571-47BD-A697-466D379BBE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B23DC4D-880C-48D9-AE7A-607FD48668F0}"/>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905316055"/>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3CDEBE-EA78-4E4B-8297-6873C0BF943A}"/>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37727A1-8E63-4650-9398-ABA569DC55C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07E671-5AB7-4283-960F-5D70C1F5F77D}"/>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2726604957"/>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80F08A-F652-4D3D-9AB9-206E8656FA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3EB20A7-F8BE-410B-9387-87D59CC118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BFF7A54-98F4-471C-BBDD-5D1FFA0F6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7509A4-BDBF-4C88-A149-DF7646CB706B}"/>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54B676E-BF1D-4FD6-8556-5468CB7E66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F86A441-0895-4081-8C15-6439143BD2E0}"/>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449258001"/>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C7D4F-3DE3-4379-835C-E52F6107C6D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A4DEE85-006A-4832-865C-9F4D8C3A01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E4A1B3E-A71D-4284-9454-5F96ABD20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841B32B-CE90-43E1-BAA8-127E6EE3EBD4}"/>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C1F4DB6F-106A-473E-9E91-D36B6B3D929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AABED8-2920-4A24-B262-52C77790BBDA}"/>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4273161917"/>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268B4-8518-4D40-8FE2-C5420273ADA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DB50E99-E2BE-47A3-B414-5357C613CBA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47D7DB-5BB6-4747-9ACD-FB5807016012}"/>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07BF3B9-6C66-4ECE-9207-6F7C854681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E21EB0-4EBB-45F6-B198-B9FBC4627786}"/>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483951221"/>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E602896-D72C-4161-AE0F-34C22ECE2F5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C8E623D-943A-4B9A-9C99-CD47BF324E3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23204F-8188-43C2-90AF-27F4C3A2FF81}"/>
              </a:ext>
            </a:extLst>
          </p:cNvPr>
          <p:cNvSpPr>
            <a:spLocks noGrp="1"/>
          </p:cNvSpPr>
          <p:nvPr>
            <p:ph type="dt" sz="half" idx="10"/>
          </p:nvPr>
        </p:nvSpPr>
        <p:spPr/>
        <p:txBody>
          <a:body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1C45B2C0-BF25-4E40-A13D-066201ABC8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16C430-B2D9-4EB6-BB53-3B6CF8350039}"/>
              </a:ext>
            </a:extLst>
          </p:cNvPr>
          <p:cNvSpPr>
            <a:spLocks noGrp="1"/>
          </p:cNvSpPr>
          <p:nvPr>
            <p:ph type="sldNum" sz="quarter" idx="12"/>
          </p:nvPr>
        </p:nvSpPr>
        <p:spPr/>
        <p:txBody>
          <a:body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236978548"/>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31CCAD-5FE2-4AAB-B839-F146111DA9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6926EFF-FA64-41B6-B7D9-A7D6E9944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BA575F-6DCF-4186-984C-512C5AE1E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6DFEE4-373E-4460-B29A-E420DE3B2ECC}"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0C47714-BF8A-4693-A300-4ABFBF8F2F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27C5A5A-C187-4094-8A4A-38AEE6E51C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A59487-9D05-480B-9F84-96B8ED5CCC99}" type="slidenum">
              <a:rPr lang="zh-CN" altLang="en-US" smtClean="0"/>
              <a:t>‹#›</a:t>
            </a:fld>
            <a:endParaRPr lang="zh-CN" altLang="en-US"/>
          </a:p>
        </p:txBody>
      </p:sp>
    </p:spTree>
    <p:extLst>
      <p:ext uri="{BB962C8B-B14F-4D97-AF65-F5344CB8AC3E}">
        <p14:creationId xmlns:p14="http://schemas.microsoft.com/office/powerpoint/2010/main" val="3280462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gif"/><Relationship Id="rId4" Type="http://schemas.openxmlformats.org/officeDocument/2006/relationships/image" Target="../media/image1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gif"/><Relationship Id="rId4" Type="http://schemas.openxmlformats.org/officeDocument/2006/relationships/image" Target="../media/image19.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gif"/><Relationship Id="rId4" Type="http://schemas.openxmlformats.org/officeDocument/2006/relationships/image" Target="../media/image2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gif"/><Relationship Id="rId4" Type="http://schemas.openxmlformats.org/officeDocument/2006/relationships/image" Target="../media/image24.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gif"/><Relationship Id="rId4" Type="http://schemas.openxmlformats.org/officeDocument/2006/relationships/image" Target="../media/image2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gif"/><Relationship Id="rId4" Type="http://schemas.openxmlformats.org/officeDocument/2006/relationships/image" Target="../media/image30.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1.gif"/><Relationship Id="rId4" Type="http://schemas.openxmlformats.org/officeDocument/2006/relationships/image" Target="../media/image3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gif"/><Relationship Id="rId4" Type="http://schemas.openxmlformats.org/officeDocument/2006/relationships/image" Target="../media/image34.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5.gif"/><Relationship Id="rId4" Type="http://schemas.openxmlformats.org/officeDocument/2006/relationships/image" Target="../media/image36.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gif"/><Relationship Id="rId4" Type="http://schemas.openxmlformats.org/officeDocument/2006/relationships/image" Target="../media/image38.gif"/></Relationships>
</file>

<file path=ppt/slides/_rels/slide2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21.xml"/><Relationship Id="rId4" Type="http://schemas.openxmlformats.org/officeDocument/2006/relationships/image" Target="../media/image1.jpg"/><Relationship Id="rId5" Type="http://schemas.openxmlformats.org/officeDocument/2006/relationships/image" Target="../media/image39.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gif"/><Relationship Id="rId4" Type="http://schemas.openxmlformats.org/officeDocument/2006/relationships/image" Target="../media/image41.gif"/><Relationship Id="rId5" Type="http://schemas.openxmlformats.org/officeDocument/2006/relationships/image" Target="../media/image42.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2.xml"/><Relationship Id="rId4" Type="http://schemas.openxmlformats.org/officeDocument/2006/relationships/notesSlide" Target="../notesSlides/notesSlide24.xml"/><Relationship Id="rId5" Type="http://schemas.openxmlformats.org/officeDocument/2006/relationships/image" Target="../media/image43.png"/><Relationship Id="rId6" Type="http://schemas.openxmlformats.org/officeDocument/2006/relationships/image" Target="../media/image4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5.gif"/><Relationship Id="rId4" Type="http://schemas.openxmlformats.org/officeDocument/2006/relationships/image" Target="../media/image38.gif"/></Relationships>
</file>

<file path=ppt/slides/_rels/slide3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2.xml"/><Relationship Id="rId3" Type="http://schemas.openxmlformats.org/officeDocument/2006/relationships/notesSlide" Target="../notesSlides/notesSlide29.xml"/><Relationship Id="rId4" Type="http://schemas.openxmlformats.org/officeDocument/2006/relationships/image" Target="../media/image1.jpg"/><Relationship Id="rId5" Type="http://schemas.openxmlformats.org/officeDocument/2006/relationships/image" Target="../media/image46.gif"/><Relationship Id="rId6" Type="http://schemas.openxmlformats.org/officeDocument/2006/relationships/image" Target="../media/image47.gif"/></Relationships>
</file>

<file path=ppt/slides/_rels/slide32.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2.xml"/><Relationship Id="rId3" Type="http://schemas.openxmlformats.org/officeDocument/2006/relationships/notesSlide" Target="../notesSlides/notesSlide30.xml"/><Relationship Id="rId4" Type="http://schemas.openxmlformats.org/officeDocument/2006/relationships/image" Target="../media/image1.jpg"/><Relationship Id="rId5" Type="http://schemas.openxmlformats.org/officeDocument/2006/relationships/image" Target="../media/image48.gif"/><Relationship Id="rId6" Type="http://schemas.openxmlformats.org/officeDocument/2006/relationships/image" Target="../media/image49.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0.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microsoft.com/office/2007/relationships/media" Target="../media/media2.mp3"/><Relationship Id="rId2" Type="http://schemas.openxmlformats.org/officeDocument/2006/relationships/audio" Target="../media/media2.mp3"/><Relationship Id="rId3" Type="http://schemas.openxmlformats.org/officeDocument/2006/relationships/slideLayout" Target="../slideLayouts/slideLayout2.xml"/><Relationship Id="rId4" Type="http://schemas.openxmlformats.org/officeDocument/2006/relationships/notesSlide" Target="../notesSlides/notesSlide34.xml"/><Relationship Id="rId5" Type="http://schemas.openxmlformats.org/officeDocument/2006/relationships/image" Target="../media/image51.png"/><Relationship Id="rId6"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2.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3.gif"/><Relationship Id="rId4" Type="http://schemas.openxmlformats.org/officeDocument/2006/relationships/image" Target="../media/image54.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5.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5.gif"/><Relationship Id="rId4" Type="http://schemas.openxmlformats.org/officeDocument/2006/relationships/image" Target="../media/image42.gif"/></Relationships>
</file>

<file path=ppt/slides/_rels/slide46.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2.xml"/><Relationship Id="rId3" Type="http://schemas.openxmlformats.org/officeDocument/2006/relationships/notesSlide" Target="../notesSlides/notesSlide43.xml"/><Relationship Id="rId4"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6.gif"/><Relationship Id="rId4" Type="http://schemas.openxmlformats.org/officeDocument/2006/relationships/image" Target="../media/image57.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8.gif"/><Relationship Id="rId4" Type="http://schemas.openxmlformats.org/officeDocument/2006/relationships/image" Target="../media/image59.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0.gif"/></Relationships>
</file>

<file path=ppt/slides/_rels/slide50.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2.xml"/><Relationship Id="rId3" Type="http://schemas.openxmlformats.org/officeDocument/2006/relationships/notesSlide" Target="../notesSlides/notesSlide47.xml"/><Relationship Id="rId4" Type="http://schemas.openxmlformats.org/officeDocument/2006/relationships/image" Target="../media/image1.jpg"/><Relationship Id="rId5" Type="http://schemas.openxmlformats.org/officeDocument/2006/relationships/image" Target="../media/image61.gif"/><Relationship Id="rId6" Type="http://schemas.openxmlformats.org/officeDocument/2006/relationships/image" Target="../media/image62.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3.gif"/><Relationship Id="rId4" Type="http://schemas.openxmlformats.org/officeDocument/2006/relationships/image" Target="../media/image64.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5.gif"/><Relationship Id="rId4" Type="http://schemas.openxmlformats.org/officeDocument/2006/relationships/image" Target="../media/image66.gif"/><Relationship Id="rId5" Type="http://schemas.openxmlformats.org/officeDocument/2006/relationships/image" Target="../media/image42.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5.gif"/><Relationship Id="rId4" Type="http://schemas.openxmlformats.org/officeDocument/2006/relationships/image" Target="../media/image66.gif"/><Relationship Id="rId5" Type="http://schemas.openxmlformats.org/officeDocument/2006/relationships/image" Target="../media/image42.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7.gif"/><Relationship Id="rId4" Type="http://schemas.openxmlformats.org/officeDocument/2006/relationships/image" Target="../media/image68.gif"/></Relationships>
</file>

<file path=ppt/slides/_rels/slide57.xml.rels><?xml version='1.0' encoding='UTF-8' standalone='yes'?>
<Relationships xmlns="http://schemas.openxmlformats.org/package/2006/relationships"><Relationship Id="rId1" Type="http://schemas.microsoft.com/office/2007/relationships/media" Target="../media/media3.mp3"/><Relationship Id="rId2" Type="http://schemas.openxmlformats.org/officeDocument/2006/relationships/audio" Target="../media/media3.mp3"/><Relationship Id="rId3" Type="http://schemas.openxmlformats.org/officeDocument/2006/relationships/slideLayout" Target="../slideLayouts/slideLayout2.xml"/><Relationship Id="rId4" Type="http://schemas.openxmlformats.org/officeDocument/2006/relationships/image" Target="../media/image43.png"/><Relationship Id="rId5"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3.png"/><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3.png"/><Relationship Id="rId4"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3.png"/><Relationship Id="rId4" Type="http://schemas.openxmlformats.org/officeDocument/2006/relationships/image" Target="../media/image1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2" name="图片 41">
            <a:extLst>
              <a:ext uri="{FF2B5EF4-FFF2-40B4-BE49-F238E27FC236}">
                <a16:creationId xmlns:a16="http://schemas.microsoft.com/office/drawing/2014/main" id="{B54E050B-8DE4-44FA-B55E-C0410211EF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6757" y="538972"/>
            <a:ext cx="2204820" cy="1721160"/>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3756EAE5-87E4-4C11-B586-0DCA95A3E7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flipH="1">
            <a:off x="9402127" y="3174781"/>
            <a:ext cx="3483994" cy="1953986"/>
          </a:xfrm>
          <a:prstGeom prst="rect">
            <a:avLst/>
          </a:prstGeom>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51C2FBE4-8508-4250-8ECE-8F556F9F71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85615" y="0"/>
            <a:ext cx="1724044" cy="3343070"/>
          </a:xfrm>
          <a:prstGeom prst="rect">
            <a:avLst/>
          </a:prstGeom>
          <a:effectLst>
            <a:outerShdw blurRad="50800" dist="38100" dir="2700000" algn="tl" rotWithShape="0">
              <a:prstClr val="black">
                <a:alpha val="40000"/>
              </a:prstClr>
            </a:outerShdw>
          </a:effectLst>
        </p:spPr>
      </p:pic>
      <p:pic>
        <p:nvPicPr>
          <p:cNvPr id="8" name="图片 7">
            <a:extLst>
              <a:ext uri="{FF2B5EF4-FFF2-40B4-BE49-F238E27FC236}">
                <a16:creationId xmlns:a16="http://schemas.microsoft.com/office/drawing/2014/main" id="{3EBD3194-FEC7-4297-B1D5-F17798D434D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006" y="-16018"/>
            <a:ext cx="2507714" cy="2141234"/>
          </a:xfrm>
          <a:prstGeom prst="rect">
            <a:avLst/>
          </a:prstGeom>
          <a:effectLst>
            <a:outerShdw blurRad="50800" dist="38100" dir="2700000" algn="tl" rotWithShape="0">
              <a:prstClr val="black">
                <a:alpha val="40000"/>
              </a:prstClr>
            </a:outerShdw>
          </a:effectLst>
        </p:spPr>
      </p:pic>
      <p:pic>
        <p:nvPicPr>
          <p:cNvPr id="19" name="图片 18">
            <a:extLst>
              <a:ext uri="{FF2B5EF4-FFF2-40B4-BE49-F238E27FC236}">
                <a16:creationId xmlns:a16="http://schemas.microsoft.com/office/drawing/2014/main" id="{1E5CC1E4-886E-4C56-B221-9609BE3A5B4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01481" y="5107341"/>
            <a:ext cx="3290519" cy="1845476"/>
          </a:xfrm>
          <a:prstGeom prst="rect">
            <a:avLst/>
          </a:prstGeom>
          <a:effectLst>
            <a:outerShdw blurRad="50800" dist="38100" dir="2700000" algn="tl" rotWithShape="0">
              <a:prstClr val="black">
                <a:alpha val="40000"/>
              </a:prstClr>
            </a:outerShdw>
          </a:effectLst>
        </p:spPr>
      </p:pic>
      <p:pic>
        <p:nvPicPr>
          <p:cNvPr id="34" name="图片 33">
            <a:extLst>
              <a:ext uri="{FF2B5EF4-FFF2-40B4-BE49-F238E27FC236}">
                <a16:creationId xmlns:a16="http://schemas.microsoft.com/office/drawing/2014/main" id="{69B6859B-52E7-4103-A0E3-9DAA29268E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18984">
            <a:off x="9275310" y="4370828"/>
            <a:ext cx="370909" cy="374206"/>
          </a:xfrm>
          <a:prstGeom prst="rect">
            <a:avLst/>
          </a:prstGeom>
        </p:spPr>
      </p:pic>
      <p:pic>
        <p:nvPicPr>
          <p:cNvPr id="35" name="图片 34">
            <a:extLst>
              <a:ext uri="{FF2B5EF4-FFF2-40B4-BE49-F238E27FC236}">
                <a16:creationId xmlns:a16="http://schemas.microsoft.com/office/drawing/2014/main" id="{ABC4A094-11FE-4B16-B742-9353EA0D27C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47431" y="1399664"/>
            <a:ext cx="347109" cy="369461"/>
          </a:xfrm>
          <a:prstGeom prst="rect">
            <a:avLst/>
          </a:prstGeom>
        </p:spPr>
      </p:pic>
      <p:pic>
        <p:nvPicPr>
          <p:cNvPr id="36" name="图片 35">
            <a:extLst>
              <a:ext uri="{FF2B5EF4-FFF2-40B4-BE49-F238E27FC236}">
                <a16:creationId xmlns:a16="http://schemas.microsoft.com/office/drawing/2014/main" id="{86C20FD1-75D2-4A5C-8939-A8E64F8D445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86973" y="2262341"/>
            <a:ext cx="680662" cy="680662"/>
          </a:xfrm>
          <a:prstGeom prst="rect">
            <a:avLst/>
          </a:prstGeom>
        </p:spPr>
      </p:pic>
      <p:sp>
        <p:nvSpPr>
          <p:cNvPr id="38" name="文本框 37">
            <a:extLst>
              <a:ext uri="{FF2B5EF4-FFF2-40B4-BE49-F238E27FC236}">
                <a16:creationId xmlns:a16="http://schemas.microsoft.com/office/drawing/2014/main" id="{6C7F996D-7C06-4EB4-A7BC-03C5A67AE627}"/>
              </a:ext>
            </a:extLst>
          </p:cNvPr>
          <p:cNvSpPr txBox="1"/>
          <p:nvPr/>
        </p:nvSpPr>
        <p:spPr>
          <a:xfrm>
            <a:off x="2534147" y="1352852"/>
            <a:ext cx="7106235" cy="1754326"/>
          </a:xfrm>
          <a:prstGeom prst="rect">
            <a:avLst/>
          </a:prstGeom>
          <a:noFill/>
        </p:spPr>
        <p:txBody>
          <a:bodyPr wrap="square"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a:ln>
                  <a:noFill/>
                </a:ln>
                <a:solidFill>
                  <a:schemeClr val="tx1">
                    <a:lumMod val="85000"/>
                    <a:lumOff val="15000"/>
                  </a:schemeClr>
                </a:solidFill>
                <a:uLnTx/>
                <a:uFillTx/>
                <a:latin typeface="SimSun" panose="02010600030101010101" pitchFamily="2" charset="-122"/>
                <a:ea typeface="SimSun" panose="02010600030101010101" pitchFamily="2" charset="-122"/>
                <a:sym typeface="Source Han Serif SC" panose="02020400000000000000" pitchFamily="18" charset="-122"/>
              </a:rPr>
              <a:t>第十一课：</a:t>
            </a:r>
            <a:endParaRPr kumimoji="0" lang="en-US" altLang="zh-CN" sz="4800" b="1" i="0" u="none" strike="noStrike" kern="1200" cap="none" spc="0" normalizeH="0" baseline="0" noProof="0">
              <a:ln>
                <a:noFill/>
              </a:ln>
              <a:solidFill>
                <a:schemeClr val="tx1">
                  <a:lumMod val="85000"/>
                  <a:lumOff val="15000"/>
                </a:schemeClr>
              </a:solidFill>
              <a:uLnTx/>
              <a:uFillTx/>
              <a:latin typeface="SimSun" panose="02010600030101010101" pitchFamily="2" charset="-122"/>
              <a:ea typeface="SimSun" panose="02010600030101010101" pitchFamily="2" charset="-122"/>
              <a:sym typeface="Source Han Serif SC" panose="02020400000000000000" pitchFamily="18" charset="-122"/>
            </a:endParaRPr>
          </a:p>
          <a:p>
            <a:pPr lvl="0" algn="ctr">
              <a:defRPr/>
            </a:pPr>
            <a:r>
              <a:rPr lang="zh-CN" altLang="en-US" sz="6000" b="1">
                <a:solidFill>
                  <a:srgbClr val="C00000"/>
                </a:solidFill>
                <a:latin typeface="SimSun" panose="02010600030101010101" pitchFamily="2" charset="-122"/>
                <a:ea typeface="SimSun" panose="02010600030101010101" pitchFamily="2" charset="-122"/>
                <a:sym typeface="Source Han Serif SC" panose="02020400000000000000" pitchFamily="18" charset="-122"/>
              </a:rPr>
              <a:t>我在学校食堂吃饭</a:t>
            </a:r>
            <a:endParaRPr kumimoji="0" lang="zh-CN" altLang="en-US" sz="6000" b="1" i="0" u="none" strike="noStrike" kern="1200" cap="none" spc="0" normalizeH="0" baseline="0" noProof="0" dirty="0">
              <a:ln>
                <a:noFill/>
              </a:ln>
              <a:solidFill>
                <a:srgbClr val="C00000"/>
              </a:solidFill>
              <a:uLnTx/>
              <a:uFillTx/>
              <a:latin typeface="SimSun" panose="02010600030101010101" pitchFamily="2" charset="-122"/>
              <a:ea typeface="SimSun" panose="02010600030101010101" pitchFamily="2" charset="-122"/>
              <a:sym typeface="Source Han Serif SC" panose="02020400000000000000" pitchFamily="18" charset="-122"/>
            </a:endParaRPr>
          </a:p>
        </p:txBody>
      </p:sp>
      <p:pic>
        <p:nvPicPr>
          <p:cNvPr id="43" name="图片 42">
            <a:extLst>
              <a:ext uri="{FF2B5EF4-FFF2-40B4-BE49-F238E27FC236}">
                <a16:creationId xmlns:a16="http://schemas.microsoft.com/office/drawing/2014/main" id="{3614D60B-B7AC-4ECB-912B-D32ADD62923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3485991">
            <a:off x="1574690" y="3698971"/>
            <a:ext cx="541612" cy="541612"/>
          </a:xfrm>
          <a:prstGeom prst="rect">
            <a:avLst/>
          </a:prstGeom>
        </p:spPr>
      </p:pic>
      <p:pic>
        <p:nvPicPr>
          <p:cNvPr id="44" name="图片 43">
            <a:extLst>
              <a:ext uri="{FF2B5EF4-FFF2-40B4-BE49-F238E27FC236}">
                <a16:creationId xmlns:a16="http://schemas.microsoft.com/office/drawing/2014/main" id="{2287DB81-E244-4258-A428-3200E3F3F7E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3485991">
            <a:off x="1167009" y="4882973"/>
            <a:ext cx="448736" cy="448736"/>
          </a:xfrm>
          <a:prstGeom prst="rect">
            <a:avLst/>
          </a:prstGeom>
        </p:spPr>
      </p:pic>
      <p:pic>
        <p:nvPicPr>
          <p:cNvPr id="45" name="图片 44">
            <a:extLst>
              <a:ext uri="{FF2B5EF4-FFF2-40B4-BE49-F238E27FC236}">
                <a16:creationId xmlns:a16="http://schemas.microsoft.com/office/drawing/2014/main" id="{3658170E-EC73-4CC5-BFD9-5AA173A553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18984">
            <a:off x="1032491" y="3270481"/>
            <a:ext cx="370909" cy="374206"/>
          </a:xfrm>
          <a:prstGeom prst="rect">
            <a:avLst/>
          </a:prstGeom>
          <a:effectLst>
            <a:outerShdw blurRad="50800" dist="38100" dir="2700000" algn="tl" rotWithShape="0">
              <a:prstClr val="black">
                <a:alpha val="40000"/>
              </a:prstClr>
            </a:outerShdw>
          </a:effectLst>
        </p:spPr>
      </p:pic>
      <p:sp>
        <p:nvSpPr>
          <p:cNvPr id="23" name="文本框 37">
            <a:extLst>
              <a:ext uri="{FF2B5EF4-FFF2-40B4-BE49-F238E27FC236}">
                <a16:creationId xmlns:a16="http://schemas.microsoft.com/office/drawing/2014/main" id="{6C7F996D-7C06-4EB4-A7BC-03C5A67AE627}"/>
              </a:ext>
            </a:extLst>
          </p:cNvPr>
          <p:cNvSpPr txBox="1"/>
          <p:nvPr/>
        </p:nvSpPr>
        <p:spPr>
          <a:xfrm>
            <a:off x="451214" y="3177498"/>
            <a:ext cx="10267129" cy="2677656"/>
          </a:xfrm>
          <a:prstGeom prst="rect">
            <a:avLst/>
          </a:prstGeom>
          <a:noFill/>
        </p:spPr>
        <p:txBody>
          <a:bodyPr wrap="square" rtlCol="0" anchor="ctr">
            <a:spAutoFit/>
          </a:bodyPr>
          <a:lstStyle/>
          <a:p>
            <a:pPr lvl="0" algn="ctr">
              <a:defRPr/>
            </a:pPr>
            <a:r>
              <a:rPr kumimoji="0" lang="vi-VN" altLang="zh-CN" sz="4800" b="1" i="0" u="none" strike="noStrike" kern="1200" cap="none" spc="0" normalizeH="0" baseline="0" noProof="0" dirty="0">
                <a:ln>
                  <a:noFill/>
                </a:ln>
                <a:solidFill>
                  <a:srgbClr val="00B050"/>
                </a:solidFill>
                <a:uLnTx/>
                <a:uFillTx/>
                <a:latin typeface="+mj-lt"/>
                <a:ea typeface="SimSun" panose="02010600030101010101" pitchFamily="2" charset="-122"/>
                <a:sym typeface="Source Han Serif SC" panose="02020400000000000000" pitchFamily="18" charset="-122"/>
              </a:rPr>
              <a:t>Bài</a:t>
            </a:r>
            <a:r>
              <a:rPr kumimoji="0" lang="vi-VN" altLang="zh-CN" sz="4800" b="1" i="0" u="none" strike="noStrike" kern="1200" cap="none" spc="0" normalizeH="0" noProof="0" dirty="0">
                <a:ln>
                  <a:noFill/>
                </a:ln>
                <a:solidFill>
                  <a:srgbClr val="00B050"/>
                </a:solidFill>
                <a:uLnTx/>
                <a:uFillTx/>
                <a:latin typeface="+mj-lt"/>
                <a:ea typeface="SimSun" panose="02010600030101010101" pitchFamily="2" charset="-122"/>
                <a:sym typeface="Source Han Serif SC" panose="02020400000000000000" pitchFamily="18" charset="-122"/>
              </a:rPr>
              <a:t> </a:t>
            </a:r>
            <a:r>
              <a:rPr lang="en-US" altLang="zh-CN" sz="4800" b="1" dirty="0">
                <a:solidFill>
                  <a:srgbClr val="00B050"/>
                </a:solidFill>
                <a:ea typeface="SimSun" panose="02010600030101010101" pitchFamily="2" charset="-122"/>
                <a:sym typeface="Source Han Serif SC" panose="02020400000000000000" pitchFamily="18" charset="-122"/>
              </a:rPr>
              <a:t>11</a:t>
            </a:r>
            <a:r>
              <a:rPr lang="vi-VN" altLang="zh-CN" sz="4800" b="1" dirty="0">
                <a:solidFill>
                  <a:srgbClr val="00B050"/>
                </a:solidFill>
                <a:latin typeface="+mj-lt"/>
                <a:ea typeface="SimSun" panose="02010600030101010101" pitchFamily="2" charset="-122"/>
                <a:sym typeface="Source Han Serif SC" panose="02020400000000000000" pitchFamily="18" charset="-122"/>
              </a:rPr>
              <a:t>:</a:t>
            </a:r>
            <a:endParaRPr kumimoji="0" lang="en-US" altLang="zh-CN" sz="4800" b="1" i="0" u="none" strike="noStrike" kern="1200" cap="none" spc="0" normalizeH="0" baseline="0" noProof="0" dirty="0">
              <a:ln>
                <a:noFill/>
              </a:ln>
              <a:solidFill>
                <a:srgbClr val="00B050"/>
              </a:solidFill>
              <a:uLnTx/>
              <a:uFillTx/>
              <a:latin typeface="+mj-lt"/>
              <a:ea typeface="SimSun" panose="02010600030101010101" pitchFamily="2" charset="-122"/>
              <a:sym typeface="Source Han Serif SC" panose="02020400000000000000" pitchFamily="18" charset="-122"/>
            </a:endParaRPr>
          </a:p>
          <a:p>
            <a:pPr lvl="0" algn="ctr">
              <a:defRPr/>
            </a:pPr>
            <a:r>
              <a:rPr lang="en-US" altLang="zh-CN" sz="6000" b="1" dirty="0">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t>TÔI ĂN CƠM</a:t>
            </a:r>
            <a:br>
              <a:rPr lang="en-US" altLang="zh-CN" sz="6000" b="1" dirty="0">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br>
            <a:r>
              <a:rPr lang="en-US" altLang="zh-CN" sz="6000" b="1" dirty="0" err="1">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t>Ở</a:t>
            </a:r>
            <a:r>
              <a:rPr lang="en-US" altLang="zh-CN" sz="6000" b="1" dirty="0">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t> NHÀ ĂN CỦA</a:t>
            </a:r>
            <a:r>
              <a:rPr lang="zh-CN" altLang="en-US" sz="6000" b="1" dirty="0">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t> </a:t>
            </a:r>
            <a:r>
              <a:rPr lang="en-US" altLang="zh-CN" sz="6000" b="1" dirty="0">
                <a:solidFill>
                  <a:srgbClr val="00B050"/>
                </a:solidFill>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rPr>
              <a:t>TRƯỜNG</a:t>
            </a:r>
            <a:endParaRPr kumimoji="0" lang="zh-CN" altLang="en-US" sz="6000" b="1" i="0" u="none" strike="noStrike" kern="1200" cap="none" spc="0" normalizeH="0" baseline="0" noProof="0" dirty="0">
              <a:ln>
                <a:noFill/>
              </a:ln>
              <a:solidFill>
                <a:srgbClr val="00B050"/>
              </a:solidFill>
              <a:uLnTx/>
              <a:uFillTx/>
              <a:latin typeface="Times New Roman" panose="02020603050405020304" pitchFamily="18" charset="0"/>
              <a:ea typeface="SimSun" panose="02010600030101010101" pitchFamily="2" charset="-122"/>
              <a:cs typeface="Times New Roman" panose="02020603050405020304" pitchFamily="18" charset="0"/>
              <a:sym typeface="Source Han Serif SC" panose="02020400000000000000" pitchFamily="18" charset="-122"/>
            </a:endParaRPr>
          </a:p>
        </p:txBody>
      </p:sp>
      <p:sp>
        <p:nvSpPr>
          <p:cNvPr id="2" name="TextBox 1"/>
          <p:cNvSpPr txBox="1"/>
          <p:nvPr/>
        </p:nvSpPr>
        <p:spPr>
          <a:xfrm>
            <a:off x="4805075" y="5925475"/>
            <a:ext cx="1569660" cy="646331"/>
          </a:xfrm>
          <a:prstGeom prst="rect">
            <a:avLst/>
          </a:prstGeom>
          <a:noFill/>
          <a:effectLst>
            <a:outerShdw blurRad="50800" dist="38100" dir="2700000" algn="tl" rotWithShape="0">
              <a:prstClr val="black">
                <a:alpha val="40000"/>
              </a:prstClr>
            </a:outerShdw>
          </a:effectLst>
        </p:spPr>
        <p:txBody>
          <a:bodyPr wrap="none" rtlCol="0">
            <a:spAutoFit/>
          </a:bodyPr>
          <a:lstStyle/>
          <a:p>
            <a:r>
              <a:rPr lang="zh-CN" altLang="en-VN" sz="3600" b="1" dirty="0">
                <a:solidFill>
                  <a:schemeClr val="accent2"/>
                </a:solidFill>
                <a:latin typeface="微软雅黑" pitchFamily="34" charset="-122"/>
                <a:ea typeface="长城中行书体" panose="02010609010101010101" pitchFamily="49" charset="-122"/>
              </a:rPr>
              <a:t>阮氏琼</a:t>
            </a:r>
            <a:endParaRPr lang="zh-CN" altLang="en-US"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905122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750" fill="hold"/>
                                        <p:tgtEl>
                                          <p:spTgt spid="38"/>
                                        </p:tgtEl>
                                        <p:attrNameLst>
                                          <p:attrName>ppt_w</p:attrName>
                                        </p:attrNameLst>
                                      </p:cBhvr>
                                      <p:tavLst>
                                        <p:tav tm="0">
                                          <p:val>
                                            <p:fltVal val="0"/>
                                          </p:val>
                                        </p:tav>
                                        <p:tav tm="100000">
                                          <p:val>
                                            <p:strVal val="#ppt_w"/>
                                          </p:val>
                                        </p:tav>
                                      </p:tavLst>
                                    </p:anim>
                                    <p:anim calcmode="lin" valueType="num">
                                      <p:cBhvr>
                                        <p:cTn id="8" dur="750" fill="hold"/>
                                        <p:tgtEl>
                                          <p:spTgt spid="38"/>
                                        </p:tgtEl>
                                        <p:attrNameLst>
                                          <p:attrName>ppt_h</p:attrName>
                                        </p:attrNameLst>
                                      </p:cBhvr>
                                      <p:tavLst>
                                        <p:tav tm="0">
                                          <p:val>
                                            <p:fltVal val="0"/>
                                          </p:val>
                                        </p:tav>
                                        <p:tav tm="100000">
                                          <p:val>
                                            <p:strVal val="#ppt_h"/>
                                          </p:val>
                                        </p:tav>
                                      </p:tavLst>
                                    </p:anim>
                                    <p:animEffect transition="in" filter="fade">
                                      <p:cBhvr>
                                        <p:cTn id="9" dur="750"/>
                                        <p:tgtEl>
                                          <p:spTgt spid="38"/>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750" fill="hold"/>
                                        <p:tgtEl>
                                          <p:spTgt spid="23"/>
                                        </p:tgtEl>
                                        <p:attrNameLst>
                                          <p:attrName>ppt_w</p:attrName>
                                        </p:attrNameLst>
                                      </p:cBhvr>
                                      <p:tavLst>
                                        <p:tav tm="0">
                                          <p:val>
                                            <p:fltVal val="0"/>
                                          </p:val>
                                        </p:tav>
                                        <p:tav tm="100000">
                                          <p:val>
                                            <p:strVal val="#ppt_w"/>
                                          </p:val>
                                        </p:tav>
                                      </p:tavLst>
                                    </p:anim>
                                    <p:anim calcmode="lin" valueType="num">
                                      <p:cBhvr>
                                        <p:cTn id="14" dur="750" fill="hold"/>
                                        <p:tgtEl>
                                          <p:spTgt spid="23"/>
                                        </p:tgtEl>
                                        <p:attrNameLst>
                                          <p:attrName>ppt_h</p:attrName>
                                        </p:attrNameLst>
                                      </p:cBhvr>
                                      <p:tavLst>
                                        <p:tav tm="0">
                                          <p:val>
                                            <p:fltVal val="0"/>
                                          </p:val>
                                        </p:tav>
                                        <p:tav tm="100000">
                                          <p:val>
                                            <p:strVal val="#ppt_h"/>
                                          </p:val>
                                        </p:tav>
                                      </p:tavLst>
                                    </p:anim>
                                    <p:animEffect transition="in" filter="fade">
                                      <p:cBhvr>
                                        <p:cTn id="15" dur="750"/>
                                        <p:tgtEl>
                                          <p:spTgt spid="23"/>
                                        </p:tgtEl>
                                      </p:cBhvr>
                                    </p:animEffect>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3"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4A8912BF-6E5E-42A0-ACBE-5E6BD2951F54}"/>
              </a:ext>
            </a:extLst>
          </p:cNvPr>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0" y="-2"/>
            <a:ext cx="774095" cy="6858000"/>
          </a:xfrm>
          <a:prstGeom prst="rect">
            <a:avLst/>
          </a:prstGeom>
        </p:spPr>
      </p:pic>
      <p:pic>
        <p:nvPicPr>
          <p:cNvPr id="35" name="图片 34">
            <a:extLst>
              <a:ext uri="{FF2B5EF4-FFF2-40B4-BE49-F238E27FC236}">
                <a16:creationId xmlns:a16="http://schemas.microsoft.com/office/drawing/2014/main" id="{86D37B42-1C25-4E1A-9FD0-1DB8BDF4C8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74095" y="4251121"/>
            <a:ext cx="3886200" cy="2701290"/>
          </a:xfrm>
          <a:prstGeom prst="rect">
            <a:avLst/>
          </a:prstGeom>
          <a:effectLst>
            <a:outerShdw blurRad="50800" dist="38100" dir="2700000" algn="tl" rotWithShape="0">
              <a:prstClr val="black">
                <a:alpha val="40000"/>
              </a:prstClr>
            </a:outerShdw>
          </a:effectLst>
        </p:spPr>
      </p:pic>
      <p:sp>
        <p:nvSpPr>
          <p:cNvPr id="36" name="矩形 35">
            <a:extLst>
              <a:ext uri="{FF2B5EF4-FFF2-40B4-BE49-F238E27FC236}">
                <a16:creationId xmlns:a16="http://schemas.microsoft.com/office/drawing/2014/main" id="{3AFB802F-FE89-4AE6-B642-259A78812496}"/>
              </a:ext>
            </a:extLst>
          </p:cNvPr>
          <p:cNvSpPr/>
          <p:nvPr/>
        </p:nvSpPr>
        <p:spPr>
          <a:xfrm>
            <a:off x="4489687" y="2527300"/>
            <a:ext cx="7519152" cy="1862048"/>
          </a:xfrm>
          <a:prstGeom prst="rect">
            <a:avLst/>
          </a:prstGeom>
        </p:spPr>
        <p:txBody>
          <a:bodyPr wrap="square">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1500" b="1" i="0" u="none" strike="noStrike" kern="1200" cap="none" spc="0" normalizeH="0" baseline="0" noProof="0">
                <a:ln>
                  <a:noFill/>
                </a:ln>
                <a:solidFill>
                  <a:srgbClr val="FF0000"/>
                </a:solidFill>
                <a:uLnTx/>
                <a:uFillTx/>
                <a:latin typeface="义启小魏楷" panose="02010601030101010101" pitchFamily="2" charset="-122"/>
                <a:ea typeface="长城行楷体" panose="02010609000101010101" pitchFamily="49" charset="-122"/>
                <a:cs typeface="+mn-ea"/>
              </a:rPr>
              <a:t>生词</a:t>
            </a:r>
            <a:endParaRPr kumimoji="0" lang="en-US" altLang="zh-CN" sz="11500" b="1" i="0" u="none" strike="noStrike" kern="1200" cap="none" spc="0" normalizeH="0" baseline="0" noProof="0" dirty="0">
              <a:ln>
                <a:noFill/>
              </a:ln>
              <a:solidFill>
                <a:srgbClr val="FF0000"/>
              </a:solidFill>
              <a:uLnTx/>
              <a:uFillTx/>
              <a:latin typeface="义启小魏楷" panose="02010601030101010101" pitchFamily="2" charset="-122"/>
              <a:ea typeface="长城行楷体" panose="02010609000101010101" pitchFamily="49" charset="-122"/>
              <a:cs typeface="+mn-ea"/>
            </a:endParaRPr>
          </a:p>
        </p:txBody>
      </p:sp>
      <p:sp>
        <p:nvSpPr>
          <p:cNvPr id="37" name="文本框 36">
            <a:extLst>
              <a:ext uri="{FF2B5EF4-FFF2-40B4-BE49-F238E27FC236}">
                <a16:creationId xmlns:a16="http://schemas.microsoft.com/office/drawing/2014/main" id="{5E5E95FF-8EB0-476E-8AF6-FB30C427C5C5}"/>
              </a:ext>
            </a:extLst>
          </p:cNvPr>
          <p:cNvSpPr txBox="1"/>
          <p:nvPr/>
        </p:nvSpPr>
        <p:spPr>
          <a:xfrm>
            <a:off x="2303207" y="69796"/>
            <a:ext cx="3249608" cy="37702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ltLang="zh-CN" sz="23900" b="1" i="1">
                <a:solidFill>
                  <a:srgbClr val="00B050"/>
                </a:solidFill>
                <a:latin typeface="+mj-lt"/>
                <a:ea typeface="义启小魏楷" panose="02010601030101010101" pitchFamily="2" charset="-122"/>
                <a:cs typeface="+mn-ea"/>
              </a:rPr>
              <a:t>01</a:t>
            </a:r>
            <a:endParaRPr kumimoji="0" lang="zh-CN" altLang="en-US" sz="23900" b="1" i="1" u="none" strike="noStrike" kern="1200" cap="none" spc="0" normalizeH="0" baseline="0" noProof="0" dirty="0">
              <a:ln>
                <a:noFill/>
              </a:ln>
              <a:solidFill>
                <a:srgbClr val="00B050"/>
              </a:solidFill>
              <a:uLnTx/>
              <a:uFillTx/>
              <a:latin typeface="+mj-lt"/>
              <a:ea typeface="义启小魏楷" panose="02010601030101010101" pitchFamily="2" charset="-122"/>
              <a:cs typeface="+mn-ea"/>
            </a:endParaRPr>
          </a:p>
        </p:txBody>
      </p:sp>
      <p:pic>
        <p:nvPicPr>
          <p:cNvPr id="8" name="图片 11">
            <a:extLst>
              <a:ext uri="{FF2B5EF4-FFF2-40B4-BE49-F238E27FC236}">
                <a16:creationId xmlns:a16="http://schemas.microsoft.com/office/drawing/2014/main" id="{94498F4F-54FE-4C27-8376-1707B9C261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765411" y="-2"/>
            <a:ext cx="5426589" cy="25273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189054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750"/>
                                        <p:tgtEl>
                                          <p:spTgt spid="31"/>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750"/>
                                        <p:tgtEl>
                                          <p:spTgt spid="35"/>
                                        </p:tgtEl>
                                      </p:cBhvr>
                                    </p:animEffect>
                                  </p:childTnLst>
                                </p:cTn>
                              </p:par>
                            </p:childTnLst>
                          </p:cTn>
                        </p:par>
                        <p:par>
                          <p:cTn id="12" fill="hold">
                            <p:stCondLst>
                              <p:cond delay="1500"/>
                            </p:stCondLst>
                            <p:childTnLst>
                              <p:par>
                                <p:cTn id="13" presetID="2" presetClass="entr" presetSubtype="4" fill="hold" grpId="0" nodeType="after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750" fill="hold"/>
                                        <p:tgtEl>
                                          <p:spTgt spid="37"/>
                                        </p:tgtEl>
                                        <p:attrNameLst>
                                          <p:attrName>ppt_x</p:attrName>
                                        </p:attrNameLst>
                                      </p:cBhvr>
                                      <p:tavLst>
                                        <p:tav tm="0">
                                          <p:val>
                                            <p:strVal val="#ppt_x"/>
                                          </p:val>
                                        </p:tav>
                                        <p:tav tm="100000">
                                          <p:val>
                                            <p:strVal val="#ppt_x"/>
                                          </p:val>
                                        </p:tav>
                                      </p:tavLst>
                                    </p:anim>
                                    <p:anim calcmode="lin" valueType="num">
                                      <p:cBhvr additive="base">
                                        <p:cTn id="16" dur="750" fill="hold"/>
                                        <p:tgtEl>
                                          <p:spTgt spid="37"/>
                                        </p:tgtEl>
                                        <p:attrNameLst>
                                          <p:attrName>ppt_y</p:attrName>
                                        </p:attrNameLst>
                                      </p:cBhvr>
                                      <p:tavLst>
                                        <p:tav tm="0">
                                          <p:val>
                                            <p:strVal val="1+#ppt_h/2"/>
                                          </p:val>
                                        </p:tav>
                                        <p:tav tm="100000">
                                          <p:val>
                                            <p:strVal val="#ppt_y"/>
                                          </p:val>
                                        </p:tav>
                                      </p:tavLst>
                                    </p:anim>
                                  </p:childTnLst>
                                </p:cTn>
                              </p:par>
                            </p:childTnLst>
                          </p:cTn>
                        </p:par>
                        <p:par>
                          <p:cTn id="17" fill="hold">
                            <p:stCondLst>
                              <p:cond delay="2250"/>
                            </p:stCondLst>
                            <p:childTnLst>
                              <p:par>
                                <p:cTn id="18" presetID="2" presetClass="entr" presetSubtype="4" fill="hold" grpId="0" nodeType="after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additive="base">
                                        <p:cTn id="20" dur="750" fill="hold"/>
                                        <p:tgtEl>
                                          <p:spTgt spid="36"/>
                                        </p:tgtEl>
                                        <p:attrNameLst>
                                          <p:attrName>ppt_x</p:attrName>
                                        </p:attrNameLst>
                                      </p:cBhvr>
                                      <p:tavLst>
                                        <p:tav tm="0">
                                          <p:val>
                                            <p:strVal val="#ppt_x"/>
                                          </p:val>
                                        </p:tav>
                                        <p:tav tm="100000">
                                          <p:val>
                                            <p:strVal val="#ppt_x"/>
                                          </p:val>
                                        </p:tav>
                                      </p:tavLst>
                                    </p:anim>
                                    <p:anim calcmode="lin" valueType="num">
                                      <p:cBhvr additive="base">
                                        <p:cTn id="21" dur="750" fill="hold"/>
                                        <p:tgtEl>
                                          <p:spTgt spid="36"/>
                                        </p:tgtEl>
                                        <p:attrNameLst>
                                          <p:attrName>ppt_y</p:attrName>
                                        </p:attrNameLst>
                                      </p:cBhvr>
                                      <p:tavLst>
                                        <p:tav tm="0">
                                          <p:val>
                                            <p:strVal val="1+#ppt_h/2"/>
                                          </p:val>
                                        </p:tav>
                                        <p:tav tm="100000">
                                          <p:val>
                                            <p:strVal val="#ppt_y"/>
                                          </p:val>
                                        </p:tav>
                                      </p:tavLst>
                                    </p:anim>
                                  </p:childTnLst>
                                </p:cTn>
                              </p:par>
                            </p:childTnLst>
                          </p:cTn>
                        </p:par>
                        <p:par>
                          <p:cTn id="22" fill="hold">
                            <p:stCondLst>
                              <p:cond delay="3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16292689"/>
              </p:ext>
            </p:extLst>
          </p:nvPr>
        </p:nvGraphicFramePr>
        <p:xfrm>
          <a:off x="239237" y="445830"/>
          <a:ext cx="5836099" cy="6322079"/>
        </p:xfrm>
        <a:graphic>
          <a:graphicData uri="http://schemas.openxmlformats.org/drawingml/2006/table">
            <a:tbl>
              <a:tblPr firstRow="1">
                <a:tableStyleId>{5C22544A-7EE6-4342-B048-85BDC9FD1C3A}</a:tableStyleId>
              </a:tblPr>
              <a:tblGrid>
                <a:gridCol w="763600">
                  <a:extLst>
                    <a:ext uri="{9D8B030D-6E8A-4147-A177-3AD203B41FA5}">
                      <a16:colId xmlns:a16="http://schemas.microsoft.com/office/drawing/2014/main" val="2897192029"/>
                    </a:ext>
                  </a:extLst>
                </a:gridCol>
                <a:gridCol w="1380623">
                  <a:extLst>
                    <a:ext uri="{9D8B030D-6E8A-4147-A177-3AD203B41FA5}">
                      <a16:colId xmlns:a16="http://schemas.microsoft.com/office/drawing/2014/main" val="2090168382"/>
                    </a:ext>
                  </a:extLst>
                </a:gridCol>
                <a:gridCol w="1351632">
                  <a:extLst>
                    <a:ext uri="{9D8B030D-6E8A-4147-A177-3AD203B41FA5}">
                      <a16:colId xmlns:a16="http://schemas.microsoft.com/office/drawing/2014/main" val="964787021"/>
                    </a:ext>
                  </a:extLst>
                </a:gridCol>
                <a:gridCol w="697423">
                  <a:extLst>
                    <a:ext uri="{9D8B030D-6E8A-4147-A177-3AD203B41FA5}">
                      <a16:colId xmlns:a16="http://schemas.microsoft.com/office/drawing/2014/main" val="934390766"/>
                    </a:ext>
                  </a:extLst>
                </a:gridCol>
                <a:gridCol w="1642821">
                  <a:extLst>
                    <a:ext uri="{9D8B030D-6E8A-4147-A177-3AD203B41FA5}">
                      <a16:colId xmlns:a16="http://schemas.microsoft.com/office/drawing/2014/main" val="1958298950"/>
                    </a:ext>
                  </a:extLst>
                </a:gridCol>
              </a:tblGrid>
              <a:tr h="747566">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8775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同屋</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fontAlgn="b">
                        <a:buFontTx/>
                        <a:buNone/>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tóng wū </a:t>
                      </a:r>
                      <a:endParaRPr lang="vi-VN" sz="2000" b="0" i="1" u="none" strike="noStrike">
                        <a:solidFill>
                          <a:schemeClr val="tx1">
                            <a:lumMod val="50000"/>
                          </a:schemeClr>
                        </a:solidFill>
                        <a:effectLst/>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000">
                          <a:latin typeface="宋体" panose="02010600030101010101" pitchFamily="2" charset="-122"/>
                          <a:ea typeface="宋体" panose="02010600030101010101" pitchFamily="2" charset="-122"/>
                        </a:rPr>
                        <a:t>名</a:t>
                      </a:r>
                      <a:endParaRPr lang="en-US" sz="20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Bạn cùng</a:t>
                      </a:r>
                      <a:r>
                        <a:rPr lang="en-US" sz="2000" i="0" kern="1200" baseline="0">
                          <a:solidFill>
                            <a:schemeClr val="dk1"/>
                          </a:solidFill>
                          <a:latin typeface="Times New Roman" panose="02020603050405020304" pitchFamily="18" charset="0"/>
                          <a:ea typeface="+mn-ea"/>
                          <a:cs typeface="Times New Roman" panose="02020603050405020304" pitchFamily="18" charset="0"/>
                        </a:rPr>
                        <a:t> phòng</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433596">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在</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zài</a:t>
                      </a:r>
                      <a:endParaRPr lang="en-US" sz="20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000">
                          <a:latin typeface="宋体" panose="02010600030101010101" pitchFamily="2" charset="-122"/>
                          <a:ea typeface="宋体" panose="02010600030101010101" pitchFamily="2" charset="-122"/>
                        </a:rPr>
                        <a:t>介</a:t>
                      </a:r>
                      <a:endParaRPr lang="en-US" sz="20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Ở, tại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986799">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家</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jiā</a:t>
                      </a:r>
                      <a:endParaRPr lang="en-US" sz="20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000">
                          <a:latin typeface="宋体" panose="02010600030101010101" pitchFamily="2" charset="-122"/>
                          <a:ea typeface="宋体" panose="02010600030101010101" pitchFamily="2" charset="-122"/>
                        </a:rPr>
                        <a:t>量</a:t>
                      </a:r>
                      <a:endParaRPr lang="en-US" sz="20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Lượng từ dành cho công ty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461651">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汽车</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qìchē</a:t>
                      </a:r>
                      <a:endParaRPr lang="en-US" sz="20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000">
                          <a:latin typeface="宋体" panose="02010600030101010101" pitchFamily="2" charset="-122"/>
                          <a:ea typeface="宋体" panose="02010600030101010101" pitchFamily="2" charset="-122"/>
                        </a:rPr>
                        <a:t>名</a:t>
                      </a:r>
                      <a:endParaRPr lang="en-US" sz="20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Xe ô tô</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79489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公司</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altLang="zh-CN"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gōngsī</a:t>
                      </a:r>
                      <a:endPar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000">
                          <a:latin typeface="宋体" panose="02010600030101010101" pitchFamily="2" charset="-122"/>
                          <a:ea typeface="宋体" panose="02010600030101010101" pitchFamily="2" charset="-122"/>
                        </a:rPr>
                        <a:t>名</a:t>
                      </a:r>
                      <a:endParaRPr lang="en-US" sz="20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Công ty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44027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工作</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gōngzuò</a:t>
                      </a:r>
                      <a:endParaRPr lang="en-US" sz="20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2000" kern="1200">
                          <a:solidFill>
                            <a:schemeClr val="dk1"/>
                          </a:solidFill>
                          <a:latin typeface="宋体" panose="02010600030101010101" pitchFamily="2" charset="-122"/>
                          <a:ea typeface="宋体" panose="02010600030101010101" pitchFamily="2" charset="-122"/>
                          <a:cs typeface="+mn-cs"/>
                        </a:rPr>
                        <a:t>动</a:t>
                      </a:r>
                      <a:endParaRPr lang="en-US" sz="20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Làm việc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r h="388717">
                <a:tc rowSpan="3">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从</a:t>
                      </a:r>
                      <a:r>
                        <a:rPr lang="en-US" altLang="zh-CN"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到</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cóng…. dào </a:t>
                      </a:r>
                      <a:endParaRPr lang="en-US" sz="20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endParaRPr lang="en-US" sz="20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Từ… đến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r h="472437">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从</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cóng </a:t>
                      </a:r>
                      <a:endParaRPr lang="en-US" sz="20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2000" kern="1200">
                          <a:solidFill>
                            <a:schemeClr val="dk1"/>
                          </a:solidFill>
                          <a:latin typeface="宋体" panose="02010600030101010101" pitchFamily="2" charset="-122"/>
                          <a:ea typeface="宋体" panose="02010600030101010101" pitchFamily="2" charset="-122"/>
                          <a:cs typeface="+mn-cs"/>
                        </a:rPr>
                        <a:t>介</a:t>
                      </a:r>
                      <a:endParaRPr lang="en-US" sz="20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164739039"/>
                  </a:ext>
                </a:extLst>
              </a:tr>
              <a:tr h="388717">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到</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dào</a:t>
                      </a:r>
                      <a:endParaRPr lang="en-US" sz="20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kern="1200">
                          <a:solidFill>
                            <a:schemeClr val="dk1"/>
                          </a:solidFill>
                          <a:latin typeface="宋体" panose="02010600030101010101" pitchFamily="2" charset="-122"/>
                          <a:ea typeface="宋体" panose="02010600030101010101" pitchFamily="2" charset="-122"/>
                          <a:cs typeface="+mn-cs"/>
                        </a:rPr>
                        <a:t>动</a:t>
                      </a:r>
                      <a:endParaRPr lang="en-US" sz="20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Đến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27085916"/>
                  </a:ext>
                </a:extLst>
              </a:tr>
              <a:tr h="472437">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上班</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shàngbān </a:t>
                      </a:r>
                      <a:endParaRPr lang="en-US" sz="20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kern="1200">
                          <a:solidFill>
                            <a:schemeClr val="dk1"/>
                          </a:solidFill>
                          <a:latin typeface="宋体" panose="02010600030101010101" pitchFamily="2" charset="-122"/>
                          <a:ea typeface="宋体" panose="02010600030101010101" pitchFamily="2" charset="-122"/>
                          <a:cs typeface="+mn-cs"/>
                        </a:rPr>
                        <a:t>动</a:t>
                      </a:r>
                      <a:endParaRPr lang="en-US" sz="20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Đi làm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29677859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72554542"/>
              </p:ext>
            </p:extLst>
          </p:nvPr>
        </p:nvGraphicFramePr>
        <p:xfrm>
          <a:off x="6245817" y="445829"/>
          <a:ext cx="5827363" cy="6322079"/>
        </p:xfrm>
        <a:graphic>
          <a:graphicData uri="http://schemas.openxmlformats.org/drawingml/2006/table">
            <a:tbl>
              <a:tblPr firstRow="1">
                <a:tableStyleId>{5C22544A-7EE6-4342-B048-85BDC9FD1C3A}</a:tableStyleId>
              </a:tblPr>
              <a:tblGrid>
                <a:gridCol w="759417">
                  <a:extLst>
                    <a:ext uri="{9D8B030D-6E8A-4147-A177-3AD203B41FA5}">
                      <a16:colId xmlns:a16="http://schemas.microsoft.com/office/drawing/2014/main" val="2897192029"/>
                    </a:ext>
                  </a:extLst>
                </a:gridCol>
                <a:gridCol w="1262341">
                  <a:extLst>
                    <a:ext uri="{9D8B030D-6E8A-4147-A177-3AD203B41FA5}">
                      <a16:colId xmlns:a16="http://schemas.microsoft.com/office/drawing/2014/main" val="2090168382"/>
                    </a:ext>
                  </a:extLst>
                </a:gridCol>
                <a:gridCol w="1377425">
                  <a:extLst>
                    <a:ext uri="{9D8B030D-6E8A-4147-A177-3AD203B41FA5}">
                      <a16:colId xmlns:a16="http://schemas.microsoft.com/office/drawing/2014/main" val="964787021"/>
                    </a:ext>
                  </a:extLst>
                </a:gridCol>
                <a:gridCol w="784812">
                  <a:extLst>
                    <a:ext uri="{9D8B030D-6E8A-4147-A177-3AD203B41FA5}">
                      <a16:colId xmlns:a16="http://schemas.microsoft.com/office/drawing/2014/main" val="934390766"/>
                    </a:ext>
                  </a:extLst>
                </a:gridCol>
                <a:gridCol w="1643368">
                  <a:extLst>
                    <a:ext uri="{9D8B030D-6E8A-4147-A177-3AD203B41FA5}">
                      <a16:colId xmlns:a16="http://schemas.microsoft.com/office/drawing/2014/main" val="1958298950"/>
                    </a:ext>
                  </a:extLst>
                </a:gridCol>
              </a:tblGrid>
              <a:tr h="763399">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12044">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周末</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zhōumò </a:t>
                      </a:r>
                      <a:endPar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Cuối tuần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981632">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平时</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píngshí </a:t>
                      </a:r>
                      <a:endPar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Bình thường, thường nhật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61815694"/>
                  </a:ext>
                </a:extLst>
              </a:tr>
              <a:tr h="422331">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学校</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xuéxiào</a:t>
                      </a:r>
                      <a:endPar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Trường học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043244981"/>
                  </a:ext>
                </a:extLst>
              </a:tr>
              <a:tr h="706826">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食堂</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shítáng </a:t>
                      </a:r>
                      <a:endPar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Nhà ăn, căng tin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628263">
                <a:tc rowSpan="2">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的时候</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…de shíhòu </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Khi, lúc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74798083"/>
                  </a:ext>
                </a:extLst>
              </a:tr>
              <a:tr h="422331">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时候</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shíhòu</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Lúc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26890956"/>
                  </a:ext>
                </a:extLst>
              </a:tr>
              <a:tr h="422331">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做饭</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zuò fàn </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Nấu ăn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597462639"/>
                  </a:ext>
                </a:extLst>
              </a:tr>
              <a:tr h="656096">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菜</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cài</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名</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Món ăn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418117922"/>
                  </a:ext>
                </a:extLst>
              </a:tr>
              <a:tr h="706826">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聊天儿</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liáotiānr</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000" i="0" kern="1200">
                          <a:solidFill>
                            <a:schemeClr val="dk1"/>
                          </a:solidFill>
                          <a:latin typeface="Times New Roman" panose="02020603050405020304" pitchFamily="18" charset="0"/>
                          <a:ea typeface="+mn-ea"/>
                          <a:cs typeface="Times New Roman" panose="02020603050405020304" pitchFamily="18" charset="0"/>
                        </a:rPr>
                        <a:t>动</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Nói chuyện, tán ngẫ</a:t>
                      </a:r>
                      <a:r>
                        <a:rPr lang="en-US" altLang="zh-CN" sz="2000" i="0" kern="1200">
                          <a:solidFill>
                            <a:schemeClr val="dk1"/>
                          </a:solidFill>
                          <a:latin typeface="Times New Roman" panose="02020603050405020304" pitchFamily="18" charset="0"/>
                          <a:ea typeface="+mn-ea"/>
                          <a:cs typeface="Times New Roman" panose="02020603050405020304" pitchFamily="18" charset="0"/>
                        </a:rPr>
                        <a:t>u</a:t>
                      </a:r>
                      <a:endParaRPr lang="en-US" sz="20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66191364"/>
                  </a:ext>
                </a:extLst>
              </a:tr>
            </a:tbl>
          </a:graphicData>
        </a:graphic>
      </p:graphicFrame>
      <p:sp>
        <p:nvSpPr>
          <p:cNvPr id="6" name="Title 1"/>
          <p:cNvSpPr txBox="1">
            <a:spLocks/>
          </p:cNvSpPr>
          <p:nvPr/>
        </p:nvSpPr>
        <p:spPr>
          <a:xfrm>
            <a:off x="864813" y="52251"/>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文一 </a:t>
            </a:r>
            <a:r>
              <a:rPr lang="en-US" altLang="zh-CN" sz="2000" b="1">
                <a:solidFill>
                  <a:srgbClr val="FF0000"/>
                </a:solidFill>
                <a:latin typeface="KaiTi" panose="02010609060101010101" pitchFamily="49" charset="-122"/>
                <a:ea typeface="KaiTi" panose="02010609060101010101" pitchFamily="49" charset="-122"/>
              </a:rPr>
              <a:t>Bài khóa 1</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780521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75167773"/>
              </p:ext>
            </p:extLst>
          </p:nvPr>
        </p:nvGraphicFramePr>
        <p:xfrm>
          <a:off x="409251" y="0"/>
          <a:ext cx="11373497" cy="1340486"/>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09762">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dirty="0" err="1">
                          <a:solidFill>
                            <a:srgbClr val="07443C"/>
                          </a:solidFill>
                          <a:effectLst/>
                          <a:latin typeface="Times New Roman" panose="02020603050405020304" pitchFamily="18" charset="0"/>
                          <a:ea typeface="+mn-ea"/>
                          <a:cs typeface="Times New Roman" panose="02020603050405020304" pitchFamily="18" charset="0"/>
                        </a:rPr>
                        <a:t>Phiên</a:t>
                      </a:r>
                      <a:r>
                        <a:rPr lang="en-US" sz="2800" b="1" kern="1200" dirty="0">
                          <a:solidFill>
                            <a:srgbClr val="07443C"/>
                          </a:solidFill>
                          <a:effectLst/>
                          <a:latin typeface="Times New Roman" panose="02020603050405020304" pitchFamily="18" charset="0"/>
                          <a:ea typeface="+mn-ea"/>
                          <a:cs typeface="Times New Roman" panose="02020603050405020304" pitchFamily="18" charset="0"/>
                        </a:rPr>
                        <a:t> </a:t>
                      </a:r>
                      <a:r>
                        <a:rPr lang="en-US" sz="2800" b="1" kern="1200" dirty="0" err="1">
                          <a:solidFill>
                            <a:srgbClr val="07443C"/>
                          </a:solidFill>
                          <a:effectLst/>
                          <a:latin typeface="Times New Roman" panose="02020603050405020304" pitchFamily="18" charset="0"/>
                          <a:ea typeface="+mn-ea"/>
                          <a:cs typeface="Times New Roman" panose="02020603050405020304" pitchFamily="18" charset="0"/>
                        </a:rPr>
                        <a:t>Âm</a:t>
                      </a:r>
                      <a:endParaRPr lang="en-US" sz="2800" b="1" kern="1200" dirty="0">
                        <a:solidFill>
                          <a:srgbClr val="07443C"/>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0724">
                <a:tc>
                  <a:txBody>
                    <a:bodyPr/>
                    <a:lstStyle/>
                    <a:p>
                      <a:pPr marL="0" indent="0" algn="ctr" defTabSz="914400" rtl="0" eaLnBrk="1" fontAlgn="b" latinLnBrk="0" hangingPunct="1">
                        <a:buFontTx/>
                        <a:buNone/>
                      </a:pPr>
                      <a:r>
                        <a:rPr lang="en-US" sz="28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同屋</a:t>
                      </a:r>
                      <a:endParaRPr 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fontAlgn="b">
                        <a:buFontTx/>
                        <a:buNone/>
                      </a:pPr>
                      <a:r>
                        <a:rPr kumimoji="0" lang="en-US" sz="28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tóng wū </a:t>
                      </a:r>
                      <a:endParaRPr lang="vi-VN" sz="2800" b="0" i="1" u="none" strike="noStrike">
                        <a:solidFill>
                          <a:schemeClr val="tx1">
                            <a:lumMod val="50000"/>
                          </a:schemeClr>
                        </a:solidFill>
                        <a:effectLst/>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800">
                          <a:latin typeface="Times New Roman" panose="02020603050405020304" pitchFamily="18" charset="0"/>
                          <a:ea typeface="宋体" panose="02010600030101010101" pitchFamily="2" charset="-122"/>
                          <a:cs typeface="Times New Roman" panose="02020603050405020304" pitchFamily="18" charset="0"/>
                        </a:rPr>
                        <a:t>名</a:t>
                      </a:r>
                      <a:endParaRPr lang="en-US" sz="28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dirty="0" err="1">
                          <a:solidFill>
                            <a:schemeClr val="dk1"/>
                          </a:solidFill>
                          <a:latin typeface="Times New Roman" panose="02020603050405020304" pitchFamily="18" charset="0"/>
                          <a:ea typeface="+mn-ea"/>
                          <a:cs typeface="Times New Roman" panose="02020603050405020304" pitchFamily="18" charset="0"/>
                        </a:rPr>
                        <a:t>Bạn</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r>
                        <a:rPr lang="en-US" sz="2800" i="0" kern="1200" dirty="0" err="1">
                          <a:solidFill>
                            <a:schemeClr val="dk1"/>
                          </a:solidFill>
                          <a:latin typeface="Times New Roman" panose="02020603050405020304" pitchFamily="18" charset="0"/>
                          <a:ea typeface="+mn-ea"/>
                          <a:cs typeface="Times New Roman" panose="02020603050405020304" pitchFamily="18" charset="0"/>
                        </a:rPr>
                        <a:t>cùng</a:t>
                      </a:r>
                      <a:r>
                        <a:rPr lang="en-US" sz="28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i="0" kern="1200" baseline="0" dirty="0" err="1">
                          <a:solidFill>
                            <a:schemeClr val="dk1"/>
                          </a:solidFill>
                          <a:latin typeface="Times New Roman" panose="02020603050405020304" pitchFamily="18" charset="0"/>
                          <a:ea typeface="+mn-ea"/>
                          <a:cs typeface="Times New Roman" panose="02020603050405020304" pitchFamily="18" charset="0"/>
                        </a:rPr>
                        <a:t>phòng</a:t>
                      </a:r>
                      <a:endParaRPr lang="en-US" sz="28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bl>
          </a:graphicData>
        </a:graphic>
      </p:graphicFrame>
      <p:pic>
        <p:nvPicPr>
          <p:cNvPr id="1026" name="Picture 2" descr="同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251" y="1517421"/>
            <a:ext cx="2165122" cy="20204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屋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09251" y="4110552"/>
            <a:ext cx="2092777" cy="20927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2902486442"/>
              </p:ext>
            </p:extLst>
          </p:nvPr>
        </p:nvGraphicFramePr>
        <p:xfrm>
          <a:off x="5842764" y="2272227"/>
          <a:ext cx="6475905" cy="1397118"/>
        </p:xfrm>
        <a:graphic>
          <a:graphicData uri="http://schemas.openxmlformats.org/drawingml/2006/table">
            <a:tbl>
              <a:tblPr>
                <a:tableStyleId>{2D5ABB26-0587-4C30-8999-92F81FD0307C}</a:tableStyleId>
              </a:tblPr>
              <a:tblGrid>
                <a:gridCol w="6475905">
                  <a:extLst>
                    <a:ext uri="{9D8B030D-6E8A-4147-A177-3AD203B41FA5}">
                      <a16:colId xmlns:a16="http://schemas.microsoft.com/office/drawing/2014/main" val="1150184376"/>
                    </a:ext>
                  </a:extLst>
                </a:gridCol>
              </a:tblGrid>
              <a:tr h="1397118">
                <a:tc>
                  <a:txBody>
                    <a:bodyPr/>
                    <a:lstStyle/>
                    <a:p>
                      <a:pPr algn="ctr"/>
                      <a:r>
                        <a:rPr lang="en-US" altLang="zh-CN" sz="2800" kern="1200" dirty="0">
                          <a:solidFill>
                            <a:srgbClr val="00B050"/>
                          </a:solidFill>
                          <a:latin typeface="KaiTi" panose="02010609060101010101" pitchFamily="49" charset="-122"/>
                          <a:ea typeface="KaiTi" panose="02010609060101010101" pitchFamily="49" charset="-122"/>
                          <a:cs typeface="+mn-cs"/>
                        </a:rPr>
                        <a:t>1.</a:t>
                      </a:r>
                      <a:r>
                        <a:rPr lang="zh-CN" altLang="en-US" sz="2800" kern="1200" dirty="0">
                          <a:solidFill>
                            <a:srgbClr val="00B050"/>
                          </a:solidFill>
                          <a:latin typeface="KaiTi" panose="02010609060101010101" pitchFamily="49" charset="-122"/>
                          <a:ea typeface="KaiTi" panose="02010609060101010101" pitchFamily="49" charset="-122"/>
                          <a:cs typeface="+mn-cs"/>
                        </a:rPr>
                        <a:t>我的同屋是美国人。</a:t>
                      </a:r>
                      <a:br>
                        <a:rPr lang="en-US" altLang="zh-CN" sz="2800" kern="120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tóng</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wū</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shì</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ěiguó</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rén</a:t>
                      </a:r>
                      <a:endParaRPr lang="en-US" altLang="zh-CN" sz="2800" kern="1200" dirty="0">
                        <a:solidFill>
                          <a:srgbClr val="00B050"/>
                        </a:solidFill>
                        <a:latin typeface="KaiTi" panose="02010609060101010101" pitchFamily="49" charset="-122"/>
                        <a:ea typeface="KaiTi" panose="02010609060101010101" pitchFamily="49" charset="-122"/>
                        <a:cs typeface="+mn-cs"/>
                      </a:endParaRPr>
                    </a:p>
                  </a:txBody>
                  <a:tcPr/>
                </a:tc>
                <a:extLst>
                  <a:ext uri="{0D108BD9-81ED-4DB2-BD59-A6C34878D82A}">
                    <a16:rowId xmlns:a16="http://schemas.microsoft.com/office/drawing/2014/main" val="1073182113"/>
                  </a:ext>
                </a:extLst>
              </a:tr>
            </a:tbl>
          </a:graphicData>
        </a:graphic>
      </p:graphicFrame>
      <p:sp>
        <p:nvSpPr>
          <p:cNvPr id="1029" name="Chiết tự 1029"/>
          <p:cNvSpPr txBox="1"/>
          <p:nvPr/>
        </p:nvSpPr>
        <p:spPr>
          <a:xfrm>
            <a:off x="2700000" y="3780000"/>
            <a:ext cx="4400000" cy="2635160"/>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同 = </a:t>
            </a:r>
            <a:r>
              <a:rPr lang="zh-CN" sz="3600" dirty="0">
                <a:latin typeface="KaiTi" panose="02010609060101010101" pitchFamily="49" charset="-122"/>
                <a:ea typeface="KaiTi" panose="02010609060101010101" pitchFamily="49" charset="-122"/>
              </a:rPr>
              <a:t>冂</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一</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口</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口 (miệng): cùng một tiếng nói</a:t>
            </a:r>
          </a:p>
          <a:p>
            <a:pPr/>
            <a:r>
              <a:rPr lang="zh-CN" sz="3600" dirty="0">
                <a:latin typeface="KaiTi" panose="02010609060101010101" pitchFamily="49" charset="-122"/>
                <a:ea typeface="KaiTi" panose="02010609060101010101" pitchFamily="49" charset="-122"/>
              </a:rPr>
              <a:t>屋 = </a:t>
            </a:r>
            <a:r>
              <a:rPr lang="zh-CN" sz="3600" dirty="0">
                <a:solidFill>
                  <a:srgbClr val="C00000"/>
                </a:solidFill>
                <a:latin typeface="KaiTi" panose="02010609060101010101" pitchFamily="49" charset="-122"/>
                <a:ea typeface="KaiTi" panose="02010609060101010101" pitchFamily="49" charset="-122"/>
              </a:rPr>
              <a:t>尸</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至</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尸 (mái) + 至 (đến)</a:t>
            </a:r>
          </a:p>
        </p:txBody>
      </p:sp>
      <p:sp>
        <p:nvSpPr>
          <p:cNvPr id="1030" name="Nhớ lại 1030"/>
          <p:cNvSpPr txBox="1"/>
          <p:nvPr/>
        </p:nvSpPr>
        <p:spPr>
          <a:xfrm>
            <a:off x="7200000" y="3780000"/>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同学</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tóngxué</a:t>
            </a:r>
            <a:r>
              <a:rPr lang="vi-VN" sz="2400" dirty="0">
                <a:latin typeface="Times New Roman" panose="02020603050405020304" pitchFamily="18" charset="0"/>
                <a:ea typeface="KaiTi" panose="02010609060101010101" pitchFamily="49" charset="-122"/>
                <a:cs typeface="Times New Roman" panose="02020603050405020304" pitchFamily="18" charset="0"/>
              </a:rPr>
              <a:t> – bạn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同</a:t>
            </a:r>
          </a:p>
          <a:p>
            <a:pPr>
              <a:spcBef>
                <a:spcPts val="200"/>
              </a:spcBef>
            </a:pPr>
            <a:r>
              <a:rPr lang="zh-CN" sz="2800" dirty="0">
                <a:solidFill>
                  <a:srgbClr val="C00000"/>
                </a:solidFill>
                <a:latin typeface="KaiTi" panose="02010609060101010101" pitchFamily="49" charset="-122"/>
                <a:ea typeface="KaiTi" panose="02010609060101010101" pitchFamily="49" charset="-122"/>
              </a:rPr>
              <a:t>教室</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jiàoshì</a:t>
            </a:r>
            <a:r>
              <a:rPr lang="vi-VN" sz="2400" dirty="0">
                <a:latin typeface="Times New Roman" panose="02020603050405020304" pitchFamily="18" charset="0"/>
                <a:ea typeface="KaiTi" panose="02010609060101010101" pitchFamily="49" charset="-122"/>
                <a:cs typeface="Times New Roman" panose="02020603050405020304" pitchFamily="18" charset="0"/>
              </a:rPr>
              <a:t> – phòng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室 cũng có 至 như 屋</a:t>
            </a:r>
          </a:p>
        </p:txBody>
      </p:sp>
    </p:spTree>
    <p:extLst>
      <p:ext uri="{BB962C8B-B14F-4D97-AF65-F5344CB8AC3E}">
        <p14:creationId xmlns:p14="http://schemas.microsoft.com/office/powerpoint/2010/main" val="1104712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dissolve">
                                      <p:cBhvr>
                                        <p:cTn id="7" dur="500"/>
                                        <p:tgtEl>
                                          <p:spTgt spid="10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0"/>
                                        </p:tgtEl>
                                        <p:attrNameLst>
                                          <p:attrName>style.visibility</p:attrName>
                                        </p:attrNameLst>
                                      </p:cBhvr>
                                      <p:to>
                                        <p:strVal val="visible"/>
                                      </p:to>
                                    </p:set>
                                    <p:animEffect transition="in" filter="wipe(left)">
                                      <p:cBhvr>
                                        <p:cTn id="17"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01BE-8562-CD82-9CCE-DC1A65FB162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921E188-27D7-57B8-990D-677AA17C3E9E}"/>
              </a:ext>
            </a:extLst>
          </p:cNvPr>
          <p:cNvGraphicFramePr>
            <a:graphicFrameLocks noGrp="1"/>
          </p:cNvGraphicFramePr>
          <p:nvPr>
            <p:extLst>
              <p:ext uri="{D42A27DB-BD31-4B8C-83A1-F6EECF244321}">
                <p14:modId xmlns:p14="http://schemas.microsoft.com/office/powerpoint/2010/main" val="241902180"/>
              </p:ext>
            </p:extLst>
          </p:nvPr>
        </p:nvGraphicFramePr>
        <p:xfrm>
          <a:off x="409251" y="0"/>
          <a:ext cx="11373497" cy="1290513"/>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09762">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dirty="0" err="1">
                          <a:solidFill>
                            <a:srgbClr val="07443C"/>
                          </a:solidFill>
                          <a:effectLst/>
                          <a:latin typeface="Times New Roman" panose="02020603050405020304" pitchFamily="18" charset="0"/>
                          <a:ea typeface="+mn-ea"/>
                          <a:cs typeface="Times New Roman" panose="02020603050405020304" pitchFamily="18" charset="0"/>
                        </a:rPr>
                        <a:t>Phiên</a:t>
                      </a:r>
                      <a:r>
                        <a:rPr lang="en-US" sz="2800" b="1" kern="1200" dirty="0">
                          <a:solidFill>
                            <a:srgbClr val="07443C"/>
                          </a:solidFill>
                          <a:effectLst/>
                          <a:latin typeface="Times New Roman" panose="02020603050405020304" pitchFamily="18" charset="0"/>
                          <a:ea typeface="+mn-ea"/>
                          <a:cs typeface="Times New Roman" panose="02020603050405020304" pitchFamily="18" charset="0"/>
                        </a:rPr>
                        <a:t> </a:t>
                      </a:r>
                      <a:r>
                        <a:rPr lang="en-US" sz="2800" b="1" kern="1200" dirty="0" err="1">
                          <a:solidFill>
                            <a:srgbClr val="07443C"/>
                          </a:solidFill>
                          <a:effectLst/>
                          <a:latin typeface="Times New Roman" panose="02020603050405020304" pitchFamily="18" charset="0"/>
                          <a:ea typeface="+mn-ea"/>
                          <a:cs typeface="Times New Roman" panose="02020603050405020304" pitchFamily="18" charset="0"/>
                        </a:rPr>
                        <a:t>Âm</a:t>
                      </a:r>
                      <a:endParaRPr lang="en-US" sz="2800" b="1" kern="1200" dirty="0">
                        <a:solidFill>
                          <a:srgbClr val="07443C"/>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580751">
                <a:tc>
                  <a:txBody>
                    <a:bodyPr/>
                    <a:lstStyle/>
                    <a:p>
                      <a:pPr marL="0" indent="0" algn="ctr" defTabSz="914400" rtl="0" eaLnBrk="1" fontAlgn="b" latinLnBrk="0" hangingPunct="1">
                        <a:buFontTx/>
                        <a:buNone/>
                      </a:pPr>
                      <a:r>
                        <a:rPr lang="en-US" sz="28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在</a:t>
                      </a:r>
                      <a:endParaRPr 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8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zài</a:t>
                      </a:r>
                      <a:endParaRPr lang="en-US" sz="28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800">
                          <a:latin typeface="Times New Roman" panose="02020603050405020304" pitchFamily="18" charset="0"/>
                          <a:ea typeface="宋体" panose="02010600030101010101" pitchFamily="2" charset="-122"/>
                          <a:cs typeface="Times New Roman" panose="02020603050405020304" pitchFamily="18" charset="0"/>
                        </a:rPr>
                        <a:t>介</a:t>
                      </a:r>
                      <a:endParaRPr lang="en-US" sz="28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dirty="0" err="1">
                          <a:solidFill>
                            <a:schemeClr val="dk1"/>
                          </a:solidFill>
                          <a:latin typeface="Times New Roman" panose="02020603050405020304" pitchFamily="18" charset="0"/>
                          <a:ea typeface="+mn-ea"/>
                          <a:cs typeface="Times New Roman" panose="02020603050405020304" pitchFamily="18" charset="0"/>
                        </a:rPr>
                        <a:t>Ở</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r>
                        <a:rPr lang="en-US" sz="2800" i="0" kern="1200" dirty="0" err="1">
                          <a:solidFill>
                            <a:schemeClr val="dk1"/>
                          </a:solidFill>
                          <a:latin typeface="Times New Roman" panose="02020603050405020304" pitchFamily="18" charset="0"/>
                          <a:ea typeface="+mn-ea"/>
                          <a:cs typeface="Times New Roman" panose="02020603050405020304" pitchFamily="18" charset="0"/>
                        </a:rPr>
                        <a:t>tại</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bl>
          </a:graphicData>
        </a:graphic>
      </p:graphicFrame>
      <p:pic>
        <p:nvPicPr>
          <p:cNvPr id="1030" name="Picture 6" descr="在的笔顺">
            <a:extLst>
              <a:ext uri="{FF2B5EF4-FFF2-40B4-BE49-F238E27FC236}">
                <a16:creationId xmlns:a16="http://schemas.microsoft.com/office/drawing/2014/main" id="{7536681E-8032-E282-AFCE-79EF124CE53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251" y="1510287"/>
            <a:ext cx="1648149" cy="1648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B26BAE7-916F-3C9A-1D00-842F380DD094}"/>
              </a:ext>
            </a:extLst>
          </p:cNvPr>
          <p:cNvGraphicFramePr>
            <a:graphicFrameLocks noGrp="1"/>
          </p:cNvGraphicFramePr>
          <p:nvPr>
            <p:extLst>
              <p:ext uri="{D42A27DB-BD31-4B8C-83A1-F6EECF244321}">
                <p14:modId xmlns:p14="http://schemas.microsoft.com/office/powerpoint/2010/main" val="3294407079"/>
              </p:ext>
            </p:extLst>
          </p:nvPr>
        </p:nvGraphicFramePr>
        <p:xfrm>
          <a:off x="5439993" y="1761319"/>
          <a:ext cx="6475905" cy="1397118"/>
        </p:xfrm>
        <a:graphic>
          <a:graphicData uri="http://schemas.openxmlformats.org/drawingml/2006/table">
            <a:tbl>
              <a:tblPr>
                <a:tableStyleId>{2D5ABB26-0587-4C30-8999-92F81FD0307C}</a:tableStyleId>
              </a:tblPr>
              <a:tblGrid>
                <a:gridCol w="6475905">
                  <a:extLst>
                    <a:ext uri="{9D8B030D-6E8A-4147-A177-3AD203B41FA5}">
                      <a16:colId xmlns:a16="http://schemas.microsoft.com/office/drawing/2014/main" val="1150184376"/>
                    </a:ext>
                  </a:extLst>
                </a:gridCol>
              </a:tblGrid>
              <a:tr h="1397118">
                <a:tc>
                  <a:txBody>
                    <a:bodyPr/>
                    <a:lstStyle/>
                    <a:p>
                      <a:pPr algn="ctr"/>
                      <a:r>
                        <a:rPr lang="en-US" altLang="zh-CN" sz="2800" kern="1200" dirty="0">
                          <a:solidFill>
                            <a:srgbClr val="00B050"/>
                          </a:solidFill>
                          <a:latin typeface="KaiTi" panose="02010609060101010101" pitchFamily="49" charset="-122"/>
                          <a:ea typeface="KaiTi" panose="02010609060101010101" pitchFamily="49" charset="-122"/>
                          <a:cs typeface="+mn-cs"/>
                        </a:rPr>
                        <a:t>2.</a:t>
                      </a:r>
                      <a:r>
                        <a:rPr lang="zh-CN" altLang="en-US" sz="2800" kern="1200" dirty="0">
                          <a:solidFill>
                            <a:srgbClr val="00B050"/>
                          </a:solidFill>
                          <a:latin typeface="KaiTi" panose="02010609060101010101" pitchFamily="49" charset="-122"/>
                          <a:ea typeface="KaiTi" panose="02010609060101010101" pitchFamily="49" charset="-122"/>
                          <a:cs typeface="+mn-cs"/>
                        </a:rPr>
                        <a:t>我在宿舍吃饭。</a:t>
                      </a:r>
                      <a:br>
                        <a:rPr lang="en-US" altLang="zh-CN" sz="2800" kern="1200" dirty="0">
                          <a:solidFill>
                            <a:srgbClr val="00B050"/>
                          </a:solidFill>
                          <a:latin typeface="KaiTi" panose="02010609060101010101" pitchFamily="49" charset="-122"/>
                          <a:ea typeface="KaiTi" panose="02010609060101010101" pitchFamily="49" charset="-122"/>
                          <a:cs typeface="+mn-cs"/>
                        </a:rPr>
                      </a:br>
                      <a:r>
                        <a:rPr lang="en-US" sz="2000" b="0" i="1" dirty="0" err="1">
                          <a:solidFill>
                            <a:schemeClr val="tx1"/>
                          </a:solidFill>
                          <a:effectLst/>
                          <a:latin typeface="Times New Roman" panose="02020603050405020304" pitchFamily="18" charset="0"/>
                          <a:cs typeface="Times New Roman" panose="02020603050405020304" pitchFamily="18" charset="0"/>
                        </a:rPr>
                        <a:t>Wǒ</a:t>
                      </a:r>
                      <a:r>
                        <a:rPr lang="en-US" sz="2000" b="0" i="1" dirty="0">
                          <a:solidFill>
                            <a:schemeClr val="tx1"/>
                          </a:solidFill>
                          <a:effectLst/>
                          <a:latin typeface="Times New Roman" panose="02020603050405020304" pitchFamily="18" charset="0"/>
                          <a:cs typeface="Times New Roman" panose="02020603050405020304" pitchFamily="18" charset="0"/>
                        </a:rPr>
                        <a:t> </a:t>
                      </a:r>
                      <a:r>
                        <a:rPr lang="en-US" sz="2000" b="0" i="1" dirty="0" err="1">
                          <a:solidFill>
                            <a:schemeClr val="tx1"/>
                          </a:solidFill>
                          <a:effectLst/>
                          <a:latin typeface="Times New Roman" panose="02020603050405020304" pitchFamily="18" charset="0"/>
                          <a:cs typeface="Times New Roman" panose="02020603050405020304" pitchFamily="18" charset="0"/>
                        </a:rPr>
                        <a:t>zài</a:t>
                      </a:r>
                      <a:r>
                        <a:rPr lang="en-US" sz="2000" b="0" i="1" dirty="0">
                          <a:solidFill>
                            <a:schemeClr val="tx1"/>
                          </a:solidFill>
                          <a:effectLst/>
                          <a:latin typeface="Times New Roman" panose="02020603050405020304" pitchFamily="18" charset="0"/>
                          <a:cs typeface="Times New Roman" panose="02020603050405020304" pitchFamily="18" charset="0"/>
                        </a:rPr>
                        <a:t> </a:t>
                      </a:r>
                      <a:r>
                        <a:rPr lang="en-US" sz="2000" b="0" i="1" dirty="0" err="1">
                          <a:solidFill>
                            <a:schemeClr val="tx1"/>
                          </a:solidFill>
                          <a:effectLst/>
                          <a:latin typeface="Times New Roman" panose="02020603050405020304" pitchFamily="18" charset="0"/>
                          <a:cs typeface="Times New Roman" panose="02020603050405020304" pitchFamily="18" charset="0"/>
                        </a:rPr>
                        <a:t>sùshè</a:t>
                      </a:r>
                      <a:r>
                        <a:rPr lang="en-US" sz="2000" b="0" i="1" dirty="0">
                          <a:solidFill>
                            <a:schemeClr val="tx1"/>
                          </a:solidFill>
                          <a:effectLst/>
                          <a:latin typeface="Times New Roman" panose="02020603050405020304" pitchFamily="18" charset="0"/>
                          <a:cs typeface="Times New Roman" panose="02020603050405020304" pitchFamily="18" charset="0"/>
                        </a:rPr>
                        <a:t> </a:t>
                      </a:r>
                      <a:r>
                        <a:rPr lang="en-US" sz="2000" b="0" i="1" dirty="0" err="1">
                          <a:solidFill>
                            <a:schemeClr val="tx1"/>
                          </a:solidFill>
                          <a:effectLst/>
                          <a:latin typeface="Times New Roman" panose="02020603050405020304" pitchFamily="18" charset="0"/>
                          <a:cs typeface="Times New Roman" panose="02020603050405020304" pitchFamily="18" charset="0"/>
                        </a:rPr>
                        <a:t>chīfàn</a:t>
                      </a:r>
                      <a:r>
                        <a:rPr lang="en-US" sz="2000" b="0" i="1" dirty="0">
                          <a:solidFill>
                            <a:schemeClr val="tx1"/>
                          </a:solidFill>
                          <a:effectLst/>
                          <a:latin typeface="Times New Roman" panose="02020603050405020304" pitchFamily="18" charset="0"/>
                          <a:cs typeface="Times New Roman" panose="02020603050405020304" pitchFamily="18" charset="0"/>
                        </a:rPr>
                        <a:t>.</a:t>
                      </a:r>
                      <a:endParaRPr lang="en-US" sz="2000" b="0" i="1" kern="1200" dirty="0">
                        <a:solidFill>
                          <a:schemeClr val="tx1"/>
                        </a:solidFill>
                        <a:latin typeface="Times New Roman" panose="02020603050405020304" pitchFamily="18" charset="0"/>
                        <a:ea typeface="KaiTi" panose="02010609060101010101" pitchFamily="49" charset="-122"/>
                        <a:cs typeface="Times New Roman" panose="02020603050405020304" pitchFamily="18" charset="0"/>
                      </a:endParaRPr>
                    </a:p>
                  </a:txBody>
                  <a:tcPr/>
                </a:tc>
                <a:extLst>
                  <a:ext uri="{0D108BD9-81ED-4DB2-BD59-A6C34878D82A}">
                    <a16:rowId xmlns:a16="http://schemas.microsoft.com/office/drawing/2014/main" val="1073182113"/>
                  </a:ext>
                </a:extLst>
              </a:tr>
            </a:tbl>
          </a:graphicData>
        </a:graphic>
      </p:graphicFrame>
      <p:sp>
        <p:nvSpPr>
          <p:cNvPr id="1031" name="Chiết tự 1031"/>
          <p:cNvSpPr txBox="1"/>
          <p:nvPr/>
        </p:nvSpPr>
        <p:spPr>
          <a:xfrm>
            <a:off x="2700000" y="3240000"/>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在 = </a:t>
            </a:r>
            <a:r>
              <a:rPr lang="zh-CN" sz="3600" dirty="0">
                <a:latin typeface="KaiTi" panose="02010609060101010101" pitchFamily="49" charset="-122"/>
                <a:ea typeface="KaiTi" panose="02010609060101010101" pitchFamily="49" charset="-122"/>
              </a:rPr>
              <a:t>才</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土</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Thổ 土 (đất): ở trên đất → ở, tại</a:t>
            </a:r>
          </a:p>
        </p:txBody>
      </p:sp>
      <p:sp>
        <p:nvSpPr>
          <p:cNvPr id="1032" name="Nhớ lại 1032"/>
          <p:cNvSpPr txBox="1"/>
          <p:nvPr/>
        </p:nvSpPr>
        <p:spPr>
          <a:xfrm>
            <a:off x="7200000" y="3240000"/>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在</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zài</a:t>
            </a:r>
            <a:r>
              <a:rPr lang="vi-VN" sz="2400" dirty="0">
                <a:latin typeface="Times New Roman" panose="02020603050405020304" pitchFamily="18" charset="0"/>
                <a:ea typeface="KaiTi" panose="02010609060101010101" pitchFamily="49" charset="-122"/>
                <a:cs typeface="Times New Roman" panose="02020603050405020304" pitchFamily="18" charset="0"/>
              </a:rPr>
              <a:t> – ở (động từ)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nay là giới từ</a:t>
            </a:r>
          </a:p>
          <a:p>
            <a:pPr>
              <a:spcBef>
                <a:spcPts val="200"/>
              </a:spcBef>
            </a:pPr>
            <a:r>
              <a:rPr lang="zh-CN" sz="2800" dirty="0">
                <a:solidFill>
                  <a:srgbClr val="C00000"/>
                </a:solidFill>
                <a:latin typeface="KaiTi" panose="02010609060101010101" pitchFamily="49" charset="-122"/>
                <a:ea typeface="KaiTi" panose="02010609060101010101" pitchFamily="49" charset="-122"/>
              </a:rPr>
              <a:t>地方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dìfang</a:t>
            </a:r>
            <a:r>
              <a:rPr lang="vi-VN" sz="2400" dirty="0">
                <a:latin typeface="Times New Roman" panose="02020603050405020304" pitchFamily="18" charset="0"/>
                <a:ea typeface="KaiTi" panose="02010609060101010101" pitchFamily="49" charset="-122"/>
                <a:cs typeface="Times New Roman" panose="02020603050405020304" pitchFamily="18" charset="0"/>
              </a:rPr>
              <a:t> – nơi chốn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土</a:t>
            </a:r>
          </a:p>
        </p:txBody>
      </p:sp>
    </p:spTree>
    <p:extLst>
      <p:ext uri="{BB962C8B-B14F-4D97-AF65-F5344CB8AC3E}">
        <p14:creationId xmlns:p14="http://schemas.microsoft.com/office/powerpoint/2010/main" val="16556496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31"/>
                                        </p:tgtEl>
                                        <p:attrNameLst>
                                          <p:attrName>style.visibility</p:attrName>
                                        </p:attrNameLst>
                                      </p:cBhvr>
                                      <p:to>
                                        <p:strVal val="visible"/>
                                      </p:to>
                                    </p:set>
                                    <p:animEffect transition="in" filter="dissolve">
                                      <p:cBhvr>
                                        <p:cTn id="7" dur="500"/>
                                        <p:tgtEl>
                                          <p:spTgt spid="10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2"/>
                                        </p:tgtEl>
                                        <p:attrNameLst>
                                          <p:attrName>style.visibility</p:attrName>
                                        </p:attrNameLst>
                                      </p:cBhvr>
                                      <p:to>
                                        <p:strVal val="visible"/>
                                      </p:to>
                                    </p:set>
                                    <p:animEffect transition="in" filter="wipe(left)">
                                      <p:cBhvr>
                                        <p:cTn id="1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AD1E-B982-C577-4554-38C1014E67F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97AEDE4-CE05-655F-91B3-6D334E048847}"/>
              </a:ext>
            </a:extLst>
          </p:cNvPr>
          <p:cNvGraphicFramePr>
            <a:graphicFrameLocks noGrp="1"/>
          </p:cNvGraphicFramePr>
          <p:nvPr>
            <p:extLst>
              <p:ext uri="{D42A27DB-BD31-4B8C-83A1-F6EECF244321}">
                <p14:modId xmlns:p14="http://schemas.microsoft.com/office/powerpoint/2010/main" val="3842933382"/>
              </p:ext>
            </p:extLst>
          </p:nvPr>
        </p:nvGraphicFramePr>
        <p:xfrm>
          <a:off x="874293" y="809827"/>
          <a:ext cx="10443414" cy="1452499"/>
        </p:xfrm>
        <a:graphic>
          <a:graphicData uri="http://schemas.openxmlformats.org/drawingml/2006/table">
            <a:tbl>
              <a:tblPr>
                <a:tableStyleId>{2D5ABB26-0587-4C30-8999-92F81FD0307C}</a:tableStyleId>
              </a:tblPr>
              <a:tblGrid>
                <a:gridCol w="10443414">
                  <a:extLst>
                    <a:ext uri="{9D8B030D-6E8A-4147-A177-3AD203B41FA5}">
                      <a16:colId xmlns:a16="http://schemas.microsoft.com/office/drawing/2014/main" val="1061202752"/>
                    </a:ext>
                  </a:extLst>
                </a:gridCol>
              </a:tblGrid>
              <a:tr h="1448090">
                <a:tc>
                  <a:txBody>
                    <a:bodyPr/>
                    <a:lstStyle/>
                    <a:p>
                      <a:pPr>
                        <a:lnSpc>
                          <a:spcPct val="150000"/>
                        </a:lnSpc>
                      </a:pPr>
                      <a:r>
                        <a:rPr lang="zh-CN" altLang="en-US" sz="2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320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在</a:t>
                      </a:r>
                      <a:r>
                        <a:rPr lang="zh-CN" alt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zh-CN" altLang="en-US"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là</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giới</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từ</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p>
                    <a:p>
                      <a:pPr>
                        <a:lnSpc>
                          <a:spcPct val="150000"/>
                        </a:lnSpc>
                      </a:pP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3200" baseline="0" dirty="0">
                          <a:solidFill>
                            <a:schemeClr val="tx1">
                              <a:lumMod val="85000"/>
                              <a:lumOff val="15000"/>
                            </a:schemeClr>
                          </a:solidFill>
                          <a:latin typeface="KaiTi" panose="02010609060101010101" pitchFamily="49" charset="-122"/>
                          <a:ea typeface="KaiTi" panose="02010609060101010101" pitchFamily="49" charset="-122"/>
                          <a:cs typeface="Times New Roman" panose="02020603050405020304" pitchFamily="18" charset="0"/>
                        </a:rPr>
                        <a:t>在</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địa</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điểm</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baseline="0" dirty="0" err="1">
                          <a:solidFill>
                            <a:schemeClr val="tx1"/>
                          </a:solidFill>
                          <a:latin typeface="Times New Roman" panose="02020603050405020304" pitchFamily="18" charset="0"/>
                          <a:cs typeface="Times New Roman" panose="02020603050405020304" pitchFamily="18" charset="0"/>
                        </a:rPr>
                        <a:t>đứng</a:t>
                      </a:r>
                      <a:r>
                        <a:rPr lang="en-US" altLang="zh-CN" sz="2800" b="1" u="sng" baseline="0" dirty="0">
                          <a:solidFill>
                            <a:schemeClr val="tx1"/>
                          </a:solidFill>
                          <a:latin typeface="Times New Roman" panose="02020603050405020304" pitchFamily="18" charset="0"/>
                          <a:cs typeface="Times New Roman" panose="02020603050405020304" pitchFamily="18" charset="0"/>
                        </a:rPr>
                        <a:t> </a:t>
                      </a:r>
                      <a:r>
                        <a:rPr lang="en-US" altLang="zh-CN" sz="2800" b="1" u="sng" baseline="0" dirty="0" err="1">
                          <a:solidFill>
                            <a:schemeClr val="tx1"/>
                          </a:solidFill>
                          <a:latin typeface="Times New Roman" panose="02020603050405020304" pitchFamily="18" charset="0"/>
                          <a:cs typeface="Times New Roman" panose="02020603050405020304" pitchFamily="18" charset="0"/>
                        </a:rPr>
                        <a:t>trước</a:t>
                      </a:r>
                      <a:r>
                        <a:rPr lang="en-US" altLang="zh-CN" sz="2800" b="1" u="sng" baseline="0" dirty="0">
                          <a:solidFill>
                            <a:schemeClr val="tx1"/>
                          </a:solidFill>
                          <a:latin typeface="Times New Roman" panose="02020603050405020304" pitchFamily="18" charset="0"/>
                          <a:cs typeface="Times New Roman" panose="02020603050405020304" pitchFamily="18" charset="0"/>
                        </a:rPr>
                        <a:t> </a:t>
                      </a:r>
                      <a:r>
                        <a:rPr lang="en-US" altLang="zh-CN" sz="2800" b="1" u="sng" baseline="0" dirty="0" err="1">
                          <a:solidFill>
                            <a:schemeClr val="tx1"/>
                          </a:solidFill>
                          <a:latin typeface="Times New Roman" panose="02020603050405020304" pitchFamily="18" charset="0"/>
                          <a:cs typeface="Times New Roman" panose="02020603050405020304" pitchFamily="18" charset="0"/>
                        </a:rPr>
                        <a:t>động</a:t>
                      </a:r>
                      <a:r>
                        <a:rPr lang="en-US" altLang="zh-CN" sz="2800" b="1" u="sng" baseline="0" dirty="0">
                          <a:solidFill>
                            <a:schemeClr val="tx1"/>
                          </a:solidFill>
                          <a:latin typeface="Times New Roman" panose="02020603050405020304" pitchFamily="18" charset="0"/>
                          <a:cs typeface="Times New Roman" panose="02020603050405020304" pitchFamily="18" charset="0"/>
                        </a:rPr>
                        <a:t> </a:t>
                      </a:r>
                      <a:r>
                        <a:rPr lang="en-US" altLang="zh-CN" sz="2800" b="1" u="sng" baseline="0" dirty="0" err="1">
                          <a:solidFill>
                            <a:schemeClr val="tx1"/>
                          </a:solidFill>
                          <a:latin typeface="Times New Roman" panose="02020603050405020304" pitchFamily="18" charset="0"/>
                          <a:cs typeface="Times New Roman" panose="02020603050405020304" pitchFamily="18" charset="0"/>
                        </a:rPr>
                        <a:t>từ</a:t>
                      </a:r>
                      <a:r>
                        <a:rPr lang="en-US" altLang="zh-CN" sz="2800" b="1" u="sng" baseline="0" dirty="0">
                          <a:solidFill>
                            <a:schemeClr val="tx1"/>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làm</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trạng</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ngữ</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chỉ</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địa</a:t>
                      </a:r>
                      <a:r>
                        <a:rPr lang="en-US" altLang="zh-CN" sz="2800" baseline="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dirty="0" err="1">
                          <a:solidFill>
                            <a:schemeClr val="tx1">
                              <a:lumMod val="85000"/>
                              <a:lumOff val="15000"/>
                            </a:schemeClr>
                          </a:solidFill>
                          <a:latin typeface="Times New Roman" panose="02020603050405020304" pitchFamily="18" charset="0"/>
                          <a:cs typeface="Times New Roman" panose="02020603050405020304" pitchFamily="18" charset="0"/>
                        </a:rPr>
                        <a:t>điểm</a:t>
                      </a:r>
                      <a:endParaRPr lang="en-US" sz="2800" dirty="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8424746"/>
                  </a:ext>
                </a:extLst>
              </a:tr>
            </a:tbl>
          </a:graphicData>
        </a:graphic>
      </p:graphicFrame>
      <p:sp>
        <p:nvSpPr>
          <p:cNvPr id="2" name="TextBox 1">
            <a:extLst>
              <a:ext uri="{FF2B5EF4-FFF2-40B4-BE49-F238E27FC236}">
                <a16:creationId xmlns:a16="http://schemas.microsoft.com/office/drawing/2014/main" id="{9F632745-57F7-BC16-FF35-2B3C0D11CE50}"/>
              </a:ext>
            </a:extLst>
          </p:cNvPr>
          <p:cNvSpPr txBox="1"/>
          <p:nvPr/>
        </p:nvSpPr>
        <p:spPr>
          <a:xfrm>
            <a:off x="9386424" y="22213"/>
            <a:ext cx="2805576" cy="523220"/>
          </a:xfrm>
          <a:prstGeom prst="rect">
            <a:avLst/>
          </a:prstGeom>
          <a:solidFill>
            <a:srgbClr val="FFC000"/>
          </a:solidFill>
        </p:spPr>
        <p:txBody>
          <a:bodyPr wrap="none" rtlCol="0">
            <a:spAutoFit/>
          </a:bodyPr>
          <a:lstStyle/>
          <a:p>
            <a:r>
              <a:rPr lang="en-VN" sz="2800" dirty="0">
                <a:latin typeface="Times New Roman" panose="02020603050405020304" pitchFamily="18" charset="0"/>
                <a:cs typeface="Times New Roman" panose="02020603050405020304" pitchFamily="18" charset="0"/>
              </a:rPr>
              <a:t>Chú thích bổ sung</a:t>
            </a:r>
          </a:p>
        </p:txBody>
      </p:sp>
      <p:graphicFrame>
        <p:nvGraphicFramePr>
          <p:cNvPr id="9" name="Table 8">
            <a:extLst>
              <a:ext uri="{FF2B5EF4-FFF2-40B4-BE49-F238E27FC236}">
                <a16:creationId xmlns:a16="http://schemas.microsoft.com/office/drawing/2014/main" id="{469162B7-1E9B-A6FF-2463-52C0950B6173}"/>
              </a:ext>
            </a:extLst>
          </p:cNvPr>
          <p:cNvGraphicFramePr>
            <a:graphicFrameLocks noGrp="1"/>
          </p:cNvGraphicFramePr>
          <p:nvPr/>
        </p:nvGraphicFramePr>
        <p:xfrm>
          <a:off x="818144" y="2743195"/>
          <a:ext cx="10443414" cy="3400930"/>
        </p:xfrm>
        <a:graphic>
          <a:graphicData uri="http://schemas.openxmlformats.org/drawingml/2006/table">
            <a:tbl>
              <a:tblPr firstRow="1" bandRow="1">
                <a:tableStyleId>{5940675A-B579-460E-94D1-54222C63F5DA}</a:tableStyleId>
              </a:tblPr>
              <a:tblGrid>
                <a:gridCol w="1740569">
                  <a:extLst>
                    <a:ext uri="{9D8B030D-6E8A-4147-A177-3AD203B41FA5}">
                      <a16:colId xmlns:a16="http://schemas.microsoft.com/office/drawing/2014/main" val="1112474119"/>
                    </a:ext>
                  </a:extLst>
                </a:gridCol>
                <a:gridCol w="1740569">
                  <a:extLst>
                    <a:ext uri="{9D8B030D-6E8A-4147-A177-3AD203B41FA5}">
                      <a16:colId xmlns:a16="http://schemas.microsoft.com/office/drawing/2014/main" val="2845596332"/>
                    </a:ext>
                  </a:extLst>
                </a:gridCol>
                <a:gridCol w="1740569">
                  <a:extLst>
                    <a:ext uri="{9D8B030D-6E8A-4147-A177-3AD203B41FA5}">
                      <a16:colId xmlns:a16="http://schemas.microsoft.com/office/drawing/2014/main" val="4084275189"/>
                    </a:ext>
                  </a:extLst>
                </a:gridCol>
                <a:gridCol w="1740569">
                  <a:extLst>
                    <a:ext uri="{9D8B030D-6E8A-4147-A177-3AD203B41FA5}">
                      <a16:colId xmlns:a16="http://schemas.microsoft.com/office/drawing/2014/main" val="1373215386"/>
                    </a:ext>
                  </a:extLst>
                </a:gridCol>
                <a:gridCol w="1740569">
                  <a:extLst>
                    <a:ext uri="{9D8B030D-6E8A-4147-A177-3AD203B41FA5}">
                      <a16:colId xmlns:a16="http://schemas.microsoft.com/office/drawing/2014/main" val="3056735342"/>
                    </a:ext>
                  </a:extLst>
                </a:gridCol>
                <a:gridCol w="1740569">
                  <a:extLst>
                    <a:ext uri="{9D8B030D-6E8A-4147-A177-3AD203B41FA5}">
                      <a16:colId xmlns:a16="http://schemas.microsoft.com/office/drawing/2014/main" val="394728502"/>
                    </a:ext>
                  </a:extLst>
                </a:gridCol>
              </a:tblGrid>
              <a:tr h="680186">
                <a:tc rowSpan="2">
                  <a:txBody>
                    <a:bodyPr/>
                    <a:lstStyle/>
                    <a:p>
                      <a:pPr algn="ctr"/>
                      <a:r>
                        <a:rPr lang="en-US" sz="3000" b="1" dirty="0">
                          <a:latin typeface="KaiTi" panose="02010609060101010101" pitchFamily="49" charset="-122"/>
                          <a:ea typeface="KaiTi" panose="02010609060101010101" pitchFamily="49" charset="-122"/>
                        </a:rPr>
                        <a:t>S</a:t>
                      </a:r>
                    </a:p>
                  </a:txBody>
                  <a:tcPr anchor="ctr"/>
                </a:tc>
                <a:tc gridSpan="5">
                  <a:txBody>
                    <a:bodyPr/>
                    <a:lstStyle/>
                    <a:p>
                      <a:pPr algn="ctr"/>
                      <a:r>
                        <a:rPr lang="en-US" sz="3000" b="1" dirty="0">
                          <a:latin typeface="KaiTi" panose="02010609060101010101" pitchFamily="49" charset="-122"/>
                          <a:ea typeface="KaiTi" panose="02010609060101010101" pitchFamily="49" charset="-122"/>
                        </a:rPr>
                        <a:t>P</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26425118"/>
                  </a:ext>
                </a:extLst>
              </a:tr>
              <a:tr h="680186">
                <a:tc vMerge="1">
                  <a:txBody>
                    <a:bodyPr/>
                    <a:lstStyle/>
                    <a:p>
                      <a:endParaRPr lang="en-US"/>
                    </a:p>
                  </a:txBody>
                  <a:tcPr/>
                </a:tc>
                <a:tc>
                  <a:txBody>
                    <a:bodyPr/>
                    <a:lstStyle/>
                    <a:p>
                      <a:pPr marL="0" algn="ctr" defTabSz="914400" rtl="0" eaLnBrk="1" latinLnBrk="0" hangingPunct="1"/>
                      <a:r>
                        <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adv</a:t>
                      </a:r>
                    </a:p>
                  </a:txBody>
                  <a:tcPr anchor="ctr"/>
                </a:tc>
                <a:tc>
                  <a:txBody>
                    <a:bodyPr/>
                    <a:lstStyle/>
                    <a:p>
                      <a:pPr algn="ctr"/>
                      <a:r>
                        <a:rPr lang="zh-CN" altLang="en-US" sz="3000" b="1">
                          <a:latin typeface="KaiTi" panose="02010609060101010101" pitchFamily="49" charset="-122"/>
                          <a:ea typeface="KaiTi" panose="02010609060101010101" pitchFamily="49" charset="-122"/>
                        </a:rPr>
                        <a:t>在</a:t>
                      </a:r>
                      <a:endParaRPr lang="en-US" sz="3000" b="1">
                        <a:latin typeface="KaiTi" panose="02010609060101010101" pitchFamily="49" charset="-122"/>
                        <a:ea typeface="KaiTi" panose="02010609060101010101" pitchFamily="49" charset="-122"/>
                      </a:endParaRPr>
                    </a:p>
                  </a:txBody>
                  <a:tcPr anchor="ctr"/>
                </a:tc>
                <a:tc>
                  <a:txBody>
                    <a:bodyPr/>
                    <a:lstStyle/>
                    <a:p>
                      <a:pPr algn="ctr"/>
                      <a:r>
                        <a:rPr lang="en-US" altLang="zh-CN"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location</a:t>
                      </a:r>
                      <a:endPar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V</a:t>
                      </a:r>
                    </a:p>
                  </a:txBody>
                  <a:tcPr anchor="ctr"/>
                </a:tc>
                <a:tc>
                  <a:txBody>
                    <a:bodyPr/>
                    <a:lstStyle/>
                    <a:p>
                      <a:pPr algn="ctr"/>
                      <a:r>
                        <a:rPr lang="en-US" sz="3000" b="1">
                          <a:latin typeface="KaiTi" panose="02010609060101010101" pitchFamily="49" charset="-122"/>
                          <a:ea typeface="KaiTi" panose="02010609060101010101" pitchFamily="49" charset="-122"/>
                        </a:rPr>
                        <a:t>0</a:t>
                      </a:r>
                    </a:p>
                  </a:txBody>
                  <a:tcPr anchor="ctr"/>
                </a:tc>
                <a:extLst>
                  <a:ext uri="{0D108BD9-81ED-4DB2-BD59-A6C34878D82A}">
                    <a16:rowId xmlns:a16="http://schemas.microsoft.com/office/drawing/2014/main" val="872969775"/>
                  </a:ext>
                </a:extLst>
              </a:tr>
              <a:tr h="680186">
                <a:tc>
                  <a:txBody>
                    <a:bodyPr/>
                    <a:lstStyle/>
                    <a:p>
                      <a:pPr algn="ctr"/>
                      <a:r>
                        <a:rPr lang="zh-CN" altLang="en-US" sz="3000" b="0">
                          <a:latin typeface="KaiTi" panose="02010609060101010101" pitchFamily="49" charset="-122"/>
                          <a:ea typeface="KaiTi" panose="02010609060101010101" pitchFamily="49" charset="-122"/>
                        </a:rPr>
                        <a:t>他们</a:t>
                      </a:r>
                      <a:endParaRPr lang="en-US" sz="3000" b="0">
                        <a:latin typeface="KaiTi" panose="02010609060101010101" pitchFamily="49" charset="-122"/>
                        <a:ea typeface="KaiTi" panose="02010609060101010101" pitchFamily="49" charset="-122"/>
                      </a:endParaRPr>
                    </a:p>
                  </a:txBody>
                  <a:tcPr anchor="ctr"/>
                </a:tc>
                <a:tc>
                  <a:txBody>
                    <a:bodyPr/>
                    <a:lstStyle/>
                    <a:p>
                      <a:pPr algn="ct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公圆</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见面</a:t>
                      </a:r>
                      <a:endParaRPr lang="en-US" sz="3000" b="0">
                        <a:latin typeface="KaiTi" panose="02010609060101010101" pitchFamily="49" charset="-122"/>
                        <a:ea typeface="KaiTi" panose="02010609060101010101" pitchFamily="49" charset="-122"/>
                      </a:endParaRPr>
                    </a:p>
                  </a:txBody>
                  <a:tcPr anchor="ctr"/>
                </a:tc>
                <a:tc>
                  <a:txBody>
                    <a:bodyPr/>
                    <a:lstStyle/>
                    <a:p>
                      <a:pPr algn="ctr"/>
                      <a:endParaRPr lang="en-US" sz="3000" b="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74799136"/>
                  </a:ext>
                </a:extLst>
              </a:tr>
              <a:tr h="680186">
                <a:tc>
                  <a:txBody>
                    <a:bodyPr/>
                    <a:lstStyle/>
                    <a:p>
                      <a:pPr algn="ctr"/>
                      <a:r>
                        <a:rPr lang="zh-CN" altLang="en-US" sz="3000" b="0">
                          <a:latin typeface="KaiTi" panose="02010609060101010101" pitchFamily="49" charset="-122"/>
                          <a:ea typeface="KaiTi" panose="02010609060101010101" pitchFamily="49" charset="-122"/>
                        </a:rPr>
                        <a:t>他</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不</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家</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吃</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饭。</a:t>
                      </a:r>
                      <a:endParaRPr lang="en-US" sz="3000" b="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483277892"/>
                  </a:ext>
                </a:extLst>
              </a:tr>
              <a:tr h="680186">
                <a:tc>
                  <a:txBody>
                    <a:bodyPr/>
                    <a:lstStyle/>
                    <a:p>
                      <a:pPr algn="ctr"/>
                      <a:r>
                        <a:rPr lang="zh-CN" altLang="en-US" sz="3000" b="0">
                          <a:latin typeface="KaiTi" panose="02010609060101010101" pitchFamily="49" charset="-122"/>
                          <a:ea typeface="KaiTi" panose="02010609060101010101" pitchFamily="49" charset="-122"/>
                        </a:rPr>
                        <a:t>我</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常常</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宿舍</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上</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dirty="0">
                          <a:latin typeface="KaiTi" panose="02010609060101010101" pitchFamily="49" charset="-122"/>
                          <a:ea typeface="KaiTi" panose="02010609060101010101" pitchFamily="49" charset="-122"/>
                        </a:rPr>
                        <a:t>网。</a:t>
                      </a:r>
                      <a:endParaRPr lang="en-US" sz="3000" b="0" dirty="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938831681"/>
                  </a:ext>
                </a:extLst>
              </a:tr>
            </a:tbl>
          </a:graphicData>
        </a:graphic>
      </p:graphicFrame>
    </p:spTree>
    <p:extLst>
      <p:ext uri="{BB962C8B-B14F-4D97-AF65-F5344CB8AC3E}">
        <p14:creationId xmlns:p14="http://schemas.microsoft.com/office/powerpoint/2010/main" val="1278047122"/>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23669227"/>
              </p:ext>
            </p:extLst>
          </p:nvPr>
        </p:nvGraphicFramePr>
        <p:xfrm>
          <a:off x="409251" y="0"/>
          <a:ext cx="11373497" cy="1498135"/>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675211">
                <a:tc>
                  <a:txBody>
                    <a:bodyPr/>
                    <a:lstStyle/>
                    <a:p>
                      <a:pPr marL="0" indent="0" algn="ctr" defTabSz="914400" rtl="0" eaLnBrk="1" latinLnBrk="0" hangingPunct="1">
                        <a:buFontTx/>
                        <a:buNone/>
                      </a:pPr>
                      <a:r>
                        <a:rPr lang="en-US" sz="2800" b="1" kern="1200" dirty="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21483">
                <a:tc>
                  <a:txBody>
                    <a:bodyPr/>
                    <a:lstStyle/>
                    <a:p>
                      <a:pPr marL="0" indent="0" algn="ctr" defTabSz="914400" rtl="0" eaLnBrk="1" fontAlgn="b" latinLnBrk="0" hangingPunct="1">
                        <a:buFontTx/>
                        <a:buNone/>
                      </a:pPr>
                      <a:r>
                        <a:rPr lang="en-US" sz="28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家</a:t>
                      </a:r>
                      <a:endParaRPr 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8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jiā</a:t>
                      </a:r>
                      <a:endParaRPr lang="en-US" sz="2800" b="0" i="1"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800">
                          <a:latin typeface="Times New Roman" panose="02020603050405020304" pitchFamily="18" charset="0"/>
                          <a:ea typeface="宋体" panose="02010600030101010101" pitchFamily="2" charset="-122"/>
                          <a:cs typeface="Times New Roman" panose="02020603050405020304" pitchFamily="18" charset="0"/>
                        </a:rPr>
                        <a:t>量</a:t>
                      </a:r>
                      <a:endParaRPr lang="en-US" sz="28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400" i="0" kern="1200" dirty="0" err="1">
                          <a:solidFill>
                            <a:schemeClr val="dk1"/>
                          </a:solidFill>
                          <a:latin typeface="Times New Roman" panose="02020603050405020304" pitchFamily="18" charset="0"/>
                          <a:ea typeface="+mn-ea"/>
                          <a:cs typeface="Times New Roman" panose="02020603050405020304" pitchFamily="18" charset="0"/>
                        </a:rPr>
                        <a:t>Lượng</a:t>
                      </a:r>
                      <a:r>
                        <a:rPr lang="en-US" sz="2400" i="0" kern="1200" dirty="0">
                          <a:solidFill>
                            <a:schemeClr val="dk1"/>
                          </a:solidFill>
                          <a:latin typeface="Times New Roman" panose="02020603050405020304" pitchFamily="18" charset="0"/>
                          <a:ea typeface="+mn-ea"/>
                          <a:cs typeface="Times New Roman" panose="02020603050405020304" pitchFamily="18" charset="0"/>
                        </a:rPr>
                        <a:t> </a:t>
                      </a:r>
                      <a:r>
                        <a:rPr lang="en-US" sz="2400" i="0" kern="1200" dirty="0" err="1">
                          <a:solidFill>
                            <a:schemeClr val="dk1"/>
                          </a:solidFill>
                          <a:latin typeface="Times New Roman" panose="02020603050405020304" pitchFamily="18" charset="0"/>
                          <a:ea typeface="+mn-ea"/>
                          <a:cs typeface="Times New Roman" panose="02020603050405020304" pitchFamily="18" charset="0"/>
                        </a:rPr>
                        <a:t>từ</a:t>
                      </a:r>
                      <a:r>
                        <a:rPr lang="en-US" sz="2400" i="0" kern="1200" dirty="0">
                          <a:solidFill>
                            <a:schemeClr val="dk1"/>
                          </a:solidFill>
                          <a:latin typeface="Times New Roman" panose="02020603050405020304" pitchFamily="18" charset="0"/>
                          <a:ea typeface="+mn-ea"/>
                          <a:cs typeface="Times New Roman" panose="02020603050405020304" pitchFamily="18" charset="0"/>
                        </a:rPr>
                        <a:t> </a:t>
                      </a:r>
                      <a:r>
                        <a:rPr lang="en-US" sz="2400" i="0" kern="1200" dirty="0" err="1">
                          <a:solidFill>
                            <a:schemeClr val="dk1"/>
                          </a:solidFill>
                          <a:latin typeface="Times New Roman" panose="02020603050405020304" pitchFamily="18" charset="0"/>
                          <a:ea typeface="+mn-ea"/>
                          <a:cs typeface="Times New Roman" panose="02020603050405020304" pitchFamily="18" charset="0"/>
                        </a:rPr>
                        <a:t>dành</a:t>
                      </a:r>
                      <a:r>
                        <a:rPr lang="en-US" sz="2400" i="0" kern="1200" dirty="0">
                          <a:solidFill>
                            <a:schemeClr val="dk1"/>
                          </a:solidFill>
                          <a:latin typeface="Times New Roman" panose="02020603050405020304" pitchFamily="18" charset="0"/>
                          <a:ea typeface="+mn-ea"/>
                          <a:cs typeface="Times New Roman" panose="02020603050405020304" pitchFamily="18" charset="0"/>
                        </a:rPr>
                        <a:t> </a:t>
                      </a:r>
                      <a:r>
                        <a:rPr lang="en-US" sz="2400" i="0" kern="1200" dirty="0" err="1">
                          <a:solidFill>
                            <a:schemeClr val="dk1"/>
                          </a:solidFill>
                          <a:latin typeface="Times New Roman" panose="02020603050405020304" pitchFamily="18" charset="0"/>
                          <a:ea typeface="+mn-ea"/>
                          <a:cs typeface="Times New Roman" panose="02020603050405020304" pitchFamily="18" charset="0"/>
                        </a:rPr>
                        <a:t>cho</a:t>
                      </a:r>
                      <a:r>
                        <a:rPr lang="en-US" sz="2400" i="0" kern="1200" dirty="0">
                          <a:solidFill>
                            <a:schemeClr val="dk1"/>
                          </a:solidFill>
                          <a:latin typeface="Times New Roman" panose="02020603050405020304" pitchFamily="18" charset="0"/>
                          <a:ea typeface="+mn-ea"/>
                          <a:cs typeface="Times New Roman" panose="02020603050405020304" pitchFamily="18" charset="0"/>
                        </a:rPr>
                        <a:t> </a:t>
                      </a:r>
                      <a:r>
                        <a:rPr lang="en-US" sz="2400" i="0" kern="1200" dirty="0" err="1">
                          <a:solidFill>
                            <a:schemeClr val="dk1"/>
                          </a:solidFill>
                          <a:latin typeface="Times New Roman" panose="02020603050405020304" pitchFamily="18" charset="0"/>
                          <a:ea typeface="+mn-ea"/>
                          <a:cs typeface="Times New Roman" panose="02020603050405020304" pitchFamily="18" charset="0"/>
                        </a:rPr>
                        <a:t>công</a:t>
                      </a:r>
                      <a:r>
                        <a:rPr lang="en-US" sz="2400" i="0" kern="1200" dirty="0">
                          <a:solidFill>
                            <a:schemeClr val="dk1"/>
                          </a:solidFill>
                          <a:latin typeface="Times New Roman" panose="02020603050405020304" pitchFamily="18" charset="0"/>
                          <a:ea typeface="+mn-ea"/>
                          <a:cs typeface="Times New Roman" panose="02020603050405020304" pitchFamily="18" charset="0"/>
                        </a:rPr>
                        <a:t> ty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bl>
          </a:graphicData>
        </a:graphic>
      </p:graphicFrame>
      <p:pic>
        <p:nvPicPr>
          <p:cNvPr id="2050" name="Picture 2" descr="家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65443" y="1727568"/>
            <a:ext cx="2270928" cy="22709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758609328"/>
              </p:ext>
            </p:extLst>
          </p:nvPr>
        </p:nvGraphicFramePr>
        <p:xfrm>
          <a:off x="5947558" y="1727568"/>
          <a:ext cx="5321877" cy="822960"/>
        </p:xfrm>
        <a:graphic>
          <a:graphicData uri="http://schemas.openxmlformats.org/drawingml/2006/table">
            <a:tbl>
              <a:tblPr>
                <a:tableStyleId>{2D5ABB26-0587-4C30-8999-92F81FD0307C}</a:tableStyleId>
              </a:tblPr>
              <a:tblGrid>
                <a:gridCol w="5321877">
                  <a:extLst>
                    <a:ext uri="{9D8B030D-6E8A-4147-A177-3AD203B41FA5}">
                      <a16:colId xmlns:a16="http://schemas.microsoft.com/office/drawing/2014/main" val="120267834"/>
                    </a:ext>
                  </a:extLst>
                </a:gridCol>
              </a:tblGrid>
              <a:tr h="464820">
                <a:tc>
                  <a:txBody>
                    <a:bodyPr/>
                    <a:lstStyle/>
                    <a:p>
                      <a:pPr marL="0" algn="ctr" defTabSz="914400" rtl="0" eaLnBrk="1" latinLnBrk="0" hangingPunct="1"/>
                      <a:r>
                        <a:rPr lang="zh-CN" altLang="en-US" sz="2800" kern="1200" dirty="0">
                          <a:solidFill>
                            <a:srgbClr val="00B050"/>
                          </a:solidFill>
                          <a:latin typeface="KaiTi" panose="02010609060101010101" pitchFamily="49" charset="-122"/>
                          <a:ea typeface="KaiTi" panose="02010609060101010101" pitchFamily="49" charset="-122"/>
                          <a:cs typeface="+mn-cs"/>
                        </a:rPr>
                        <a:t>我姐姐在一家快递公司工作</a:t>
                      </a:r>
                      <a:br>
                        <a:rPr lang="en-US" altLang="zh-CN" sz="2800" kern="120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jiěji</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e</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zài</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yíjiā</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kuàidì</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gōngs</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i</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gōngzuò</a:t>
                      </a:r>
                      <a:endPar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47211054"/>
                  </a:ext>
                </a:extLst>
              </a:tr>
            </a:tbl>
          </a:graphicData>
        </a:graphic>
      </p:graphicFrame>
      <p:sp>
        <p:nvSpPr>
          <p:cNvPr id="2051" name="Chiết tự 2051"/>
          <p:cNvSpPr txBox="1"/>
          <p:nvPr/>
        </p:nvSpPr>
        <p:spPr>
          <a:xfrm>
            <a:off x="2700000" y="2640000"/>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家 = </a:t>
            </a:r>
            <a:r>
              <a:rPr lang="zh-CN" sz="3600" dirty="0">
                <a:solidFill>
                  <a:srgbClr val="C00000"/>
                </a:solidFill>
                <a:latin typeface="KaiTi" panose="02010609060101010101" pitchFamily="49" charset="-122"/>
                <a:ea typeface="KaiTi" panose="02010609060101010101" pitchFamily="49" charset="-122"/>
              </a:rPr>
              <a:t>宀</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豕</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Miên 宀 (mái nhà) + 豕 (con lợn): nhà</a:t>
            </a:r>
          </a:p>
        </p:txBody>
      </p:sp>
      <p:sp>
        <p:nvSpPr>
          <p:cNvPr id="2052" name="Nhớ lại 2052"/>
          <p:cNvSpPr txBox="1"/>
          <p:nvPr/>
        </p:nvSpPr>
        <p:spPr>
          <a:xfrm>
            <a:off x="2700000" y="4680000"/>
            <a:ext cx="47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家</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jiā</a:t>
            </a:r>
            <a:r>
              <a:rPr lang="vi-VN" sz="2400" dirty="0">
                <a:latin typeface="Times New Roman" panose="02020603050405020304" pitchFamily="18" charset="0"/>
                <a:ea typeface="KaiTi" panose="02010609060101010101" pitchFamily="49" charset="-122"/>
                <a:cs typeface="Times New Roman" panose="02020603050405020304" pitchFamily="18" charset="0"/>
              </a:rPr>
              <a:t> – nhà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你家有几口人？</a:t>
            </a:r>
          </a:p>
          <a:p>
            <a:pPr>
              <a:spcBef>
                <a:spcPts val="200"/>
              </a:spcBef>
            </a:pPr>
            <a:r>
              <a:rPr lang="zh-CN" sz="2800" dirty="0">
                <a:solidFill>
                  <a:srgbClr val="C00000"/>
                </a:solidFill>
                <a:latin typeface="KaiTi" panose="02010609060101010101" pitchFamily="49" charset="-122"/>
                <a:ea typeface="KaiTi" panose="02010609060101010101" pitchFamily="49" charset="-122"/>
              </a:rPr>
              <a:t>安排</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ānpái</a:t>
            </a:r>
            <a:r>
              <a:rPr lang="vi-VN" sz="2400" dirty="0">
                <a:latin typeface="Times New Roman" panose="02020603050405020304" pitchFamily="18" charset="0"/>
                <a:ea typeface="KaiTi" panose="02010609060101010101" pitchFamily="49" charset="-122"/>
                <a:cs typeface="Times New Roman" panose="02020603050405020304" pitchFamily="18" charset="0"/>
              </a:rPr>
              <a:t> – kế hoạch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安 cũng có 宀</a:t>
            </a:r>
          </a:p>
        </p:txBody>
      </p:sp>
    </p:spTree>
    <p:extLst>
      <p:ext uri="{BB962C8B-B14F-4D97-AF65-F5344CB8AC3E}">
        <p14:creationId xmlns:p14="http://schemas.microsoft.com/office/powerpoint/2010/main" val="2504789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dissolve">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ipe(left)">
                                      <p:cBhvr>
                                        <p:cTn id="1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252368238"/>
              </p:ext>
            </p:extLst>
          </p:nvPr>
        </p:nvGraphicFramePr>
        <p:xfrm>
          <a:off x="409251" y="168820"/>
          <a:ext cx="11373497" cy="1515648"/>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98235">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17413">
                <a:tc>
                  <a:txBody>
                    <a:bodyPr/>
                    <a:lstStyle/>
                    <a:p>
                      <a:pPr marL="0" indent="0" algn="ctr" defTabSz="914400" rtl="0" eaLnBrk="1" fontAlgn="b" latinLnBrk="0" hangingPunct="1">
                        <a:buFontTx/>
                        <a:buNone/>
                      </a:pPr>
                      <a:r>
                        <a:rPr lang="en-US" sz="28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b="1" kern="1200" dirty="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车</a:t>
                      </a:r>
                      <a:endParaRPr lang="en-US" sz="3200" b="1" kern="1200" dirty="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8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chē</a:t>
                      </a:r>
                      <a:endParaRPr lang="en-US" sz="2800" b="0" i="1"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800">
                          <a:latin typeface="Times New Roman" panose="02020603050405020304" pitchFamily="18" charset="0"/>
                          <a:ea typeface="宋体" panose="02010600030101010101" pitchFamily="2" charset="-122"/>
                          <a:cs typeface="Times New Roman" panose="02020603050405020304" pitchFamily="18" charset="0"/>
                        </a:rPr>
                        <a:t>名</a:t>
                      </a:r>
                      <a:endParaRPr lang="en-US" sz="28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dirty="0">
                          <a:solidFill>
                            <a:schemeClr val="dk1"/>
                          </a:solidFill>
                          <a:latin typeface="Times New Roman" panose="02020603050405020304" pitchFamily="18" charset="0"/>
                          <a:ea typeface="+mn-ea"/>
                          <a:cs typeface="Times New Roman" panose="02020603050405020304" pitchFamily="18" charset="0"/>
                        </a:rPr>
                        <a:t>Xe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pic>
        <p:nvPicPr>
          <p:cNvPr id="3076" name="Picture 4" descr="车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251" y="1968480"/>
            <a:ext cx="1691693" cy="1691694"/>
          </a:xfrm>
          <a:prstGeom prst="rect">
            <a:avLst/>
          </a:prstGeom>
          <a:noFill/>
          <a:extLst>
            <a:ext uri="{909E8E84-426E-40DD-AFC4-6F175D3DCCD1}">
              <a14:hiddenFill xmlns:a14="http://schemas.microsoft.com/office/drawing/2010/main">
                <a:solidFill>
                  <a:srgbClr val="FFFFFF"/>
                </a:solidFill>
              </a14:hiddenFill>
            </a:ext>
          </a:extLst>
        </p:spPr>
      </p:pic>
      <p:sp>
        <p:nvSpPr>
          <p:cNvPr id="3077" name="Chiết tự 3077"/>
          <p:cNvSpPr txBox="1"/>
          <p:nvPr/>
        </p:nvSpPr>
        <p:spPr>
          <a:xfrm>
            <a:off x="2700000" y="1804468"/>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solidFill>
                  <a:srgbClr val="C00000"/>
                </a:solidFill>
                <a:latin typeface="KaiTi" panose="02010609060101010101" pitchFamily="49" charset="-122"/>
                <a:ea typeface="KaiTi" panose="02010609060101010101" pitchFamily="49" charset="-122"/>
              </a:rPr>
              <a:t>车</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Xa 车: chữ tượng hình chiếc xe</a:t>
            </a:r>
          </a:p>
        </p:txBody>
      </p:sp>
      <p:sp>
        <p:nvSpPr>
          <p:cNvPr id="3078" name="Ví dụ thêm 3078"/>
          <p:cNvSpPr txBox="1"/>
          <p:nvPr/>
        </p:nvSpPr>
        <p:spPr>
          <a:xfrm>
            <a:off x="7200000" y="1804468"/>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这是我的车。</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Zhè shì wǒ de chē.</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Đây là xe của tôi.</a:t>
            </a:r>
          </a:p>
        </p:txBody>
      </p:sp>
    </p:spTree>
    <p:extLst>
      <p:ext uri="{BB962C8B-B14F-4D97-AF65-F5344CB8AC3E}">
        <p14:creationId xmlns:p14="http://schemas.microsoft.com/office/powerpoint/2010/main" val="257555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dissolve">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wipe(left)">
                                      <p:cBhvr>
                                        <p:cTn id="1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CE4D-8F29-7748-DD13-AF3EDFF328C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41C3BE3-84B5-1EC4-49F0-452E4D4E603F}"/>
              </a:ext>
            </a:extLst>
          </p:cNvPr>
          <p:cNvGraphicFramePr>
            <a:graphicFrameLocks noGrp="1"/>
          </p:cNvGraphicFramePr>
          <p:nvPr/>
        </p:nvGraphicFramePr>
        <p:xfrm>
          <a:off x="409251" y="168820"/>
          <a:ext cx="11373497" cy="1515648"/>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98235">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17413">
                <a:tc>
                  <a:txBody>
                    <a:bodyPr/>
                    <a:lstStyle/>
                    <a:p>
                      <a:pPr marL="0" indent="0" algn="ctr" defTabSz="914400" rtl="0" eaLnBrk="1" fontAlgn="b" latinLnBrk="0" hangingPunct="1">
                        <a:buFontTx/>
                        <a:buNone/>
                      </a:pPr>
                      <a:r>
                        <a:rPr lang="en-US" sz="28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汽车</a:t>
                      </a:r>
                      <a:endParaRPr 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a:buFontTx/>
                        <a:buNone/>
                      </a:pPr>
                      <a:r>
                        <a:rPr kumimoji="0" lang="en-US" sz="28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qìchē</a:t>
                      </a:r>
                      <a:endParaRPr lang="en-US" sz="2800" b="0" i="1"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800">
                          <a:latin typeface="Times New Roman" panose="02020603050405020304" pitchFamily="18" charset="0"/>
                          <a:ea typeface="宋体" panose="02010600030101010101" pitchFamily="2" charset="-122"/>
                          <a:cs typeface="Times New Roman" panose="02020603050405020304" pitchFamily="18" charset="0"/>
                        </a:rPr>
                        <a:t>名</a:t>
                      </a:r>
                      <a:endParaRPr lang="en-US" sz="28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dirty="0">
                          <a:solidFill>
                            <a:schemeClr val="dk1"/>
                          </a:solidFill>
                          <a:latin typeface="Times New Roman" panose="02020603050405020304" pitchFamily="18" charset="0"/>
                          <a:ea typeface="+mn-ea"/>
                          <a:cs typeface="Times New Roman" panose="02020603050405020304" pitchFamily="18" charset="0"/>
                        </a:rPr>
                        <a:t>Xe </a:t>
                      </a:r>
                      <a:r>
                        <a:rPr lang="en-US" sz="2800" i="0" kern="1200" dirty="0" err="1">
                          <a:solidFill>
                            <a:schemeClr val="dk1"/>
                          </a:solidFill>
                          <a:latin typeface="Times New Roman" panose="02020603050405020304" pitchFamily="18" charset="0"/>
                          <a:ea typeface="+mn-ea"/>
                          <a:cs typeface="Times New Roman" panose="02020603050405020304" pitchFamily="18" charset="0"/>
                        </a:rPr>
                        <a:t>ô</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r>
                        <a:rPr lang="en-US" sz="2800" i="0" kern="1200" dirty="0" err="1">
                          <a:solidFill>
                            <a:schemeClr val="dk1"/>
                          </a:solidFill>
                          <a:latin typeface="Times New Roman" panose="02020603050405020304" pitchFamily="18" charset="0"/>
                          <a:ea typeface="+mn-ea"/>
                          <a:cs typeface="Times New Roman" panose="02020603050405020304" pitchFamily="18" charset="0"/>
                        </a:rPr>
                        <a:t>tô</a:t>
                      </a:r>
                      <a:endParaRPr lang="en-US" sz="28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pic>
        <p:nvPicPr>
          <p:cNvPr id="3074" name="Picture 2" descr="汽的笔顺">
            <a:extLst>
              <a:ext uri="{FF2B5EF4-FFF2-40B4-BE49-F238E27FC236}">
                <a16:creationId xmlns:a16="http://schemas.microsoft.com/office/drawing/2014/main" id="{FF0F7326-67B2-87E7-5474-BAB15D89E310}"/>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9251" y="1787792"/>
            <a:ext cx="1691692" cy="169169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车的笔顺">
            <a:extLst>
              <a:ext uri="{FF2B5EF4-FFF2-40B4-BE49-F238E27FC236}">
                <a16:creationId xmlns:a16="http://schemas.microsoft.com/office/drawing/2014/main" id="{67288153-9EF1-10DC-4D7B-7C88919174C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09250" y="4178280"/>
            <a:ext cx="1691693" cy="1691694"/>
          </a:xfrm>
          <a:prstGeom prst="rect">
            <a:avLst/>
          </a:prstGeom>
          <a:noFill/>
          <a:extLst>
            <a:ext uri="{909E8E84-426E-40DD-AFC4-6F175D3DCCD1}">
              <a14:hiddenFill xmlns:a14="http://schemas.microsoft.com/office/drawing/2010/main">
                <a:solidFill>
                  <a:srgbClr val="FFFFFF"/>
                </a:solidFill>
              </a14:hiddenFill>
            </a:ext>
          </a:extLst>
        </p:spPr>
      </p:pic>
      <p:sp>
        <p:nvSpPr>
          <p:cNvPr id="3077" name="Chiết tự 3077"/>
          <p:cNvSpPr txBox="1"/>
          <p:nvPr/>
        </p:nvSpPr>
        <p:spPr>
          <a:xfrm>
            <a:off x="2700000" y="1804468"/>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汽 = </a:t>
            </a:r>
            <a:r>
              <a:rPr lang="zh-CN" sz="3600" dirty="0">
                <a:solidFill>
                  <a:srgbClr val="C00000"/>
                </a:solidFill>
                <a:latin typeface="KaiTi" panose="02010609060101010101" pitchFamily="49" charset="-122"/>
                <a:ea typeface="KaiTi" panose="02010609060101010101" pitchFamily="49" charset="-122"/>
              </a:rPr>
              <a:t>氵</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气</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Thủy 氵 (nước) + 气 (khí): hơi nước</a:t>
            </a:r>
          </a:p>
        </p:txBody>
      </p:sp>
      <p:sp>
        <p:nvSpPr>
          <p:cNvPr id="3078" name="Nhớ lại 3078"/>
          <p:cNvSpPr txBox="1"/>
          <p:nvPr/>
        </p:nvSpPr>
        <p:spPr>
          <a:xfrm>
            <a:off x="2700000" y="3844468"/>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洗澡</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xǐzǎo</a:t>
            </a:r>
            <a:r>
              <a:rPr lang="vi-VN" sz="2400" dirty="0">
                <a:latin typeface="Times New Roman" panose="02020603050405020304" pitchFamily="18" charset="0"/>
                <a:ea typeface="KaiTi" panose="02010609060101010101" pitchFamily="49" charset="-122"/>
                <a:cs typeface="Times New Roman" panose="02020603050405020304" pitchFamily="18" charset="0"/>
              </a:rPr>
              <a:t> – tắm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氵</a:t>
            </a:r>
          </a:p>
          <a:p>
            <a:pPr>
              <a:spcBef>
                <a:spcPts val="200"/>
              </a:spcBef>
            </a:pPr>
            <a:r>
              <a:rPr lang="zh-CN" sz="2800" dirty="0">
                <a:solidFill>
                  <a:srgbClr val="C00000"/>
                </a:solidFill>
                <a:latin typeface="KaiTi" panose="02010609060101010101" pitchFamily="49" charset="-122"/>
                <a:ea typeface="KaiTi" panose="02010609060101010101" pitchFamily="49" charset="-122"/>
              </a:rPr>
              <a:t>汉语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Hànyǔ</a:t>
            </a:r>
            <a:r>
              <a:rPr lang="vi-VN" sz="2400" dirty="0">
                <a:latin typeface="Times New Roman" panose="02020603050405020304" pitchFamily="18" charset="0"/>
                <a:ea typeface="KaiTi" panose="02010609060101010101" pitchFamily="49" charset="-122"/>
                <a:cs typeface="Times New Roman" panose="02020603050405020304" pitchFamily="18" charset="0"/>
              </a:rPr>
              <a:t> – tiếng Hán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汉 cũng có 氵</a:t>
            </a:r>
          </a:p>
        </p:txBody>
      </p:sp>
      <p:sp>
        <p:nvSpPr>
          <p:cNvPr id="3079" name="Ví dụ thêm 3079"/>
          <p:cNvSpPr txBox="1"/>
          <p:nvPr/>
        </p:nvSpPr>
        <p:spPr>
          <a:xfrm>
            <a:off x="7200000" y="1804468"/>
            <a:ext cx="4400000" cy="1774948"/>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他在一家汽车公司工作。</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Tā zài yì jiā qìchē gōngsī gōngzuò.</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Anh ấy làm việc ở một công ty ô tô.</a:t>
            </a:r>
          </a:p>
        </p:txBody>
      </p:sp>
    </p:spTree>
    <p:extLst>
      <p:ext uri="{BB962C8B-B14F-4D97-AF65-F5344CB8AC3E}">
        <p14:creationId xmlns:p14="http://schemas.microsoft.com/office/powerpoint/2010/main" val="25509126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dissolve">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9"/>
                                        </p:tgtEl>
                                        <p:attrNameLst>
                                          <p:attrName>style.visibility</p:attrName>
                                        </p:attrNameLst>
                                      </p:cBhvr>
                                      <p:to>
                                        <p:strVal val="visible"/>
                                      </p:to>
                                    </p:set>
                                    <p:animEffect transition="in" filter="wipe(left)">
                                      <p:cBhvr>
                                        <p:cTn id="12" dur="500"/>
                                        <p:tgtEl>
                                          <p:spTgt spid="30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wipe(left)">
                                      <p:cBhvr>
                                        <p:cTn id="17"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490845478"/>
              </p:ext>
            </p:extLst>
          </p:nvPr>
        </p:nvGraphicFramePr>
        <p:xfrm>
          <a:off x="304154" y="277678"/>
          <a:ext cx="11373497" cy="1380641"/>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625307">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55334">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公司</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altLang="zh-CN"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gōngsī</a:t>
                      </a:r>
                      <a:endPar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Times New Roman" panose="02020603050405020304" pitchFamily="18" charset="0"/>
                          <a:ea typeface="宋体" panose="02010600030101010101" pitchFamily="2" charset="-122"/>
                          <a:cs typeface="Times New Roman" panose="02020603050405020304" pitchFamily="18" charset="0"/>
                        </a:rPr>
                        <a:t>名</a:t>
                      </a:r>
                      <a:endParaRPr lang="en-US" sz="3200">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Công ty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pic>
        <p:nvPicPr>
          <p:cNvPr id="4098" name="Picture 2" descr="公的笔顺动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54" y="1865250"/>
            <a:ext cx="1563750" cy="1563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司的笔顺动画"/>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154" y="3879107"/>
            <a:ext cx="1563750" cy="1563750"/>
          </a:xfrm>
          <a:prstGeom prst="rect">
            <a:avLst/>
          </a:prstGeom>
          <a:noFill/>
          <a:extLst>
            <a:ext uri="{909E8E84-426E-40DD-AFC4-6F175D3DCCD1}">
              <a14:hiddenFill xmlns:a14="http://schemas.microsoft.com/office/drawing/2010/main">
                <a:solidFill>
                  <a:srgbClr val="FFFFFF"/>
                </a:solidFill>
              </a14:hiddenFill>
            </a:ext>
          </a:extLst>
        </p:spPr>
      </p:pic>
      <p:sp>
        <p:nvSpPr>
          <p:cNvPr id="4101" name="Chiết tự 4101"/>
          <p:cNvSpPr txBox="1"/>
          <p:nvPr/>
        </p:nvSpPr>
        <p:spPr>
          <a:xfrm>
            <a:off x="2700000" y="1778319"/>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公 = </a:t>
            </a:r>
            <a:r>
              <a:rPr lang="zh-CN" sz="3600" dirty="0">
                <a:latin typeface="KaiTi" panose="02010609060101010101" pitchFamily="49" charset="-122"/>
                <a:ea typeface="KaiTi" panose="02010609060101010101" pitchFamily="49" charset="-122"/>
              </a:rPr>
              <a:t>八</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厶</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Chia (八) cho mọi người → công cộng</a:t>
            </a:r>
          </a:p>
        </p:txBody>
      </p:sp>
      <p:sp>
        <p:nvSpPr>
          <p:cNvPr id="4102" name="Nhớ lại 4102"/>
          <p:cNvSpPr txBox="1"/>
          <p:nvPr/>
        </p:nvSpPr>
        <p:spPr>
          <a:xfrm>
            <a:off x="2700000" y="3818319"/>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公园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gōngyuán</a:t>
            </a:r>
            <a:r>
              <a:rPr lang="vi-VN" sz="2400" dirty="0">
                <a:latin typeface="Times New Roman" panose="02020603050405020304" pitchFamily="18" charset="0"/>
                <a:ea typeface="KaiTi" panose="02010609060101010101" pitchFamily="49" charset="-122"/>
                <a:cs typeface="Times New Roman" panose="02020603050405020304" pitchFamily="18" charset="0"/>
              </a:rPr>
              <a:t> – công viên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公</a:t>
            </a:r>
          </a:p>
          <a:p>
            <a:pPr>
              <a:spcBef>
                <a:spcPts val="200"/>
              </a:spcBef>
            </a:pPr>
            <a:r>
              <a:rPr lang="zh-CN" sz="2800" dirty="0">
                <a:solidFill>
                  <a:srgbClr val="C00000"/>
                </a:solidFill>
                <a:latin typeface="KaiTi" panose="02010609060101010101" pitchFamily="49" charset="-122"/>
                <a:ea typeface="KaiTi" panose="02010609060101010101" pitchFamily="49" charset="-122"/>
              </a:rPr>
              <a:t>工作</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gōngzuò</a:t>
            </a:r>
            <a:r>
              <a:rPr lang="vi-VN" sz="2400" dirty="0">
                <a:latin typeface="Times New Roman" panose="02020603050405020304" pitchFamily="18" charset="0"/>
                <a:ea typeface="KaiTi" panose="02010609060101010101" pitchFamily="49" charset="-122"/>
                <a:cs typeface="Times New Roman" panose="02020603050405020304" pitchFamily="18" charset="0"/>
              </a:rPr>
              <a:t> – làm việc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đọc giống gōng</a:t>
            </a:r>
          </a:p>
        </p:txBody>
      </p:sp>
      <p:sp>
        <p:nvSpPr>
          <p:cNvPr id="4103" name="Ví dụ thêm 4103"/>
          <p:cNvSpPr txBox="1"/>
          <p:nvPr/>
        </p:nvSpPr>
        <p:spPr>
          <a:xfrm>
            <a:off x="7200000" y="1778319"/>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他的公司很大。</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Tā de gōngsī hěn dà.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Công ty của anh ấy rất lớn.</a:t>
            </a:r>
          </a:p>
        </p:txBody>
      </p:sp>
    </p:spTree>
    <p:extLst>
      <p:ext uri="{BB962C8B-B14F-4D97-AF65-F5344CB8AC3E}">
        <p14:creationId xmlns:p14="http://schemas.microsoft.com/office/powerpoint/2010/main" val="22524618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dissolve">
                                      <p:cBhvr>
                                        <p:cTn id="7" dur="5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03"/>
                                        </p:tgtEl>
                                        <p:attrNameLst>
                                          <p:attrName>style.visibility</p:attrName>
                                        </p:attrNameLst>
                                      </p:cBhvr>
                                      <p:to>
                                        <p:strVal val="visible"/>
                                      </p:to>
                                    </p:set>
                                    <p:animEffect transition="in" filter="wipe(left)">
                                      <p:cBhvr>
                                        <p:cTn id="12" dur="500"/>
                                        <p:tgtEl>
                                          <p:spTgt spid="41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02"/>
                                        </p:tgtEl>
                                        <p:attrNameLst>
                                          <p:attrName>style.visibility</p:attrName>
                                        </p:attrNameLst>
                                      </p:cBhvr>
                                      <p:to>
                                        <p:strVal val="visible"/>
                                      </p:to>
                                    </p:set>
                                    <p:animEffect transition="in" filter="wipe(left)">
                                      <p:cBhvr>
                                        <p:cTn id="17"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85777879"/>
              </p:ext>
            </p:extLst>
          </p:nvPr>
        </p:nvGraphicFramePr>
        <p:xfrm>
          <a:off x="304154" y="277678"/>
          <a:ext cx="11373497" cy="1597618"/>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78541">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19077">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工作</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gōngzuò</a:t>
                      </a:r>
                      <a:endParaRPr lang="en-US" sz="32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动</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Làm việc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bl>
          </a:graphicData>
        </a:graphic>
      </p:graphicFrame>
      <p:pic>
        <p:nvPicPr>
          <p:cNvPr id="5122" name="Picture 2" descr="工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4154" y="2019300"/>
            <a:ext cx="1823357" cy="182335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作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04154" y="4038600"/>
            <a:ext cx="1823357" cy="1823358"/>
          </a:xfrm>
          <a:prstGeom prst="rect">
            <a:avLst/>
          </a:prstGeom>
          <a:noFill/>
          <a:extLst>
            <a:ext uri="{909E8E84-426E-40DD-AFC4-6F175D3DCCD1}">
              <a14:hiddenFill xmlns:a14="http://schemas.microsoft.com/office/drawing/2010/main">
                <a:solidFill>
                  <a:srgbClr val="FFFFFF"/>
                </a:solidFill>
              </a14:hiddenFill>
            </a:ext>
          </a:extLst>
        </p:spPr>
      </p:pic>
      <p:sp>
        <p:nvSpPr>
          <p:cNvPr id="5125" name="Chiết tự 5125"/>
          <p:cNvSpPr txBox="1"/>
          <p:nvPr/>
        </p:nvSpPr>
        <p:spPr>
          <a:xfrm>
            <a:off x="2700000" y="1995296"/>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作 = </a:t>
            </a:r>
            <a:r>
              <a:rPr lang="zh-CN" sz="3600" dirty="0">
                <a:solidFill>
                  <a:srgbClr val="C00000"/>
                </a:solidFill>
                <a:latin typeface="KaiTi" panose="02010609060101010101" pitchFamily="49" charset="-122"/>
                <a:ea typeface="KaiTi" panose="02010609060101010101" pitchFamily="49" charset="-122"/>
              </a:rPr>
              <a:t>亻</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乍</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Nhân đứng 亻 + 乍</a:t>
            </a:r>
          </a:p>
        </p:txBody>
      </p:sp>
      <p:sp>
        <p:nvSpPr>
          <p:cNvPr id="5126" name="Nhớ lại 5126"/>
          <p:cNvSpPr txBox="1"/>
          <p:nvPr/>
        </p:nvSpPr>
        <p:spPr>
          <a:xfrm>
            <a:off x="7200000" y="1995296"/>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工作</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gōngzuò</a:t>
            </a:r>
            <a:r>
              <a:rPr lang="vi-VN" sz="2400" dirty="0">
                <a:latin typeface="Times New Roman" panose="02020603050405020304" pitchFamily="18" charset="0"/>
                <a:ea typeface="KaiTi" panose="02010609060101010101" pitchFamily="49" charset="-122"/>
                <a:cs typeface="Times New Roman" panose="02020603050405020304" pitchFamily="18" charset="0"/>
              </a:rPr>
              <a:t> – công việc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你爸爸做什么工作？</a:t>
            </a:r>
          </a:p>
          <a:p>
            <a:pPr>
              <a:spcBef>
                <a:spcPts val="200"/>
              </a:spcBef>
            </a:pPr>
            <a:r>
              <a:rPr lang="zh-CN" sz="2800" dirty="0">
                <a:solidFill>
                  <a:srgbClr val="C00000"/>
                </a:solidFill>
                <a:latin typeface="KaiTi" panose="02010609060101010101" pitchFamily="49" charset="-122"/>
                <a:ea typeface="KaiTi" panose="02010609060101010101" pitchFamily="49" charset="-122"/>
              </a:rPr>
              <a:t>做</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zuò</a:t>
            </a:r>
            <a:r>
              <a:rPr lang="vi-VN" sz="2400" dirty="0">
                <a:latin typeface="Times New Roman" panose="02020603050405020304" pitchFamily="18" charset="0"/>
                <a:ea typeface="KaiTi" panose="02010609060101010101" pitchFamily="49" charset="-122"/>
                <a:cs typeface="Times New Roman" panose="02020603050405020304" pitchFamily="18" charset="0"/>
              </a:rPr>
              <a:t> – làm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做 và 作 cùng đọc zuò</a:t>
            </a:r>
          </a:p>
          <a:p>
            <a:pPr>
              <a:spcBef>
                <a:spcPts val="200"/>
              </a:spcBef>
            </a:pPr>
            <a:r>
              <a:rPr lang="zh-CN" sz="2800" dirty="0">
                <a:solidFill>
                  <a:srgbClr val="C00000"/>
                </a:solidFill>
                <a:latin typeface="KaiTi" panose="02010609060101010101" pitchFamily="49" charset="-122"/>
                <a:ea typeface="KaiTi" panose="02010609060101010101" pitchFamily="49" charset="-122"/>
              </a:rPr>
              <a:t>工人</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gōngrén</a:t>
            </a:r>
            <a:r>
              <a:rPr lang="vi-VN" sz="2400" dirty="0">
                <a:latin typeface="Times New Roman" panose="02020603050405020304" pitchFamily="18" charset="0"/>
                <a:ea typeface="KaiTi" panose="02010609060101010101" pitchFamily="49" charset="-122"/>
                <a:cs typeface="Times New Roman" panose="02020603050405020304" pitchFamily="18" charset="0"/>
              </a:rPr>
              <a:t> – công nhân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工</a:t>
            </a:r>
          </a:p>
        </p:txBody>
      </p:sp>
      <p:sp>
        <p:nvSpPr>
          <p:cNvPr id="5127" name="Ví dụ thêm 5127"/>
          <p:cNvSpPr txBox="1"/>
          <p:nvPr/>
        </p:nvSpPr>
        <p:spPr>
          <a:xfrm>
            <a:off x="2700000" y="367529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你在哪儿工作？</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zài nǎr gōngzuò?</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Bạn làm việc ở đâu?</a:t>
            </a:r>
          </a:p>
        </p:txBody>
      </p:sp>
    </p:spTree>
    <p:extLst>
      <p:ext uri="{BB962C8B-B14F-4D97-AF65-F5344CB8AC3E}">
        <p14:creationId xmlns:p14="http://schemas.microsoft.com/office/powerpoint/2010/main" val="21110247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dissolve">
                                      <p:cBhvr>
                                        <p:cTn id="7" dur="5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27"/>
                                        </p:tgtEl>
                                        <p:attrNameLst>
                                          <p:attrName>style.visibility</p:attrName>
                                        </p:attrNameLst>
                                      </p:cBhvr>
                                      <p:to>
                                        <p:strVal val="visible"/>
                                      </p:to>
                                    </p:set>
                                    <p:animEffect transition="in" filter="wipe(left)">
                                      <p:cBhvr>
                                        <p:cTn id="12" dur="500"/>
                                        <p:tgtEl>
                                          <p:spTgt spid="51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6"/>
                                        </p:tgtEl>
                                        <p:attrNameLst>
                                          <p:attrName>style.visibility</p:attrName>
                                        </p:attrNameLst>
                                      </p:cBhvr>
                                      <p:to>
                                        <p:strVal val="visible"/>
                                      </p:to>
                                    </p:set>
                                    <p:animEffect transition="in" filter="wipe(left)">
                                      <p:cBhvr>
                                        <p:cTn id="17"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64304768"/>
              </p:ext>
            </p:extLst>
          </p:nvPr>
        </p:nvGraphicFramePr>
        <p:xfrm>
          <a:off x="304154" y="277677"/>
          <a:ext cx="11373497" cy="1280799"/>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64109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9701">
                <a:tc>
                  <a:txBody>
                    <a:bodyPr/>
                    <a:lstStyle/>
                    <a:p>
                      <a:pPr marL="0" indent="0" algn="ctr" defTabSz="914400" rtl="0" eaLnBrk="1" fontAlgn="b" latinLnBrk="0" hangingPunct="1">
                        <a:buFontTx/>
                        <a:buNone/>
                      </a:pPr>
                      <a:r>
                        <a:rPr lang="en-US" altLang="zh-CN" sz="23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rPr>
                        <a:t>7</a:t>
                      </a:r>
                      <a:endParaRPr lang="en-US" sz="23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从</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cóng </a:t>
                      </a:r>
                      <a:endParaRPr lang="en-US" sz="32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介</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Từ</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164739039"/>
                  </a:ext>
                </a:extLst>
              </a:tr>
            </a:tbl>
          </a:graphicData>
        </a:graphic>
      </p:graphicFrame>
      <p:pic>
        <p:nvPicPr>
          <p:cNvPr id="6146" name="Picture 2" descr="从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4154" y="1827853"/>
            <a:ext cx="2215692" cy="2215693"/>
          </a:xfrm>
          <a:prstGeom prst="rect">
            <a:avLst/>
          </a:prstGeom>
          <a:noFill/>
          <a:extLst>
            <a:ext uri="{909E8E84-426E-40DD-AFC4-6F175D3DCCD1}">
              <a14:hiddenFill xmlns:a14="http://schemas.microsoft.com/office/drawing/2010/main">
                <a:solidFill>
                  <a:srgbClr val="FFFFFF"/>
                </a:solidFill>
              </a14:hiddenFill>
            </a:ext>
          </a:extLst>
        </p:spPr>
      </p:pic>
      <p:sp>
        <p:nvSpPr>
          <p:cNvPr id="6147" name="Chiết tự 6147"/>
          <p:cNvSpPr txBox="1"/>
          <p:nvPr/>
        </p:nvSpPr>
        <p:spPr>
          <a:xfrm>
            <a:off x="2700000" y="1678476"/>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从 = </a:t>
            </a:r>
            <a:r>
              <a:rPr lang="zh-CN" sz="3600" dirty="0">
                <a:solidFill>
                  <a:srgbClr val="C00000"/>
                </a:solidFill>
                <a:latin typeface="KaiTi" panose="02010609060101010101" pitchFamily="49" charset="-122"/>
                <a:ea typeface="KaiTi" panose="02010609060101010101" pitchFamily="49" charset="-122"/>
              </a:rPr>
              <a:t>人</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人</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Hai người (人) đi theo nhau → theo, từ</a:t>
            </a:r>
          </a:p>
        </p:txBody>
      </p:sp>
      <p:sp>
        <p:nvSpPr>
          <p:cNvPr id="6148" name="Nhớ lại 6148"/>
          <p:cNvSpPr txBox="1"/>
          <p:nvPr/>
        </p:nvSpPr>
        <p:spPr>
          <a:xfrm>
            <a:off x="2700000" y="3718476"/>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人</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rén</a:t>
            </a:r>
            <a:r>
              <a:rPr lang="vi-VN" sz="2400" dirty="0">
                <a:latin typeface="Times New Roman" panose="02020603050405020304" pitchFamily="18" charset="0"/>
                <a:ea typeface="KaiTi" panose="02010609060101010101" pitchFamily="49" charset="-122"/>
                <a:cs typeface="Times New Roman" panose="02020603050405020304" pitchFamily="18" charset="0"/>
              </a:rPr>
              <a:t> – người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2)</a:t>
            </a:r>
            <a:r>
              <a:rPr lang="vi-VN" sz="2400" dirty="0">
                <a:latin typeface="Times New Roman" panose="02020603050405020304" pitchFamily="18" charset="0"/>
                <a:ea typeface="KaiTi" panose="02010609060101010101" pitchFamily="49" charset="-122"/>
                <a:cs typeface="Times New Roman" panose="02020603050405020304" pitchFamily="18" charset="0"/>
              </a:rPr>
              <a:t> · 你是哪国人？</a:t>
            </a:r>
          </a:p>
          <a:p>
            <a:pPr>
              <a:spcBef>
                <a:spcPts val="200"/>
              </a:spcBef>
            </a:pPr>
            <a:r>
              <a:rPr lang="zh-CN" sz="2800" dirty="0">
                <a:solidFill>
                  <a:srgbClr val="C00000"/>
                </a:solidFill>
                <a:latin typeface="KaiTi" panose="02010609060101010101" pitchFamily="49" charset="-122"/>
                <a:ea typeface="KaiTi" panose="02010609060101010101" pitchFamily="49" charset="-122"/>
              </a:rPr>
              <a:t>跟</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gēn</a:t>
            </a:r>
            <a:r>
              <a:rPr lang="vi-VN" sz="2400" dirty="0">
                <a:latin typeface="Times New Roman" panose="02020603050405020304" pitchFamily="18" charset="0"/>
                <a:ea typeface="KaiTi" panose="02010609060101010101" pitchFamily="49" charset="-122"/>
                <a:cs typeface="Times New Roman" panose="02020603050405020304" pitchFamily="18" charset="0"/>
              </a:rPr>
              <a:t> – với, theo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nghĩa gốc cũng là 'theo'</a:t>
            </a:r>
          </a:p>
        </p:txBody>
      </p:sp>
      <p:sp>
        <p:nvSpPr>
          <p:cNvPr id="6149" name="Ví dụ thêm 6149"/>
          <p:cNvSpPr txBox="1"/>
          <p:nvPr/>
        </p:nvSpPr>
        <p:spPr>
          <a:xfrm>
            <a:off x="7200000" y="167847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我们从八点上课。</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Wǒmen cóng bā diǎn shàngkè.</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Chúng tôi lên lớp từ 8 giờ.</a:t>
            </a:r>
          </a:p>
        </p:txBody>
      </p:sp>
    </p:spTree>
    <p:extLst>
      <p:ext uri="{BB962C8B-B14F-4D97-AF65-F5344CB8AC3E}">
        <p14:creationId xmlns:p14="http://schemas.microsoft.com/office/powerpoint/2010/main" val="2758869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dissolve">
                                      <p:cBhvr>
                                        <p:cTn id="7" dur="500"/>
                                        <p:tgtEl>
                                          <p:spTgt spid="61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wipe(left)">
                                      <p:cBhvr>
                                        <p:cTn id="12" dur="500"/>
                                        <p:tgtEl>
                                          <p:spTgt spid="61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wipe(left)">
                                      <p:cBhvr>
                                        <p:cTn id="17"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BE2A8-4BF6-EA9F-22F7-FD4D98CF8B2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47182F9-3C84-D883-BEAD-CA52D1D4761F}"/>
              </a:ext>
            </a:extLst>
          </p:cNvPr>
          <p:cNvGraphicFramePr>
            <a:graphicFrameLocks noGrp="1"/>
          </p:cNvGraphicFramePr>
          <p:nvPr>
            <p:extLst>
              <p:ext uri="{D42A27DB-BD31-4B8C-83A1-F6EECF244321}">
                <p14:modId xmlns:p14="http://schemas.microsoft.com/office/powerpoint/2010/main" val="2455105038"/>
              </p:ext>
            </p:extLst>
          </p:nvPr>
        </p:nvGraphicFramePr>
        <p:xfrm>
          <a:off x="304154" y="277677"/>
          <a:ext cx="11373497" cy="1250662"/>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64109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588815">
                <a:tc>
                  <a:txBody>
                    <a:bodyPr/>
                    <a:lstStyle/>
                    <a:p>
                      <a:pPr marL="0" indent="0" algn="ctr" defTabSz="914400" rtl="0" eaLnBrk="1" fontAlgn="b" latinLnBrk="0" hangingPunct="1">
                        <a:buFontTx/>
                        <a:buNone/>
                      </a:pPr>
                      <a:r>
                        <a:rPr lang="en-US" altLang="zh-CN" sz="23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rPr>
                        <a:t>7</a:t>
                      </a:r>
                      <a:endParaRPr lang="en-US" sz="23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到</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dào</a:t>
                      </a:r>
                      <a:endParaRPr lang="en-US" sz="3200" b="0" i="1"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动</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Đến</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27085916"/>
                  </a:ext>
                </a:extLst>
              </a:tr>
            </a:tbl>
          </a:graphicData>
        </a:graphic>
      </p:graphicFrame>
      <p:pic>
        <p:nvPicPr>
          <p:cNvPr id="6148" name="Picture 4" descr="到的笔顺">
            <a:extLst>
              <a:ext uri="{FF2B5EF4-FFF2-40B4-BE49-F238E27FC236}">
                <a16:creationId xmlns:a16="http://schemas.microsoft.com/office/drawing/2014/main" id="{6B1CB807-4B5A-1C8D-CF64-52BB2B81DF0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32851" y="1812784"/>
            <a:ext cx="2215692" cy="2215693"/>
          </a:xfrm>
          <a:prstGeom prst="rect">
            <a:avLst/>
          </a:prstGeom>
          <a:noFill/>
          <a:extLst>
            <a:ext uri="{909E8E84-426E-40DD-AFC4-6F175D3DCCD1}">
              <a14:hiddenFill xmlns:a14="http://schemas.microsoft.com/office/drawing/2010/main">
                <a:solidFill>
                  <a:srgbClr val="FFFFFF"/>
                </a:solidFill>
              </a14:hiddenFill>
            </a:ext>
          </a:extLst>
        </p:spPr>
      </p:pic>
      <p:sp>
        <p:nvSpPr>
          <p:cNvPr id="6149" name="Chiết tự 6149"/>
          <p:cNvSpPr txBox="1"/>
          <p:nvPr/>
        </p:nvSpPr>
        <p:spPr>
          <a:xfrm>
            <a:off x="2700000" y="1648339"/>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到 = </a:t>
            </a:r>
            <a:r>
              <a:rPr lang="zh-CN" sz="3600" dirty="0">
                <a:latin typeface="KaiTi" panose="02010609060101010101" pitchFamily="49" charset="-122"/>
                <a:ea typeface="KaiTi" panose="02010609060101010101" pitchFamily="49" charset="-122"/>
              </a:rPr>
              <a:t>至</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刂</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至 (đến) + Bộ Đao 刂: đến nơi</a:t>
            </a:r>
          </a:p>
        </p:txBody>
      </p:sp>
      <p:sp>
        <p:nvSpPr>
          <p:cNvPr id="6150" name="Nhớ lại 6150"/>
          <p:cNvSpPr txBox="1"/>
          <p:nvPr/>
        </p:nvSpPr>
        <p:spPr>
          <a:xfrm>
            <a:off x="2700000" y="3328339"/>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bān</a:t>
            </a:r>
            <a:r>
              <a:rPr lang="vi-VN" sz="2400" dirty="0">
                <a:latin typeface="Times New Roman" panose="02020603050405020304" pitchFamily="18" charset="0"/>
                <a:ea typeface="KaiTi" panose="02010609060101010101" pitchFamily="49" charset="-122"/>
                <a:cs typeface="Times New Roman" panose="02020603050405020304" pitchFamily="18" charset="0"/>
              </a:rPr>
              <a:t> – lớp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班 = 王 + 刂 + 王, cũng có 刂</a:t>
            </a:r>
          </a:p>
          <a:p>
            <a:pPr>
              <a:spcBef>
                <a:spcPts val="200"/>
              </a:spcBef>
            </a:pPr>
            <a:r>
              <a:rPr lang="zh-CN" sz="2800" dirty="0">
                <a:solidFill>
                  <a:srgbClr val="C00000"/>
                </a:solidFill>
                <a:latin typeface="KaiTi" panose="02010609060101010101" pitchFamily="49" charset="-122"/>
                <a:ea typeface="KaiTi" panose="02010609060101010101" pitchFamily="49" charset="-122"/>
              </a:rPr>
              <a:t>教室</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jiàoshì</a:t>
            </a:r>
            <a:r>
              <a:rPr lang="vi-VN" sz="2400" dirty="0">
                <a:latin typeface="Times New Roman" panose="02020603050405020304" pitchFamily="18" charset="0"/>
                <a:ea typeface="KaiTi" panose="02010609060101010101" pitchFamily="49" charset="-122"/>
                <a:cs typeface="Times New Roman" panose="02020603050405020304" pitchFamily="18" charset="0"/>
              </a:rPr>
              <a:t> – phòng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室 có 至</a:t>
            </a:r>
          </a:p>
        </p:txBody>
      </p:sp>
      <p:sp>
        <p:nvSpPr>
          <p:cNvPr id="6151" name="Ví dụ thêm 6151"/>
          <p:cNvSpPr txBox="1"/>
          <p:nvPr/>
        </p:nvSpPr>
        <p:spPr>
          <a:xfrm>
            <a:off x="7200000" y="1648339"/>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我八点到教室。</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bā diǎn dào jiàoshì.</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Tôi 8 giờ đến lớp.</a:t>
            </a:r>
          </a:p>
        </p:txBody>
      </p:sp>
    </p:spTree>
    <p:extLst>
      <p:ext uri="{BB962C8B-B14F-4D97-AF65-F5344CB8AC3E}">
        <p14:creationId xmlns:p14="http://schemas.microsoft.com/office/powerpoint/2010/main" val="21123687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dissolve">
                                      <p:cBhvr>
                                        <p:cTn id="7" dur="500"/>
                                        <p:tgtEl>
                                          <p:spTgt spid="61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1"/>
                                        </p:tgtEl>
                                        <p:attrNameLst>
                                          <p:attrName>style.visibility</p:attrName>
                                        </p:attrNameLst>
                                      </p:cBhvr>
                                      <p:to>
                                        <p:strVal val="visible"/>
                                      </p:to>
                                    </p:set>
                                    <p:animEffect transition="in" filter="wipe(left)">
                                      <p:cBhvr>
                                        <p:cTn id="12" dur="500"/>
                                        <p:tgtEl>
                                          <p:spTgt spid="61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0"/>
                                        </p:tgtEl>
                                        <p:attrNameLst>
                                          <p:attrName>style.visibility</p:attrName>
                                        </p:attrNameLst>
                                      </p:cBhvr>
                                      <p:to>
                                        <p:strVal val="visible"/>
                                      </p:to>
                                    </p:set>
                                    <p:animEffect transition="in" filter="wipe(left)">
                                      <p:cBhvr>
                                        <p:cTn id="17"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8A5D2-DAA0-855F-33AD-CF3DA105EF1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248E698-012A-90FC-6FF9-90C6B084090A}"/>
              </a:ext>
            </a:extLst>
          </p:cNvPr>
          <p:cNvGraphicFramePr>
            <a:graphicFrameLocks noGrp="1"/>
          </p:cNvGraphicFramePr>
          <p:nvPr>
            <p:extLst>
              <p:ext uri="{D42A27DB-BD31-4B8C-83A1-F6EECF244321}">
                <p14:modId xmlns:p14="http://schemas.microsoft.com/office/powerpoint/2010/main" val="1296651"/>
              </p:ext>
            </p:extLst>
          </p:nvPr>
        </p:nvGraphicFramePr>
        <p:xfrm>
          <a:off x="304154" y="277677"/>
          <a:ext cx="11373497" cy="1268004"/>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64109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26906">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到</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cóng…. dào </a:t>
                      </a:r>
                      <a:endParaRPr lang="en-US" sz="3200">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Từ</a:t>
                      </a:r>
                      <a:r>
                        <a:rPr lang="en-US" sz="3200" i="0" kern="1200" dirty="0">
                          <a:solidFill>
                            <a:schemeClr val="dk1"/>
                          </a:solidFill>
                          <a:latin typeface="Times New Roman" panose="02020603050405020304" pitchFamily="18" charset="0"/>
                          <a:ea typeface="+mn-ea"/>
                          <a:cs typeface="Times New Roman" panose="02020603050405020304" pitchFamily="18" charset="0"/>
                        </a:rPr>
                        <a:t>… </a:t>
                      </a:r>
                      <a:r>
                        <a:rPr lang="en-US" sz="3200" i="0" kern="1200" dirty="0" err="1">
                          <a:solidFill>
                            <a:schemeClr val="dk1"/>
                          </a:solidFill>
                          <a:latin typeface="Times New Roman" panose="02020603050405020304" pitchFamily="18" charset="0"/>
                          <a:ea typeface="+mn-ea"/>
                          <a:cs typeface="Times New Roman" panose="02020603050405020304" pitchFamily="18" charset="0"/>
                        </a:rPr>
                        <a:t>đến</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bl>
          </a:graphicData>
        </a:graphic>
      </p:graphicFrame>
      <p:graphicFrame>
        <p:nvGraphicFramePr>
          <p:cNvPr id="2" name="Table 1">
            <a:extLst>
              <a:ext uri="{FF2B5EF4-FFF2-40B4-BE49-F238E27FC236}">
                <a16:creationId xmlns:a16="http://schemas.microsoft.com/office/drawing/2014/main" id="{7C6E85CD-1636-9049-78F0-6BF944AA8725}"/>
              </a:ext>
            </a:extLst>
          </p:cNvPr>
          <p:cNvGraphicFramePr>
            <a:graphicFrameLocks noGrp="1"/>
          </p:cNvGraphicFramePr>
          <p:nvPr>
            <p:extLst>
              <p:ext uri="{D42A27DB-BD31-4B8C-83A1-F6EECF244321}">
                <p14:modId xmlns:p14="http://schemas.microsoft.com/office/powerpoint/2010/main" val="4223273685"/>
              </p:ext>
            </p:extLst>
          </p:nvPr>
        </p:nvGraphicFramePr>
        <p:xfrm>
          <a:off x="7826828" y="1874520"/>
          <a:ext cx="5425573" cy="685800"/>
        </p:xfrm>
        <a:graphic>
          <a:graphicData uri="http://schemas.openxmlformats.org/drawingml/2006/table">
            <a:tbl>
              <a:tblPr>
                <a:tableStyleId>{2D5ABB26-0587-4C30-8999-92F81FD0307C}</a:tableStyleId>
              </a:tblPr>
              <a:tblGrid>
                <a:gridCol w="5425573">
                  <a:extLst>
                    <a:ext uri="{9D8B030D-6E8A-4147-A177-3AD203B41FA5}">
                      <a16:colId xmlns:a16="http://schemas.microsoft.com/office/drawing/2014/main" val="3405505539"/>
                    </a:ext>
                  </a:extLst>
                </a:gridCol>
              </a:tblGrid>
              <a:tr h="685800">
                <a:tc>
                  <a:txBody>
                    <a:bodyPr/>
                    <a:lstStyle/>
                    <a:p>
                      <a:pPr marL="0" algn="ctr" defTabSz="914400" rtl="0" eaLnBrk="1" latinLnBrk="0" hangingPunct="1"/>
                      <a:endPar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43351498"/>
                  </a:ext>
                </a:extLst>
              </a:tr>
            </a:tbl>
          </a:graphicData>
        </a:graphic>
      </p:graphicFrame>
      <p:sp>
        <p:nvSpPr>
          <p:cNvPr id="3" name="TextBox 2">
            <a:extLst>
              <a:ext uri="{FF2B5EF4-FFF2-40B4-BE49-F238E27FC236}">
                <a16:creationId xmlns:a16="http://schemas.microsoft.com/office/drawing/2014/main" id="{CB85F286-F1CC-EE6C-AEB6-100A043CBB24}"/>
              </a:ext>
            </a:extLst>
          </p:cNvPr>
          <p:cNvSpPr txBox="1"/>
          <p:nvPr/>
        </p:nvSpPr>
        <p:spPr>
          <a:xfrm>
            <a:off x="492530" y="1874520"/>
            <a:ext cx="6757356" cy="1384995"/>
          </a:xfrm>
          <a:prstGeom prst="rect">
            <a:avLst/>
          </a:prstGeom>
          <a:noFill/>
        </p:spPr>
        <p:txBody>
          <a:bodyPr wrap="square" rtlCol="0">
            <a:spAutoFit/>
          </a:bodyPr>
          <a:lstStyle/>
          <a:p>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Kết</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sz="2800" dirty="0" err="1">
                <a:solidFill>
                  <a:schemeClr val="tx1">
                    <a:lumMod val="85000"/>
                    <a:lumOff val="15000"/>
                  </a:schemeClr>
                </a:solidFill>
                <a:latin typeface="Times New Roman" panose="02020603050405020304" pitchFamily="18" charset="0"/>
                <a:cs typeface="Times New Roman" panose="02020603050405020304" pitchFamily="18" charset="0"/>
              </a:rPr>
              <a:t>cấu</a:t>
            </a:r>
            <a:r>
              <a:rPr 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zh-CN" altLang="en-US" sz="2800" dirty="0">
                <a:solidFill>
                  <a:schemeClr val="tx1">
                    <a:lumMod val="85000"/>
                    <a:lumOff val="15000"/>
                  </a:schemeClr>
                </a:solidFill>
                <a:latin typeface="Times New Roman" panose="02020603050405020304" pitchFamily="18" charset="0"/>
                <a:cs typeface="Times New Roman" panose="02020603050405020304" pitchFamily="18" charset="0"/>
              </a:rPr>
              <a:t>“ 从</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85000"/>
                    <a:lumOff val="15000"/>
                  </a:schemeClr>
                </a:solidFill>
                <a:latin typeface="Times New Roman" panose="02020603050405020304" pitchFamily="18" charset="0"/>
                <a:cs typeface="Times New Roman" panose="02020603050405020304" pitchFamily="18" charset="0"/>
              </a:rPr>
              <a:t>到</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biểu</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thị</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sự</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liên</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kết</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từ</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ngữ</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chỉ</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thời</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gian</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hay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nơi</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chốn</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đứng</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dirty="0" err="1">
                <a:solidFill>
                  <a:schemeClr val="tx1">
                    <a:lumMod val="85000"/>
                    <a:lumOff val="15000"/>
                  </a:schemeClr>
                </a:solidFill>
                <a:latin typeface="Times New Roman" panose="02020603050405020304" pitchFamily="18" charset="0"/>
                <a:cs typeface="Times New Roman" panose="02020603050405020304" pitchFamily="18" charset="0"/>
              </a:rPr>
              <a:t>trước</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dirty="0" err="1">
                <a:solidFill>
                  <a:schemeClr val="tx1">
                    <a:lumMod val="85000"/>
                    <a:lumOff val="15000"/>
                  </a:schemeClr>
                </a:solidFill>
                <a:latin typeface="Times New Roman" panose="02020603050405020304" pitchFamily="18" charset="0"/>
                <a:cs typeface="Times New Roman" panose="02020603050405020304" pitchFamily="18" charset="0"/>
              </a:rPr>
              <a:t>động</a:t>
            </a:r>
            <a:r>
              <a:rPr lang="en-US" altLang="zh-CN" sz="2800" b="1" u="sng"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dirty="0" err="1">
                <a:solidFill>
                  <a:schemeClr val="tx1">
                    <a:lumMod val="85000"/>
                    <a:lumOff val="15000"/>
                  </a:schemeClr>
                </a:solidFill>
                <a:latin typeface="Times New Roman" panose="02020603050405020304" pitchFamily="18" charset="0"/>
                <a:cs typeface="Times New Roman" panose="02020603050405020304" pitchFamily="18" charset="0"/>
              </a:rPr>
              <a:t>từ</a:t>
            </a:r>
            <a:r>
              <a:rPr lang="en-US" altLang="zh-CN" sz="2800" b="1" u="sng"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dirty="0" err="1">
                <a:solidFill>
                  <a:schemeClr val="tx1">
                    <a:lumMod val="85000"/>
                    <a:lumOff val="15000"/>
                  </a:schemeClr>
                </a:solidFill>
                <a:latin typeface="Times New Roman" panose="02020603050405020304" pitchFamily="18" charset="0"/>
                <a:cs typeface="Times New Roman" panose="02020603050405020304" pitchFamily="18" charset="0"/>
              </a:rPr>
              <a:t>hoặc</a:t>
            </a:r>
            <a:r>
              <a:rPr lang="en-US" altLang="zh-CN" sz="2800" b="1" u="sng"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dirty="0" err="1">
                <a:solidFill>
                  <a:schemeClr val="tx1">
                    <a:lumMod val="85000"/>
                    <a:lumOff val="15000"/>
                  </a:schemeClr>
                </a:solidFill>
                <a:latin typeface="Times New Roman" panose="02020603050405020304" pitchFamily="18" charset="0"/>
                <a:cs typeface="Times New Roman" panose="02020603050405020304" pitchFamily="18" charset="0"/>
              </a:rPr>
              <a:t>tính</a:t>
            </a:r>
            <a:r>
              <a:rPr lang="en-US" altLang="zh-CN" sz="2800" b="1" u="sng"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1" u="sng" dirty="0" err="1">
                <a:solidFill>
                  <a:schemeClr val="tx1">
                    <a:lumMod val="85000"/>
                    <a:lumOff val="15000"/>
                  </a:schemeClr>
                </a:solidFill>
                <a:latin typeface="Times New Roman" panose="02020603050405020304" pitchFamily="18" charset="0"/>
                <a:cs typeface="Times New Roman" panose="02020603050405020304" pitchFamily="18" charset="0"/>
              </a:rPr>
              <a:t>từ</a:t>
            </a:r>
            <a:r>
              <a:rPr lang="en-US" altLang="zh-CN" sz="2800" dirty="0">
                <a:solidFill>
                  <a:schemeClr val="tx1">
                    <a:lumMod val="85000"/>
                    <a:lumOff val="15000"/>
                  </a:schemeClr>
                </a:solidFill>
                <a:latin typeface="Times New Roman" panose="02020603050405020304" pitchFamily="18" charset="0"/>
                <a:cs typeface="Times New Roman" panose="02020603050405020304" pitchFamily="18" charset="0"/>
              </a:rPr>
              <a:t>.</a:t>
            </a:r>
            <a:endParaRPr lang="en-VN" sz="2800" dirty="0"/>
          </a:p>
        </p:txBody>
      </p:sp>
      <p:sp>
        <p:nvSpPr>
          <p:cNvPr id="4" name="TextBox 3">
            <a:extLst>
              <a:ext uri="{FF2B5EF4-FFF2-40B4-BE49-F238E27FC236}">
                <a16:creationId xmlns:a16="http://schemas.microsoft.com/office/drawing/2014/main" id="{DEC4C615-5F7D-0D5C-D80E-2DA02079BC0B}"/>
              </a:ext>
            </a:extLst>
          </p:cNvPr>
          <p:cNvSpPr txBox="1"/>
          <p:nvPr/>
        </p:nvSpPr>
        <p:spPr>
          <a:xfrm>
            <a:off x="2194932" y="3897085"/>
            <a:ext cx="7802136" cy="1754326"/>
          </a:xfrm>
          <a:prstGeom prst="rect">
            <a:avLst/>
          </a:prstGeom>
          <a:noFill/>
        </p:spPr>
        <p:txBody>
          <a:bodyPr wrap="none" rtlCol="0">
            <a:spAutoFit/>
          </a:bodyPr>
          <a:lstStyle/>
          <a:p>
            <a:r>
              <a:rPr lang="zh-CN" altLang="en-US" sz="3600" dirty="0">
                <a:solidFill>
                  <a:schemeClr val="tx1">
                    <a:lumMod val="85000"/>
                    <a:lumOff val="15000"/>
                  </a:schemeClr>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3600" dirty="0">
                <a:latin typeface="Times New Roman" panose="02020603050405020304" pitchFamily="18" charset="0"/>
                <a:ea typeface="KaiTi" panose="02010609060101010101" pitchFamily="49" charset="-122"/>
                <a:cs typeface="Times New Roman" panose="02020603050405020304" pitchFamily="18" charset="0"/>
              </a:rPr>
              <a:t>1</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从</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八点</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到</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十一点半， 我有课。</a:t>
            </a:r>
            <a:br>
              <a:rPr lang="en-US" altLang="zh-CN" sz="3600" dirty="0">
                <a:latin typeface="Times New Roman" panose="02020603050405020304" pitchFamily="18" charset="0"/>
                <a:ea typeface="KaiTi" panose="02010609060101010101" pitchFamily="49" charset="-122"/>
                <a:cs typeface="Times New Roman" panose="02020603050405020304" pitchFamily="18" charset="0"/>
              </a:rPr>
            </a:b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a:t>
            </a:r>
            <a:r>
              <a:rPr lang="en-US" altLang="zh-CN" sz="3600" dirty="0">
                <a:latin typeface="Times New Roman" panose="02020603050405020304" pitchFamily="18" charset="0"/>
                <a:ea typeface="KaiTi" panose="02010609060101010101" pitchFamily="49" charset="-122"/>
                <a:cs typeface="Times New Roman" panose="02020603050405020304" pitchFamily="18" charset="0"/>
              </a:rPr>
              <a:t>2</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从</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星期一</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到</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星期五，我都很忙。</a:t>
            </a:r>
            <a:br>
              <a:rPr lang="en-US" altLang="zh-CN" sz="3600" dirty="0">
                <a:latin typeface="Times New Roman" panose="02020603050405020304" pitchFamily="18" charset="0"/>
                <a:ea typeface="KaiTi" panose="02010609060101010101" pitchFamily="49" charset="-122"/>
                <a:cs typeface="Times New Roman" panose="02020603050405020304" pitchFamily="18" charset="0"/>
              </a:rPr>
            </a:b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a:t>
            </a:r>
            <a:r>
              <a:rPr lang="en-US" altLang="zh-CN" sz="3600" dirty="0">
                <a:latin typeface="Times New Roman" panose="02020603050405020304" pitchFamily="18" charset="0"/>
                <a:ea typeface="KaiTi" panose="02010609060101010101" pitchFamily="49" charset="-122"/>
                <a:cs typeface="Times New Roman" panose="02020603050405020304" pitchFamily="18" charset="0"/>
              </a:rPr>
              <a:t>3</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从</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这儿</a:t>
            </a:r>
            <a:r>
              <a:rPr lang="zh-CN" altLang="en-US" sz="3600" dirty="0">
                <a:solidFill>
                  <a:srgbClr val="00B0F0"/>
                </a:solidFill>
                <a:latin typeface="Times New Roman" panose="02020603050405020304" pitchFamily="18" charset="0"/>
                <a:ea typeface="KaiTi" panose="02010609060101010101" pitchFamily="49" charset="-122"/>
                <a:cs typeface="Times New Roman" panose="02020603050405020304" pitchFamily="18" charset="0"/>
              </a:rPr>
              <a:t>到</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图书馆有</a:t>
            </a:r>
            <a:r>
              <a:rPr lang="en-US" altLang="zh-CN" sz="3600" dirty="0">
                <a:latin typeface="Times New Roman" panose="02020603050405020304" pitchFamily="18" charset="0"/>
                <a:ea typeface="KaiTi" panose="02010609060101010101" pitchFamily="49" charset="-122"/>
                <a:cs typeface="Times New Roman" panose="02020603050405020304" pitchFamily="18" charset="0"/>
              </a:rPr>
              <a:t>1000</a:t>
            </a:r>
            <a:r>
              <a:rPr lang="zh-CN" altLang="en-US" sz="3600" dirty="0">
                <a:latin typeface="Times New Roman" panose="02020603050405020304" pitchFamily="18" charset="0"/>
                <a:ea typeface="KaiTi" panose="02010609060101010101" pitchFamily="49" charset="-122"/>
                <a:cs typeface="Times New Roman" panose="02020603050405020304" pitchFamily="18" charset="0"/>
              </a:rPr>
              <a:t>米。</a:t>
            </a:r>
            <a:endParaRPr lang="en-VN" sz="36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Nhớ lại 6"/>
          <p:cNvSpPr txBox="1"/>
          <p:nvPr/>
        </p:nvSpPr>
        <p:spPr>
          <a:xfrm>
            <a:off x="2300000" y="5750000"/>
            <a:ext cx="7600000" cy="1021755"/>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diǎn</a:t>
            </a:r>
            <a:r>
              <a:rPr lang="vi-VN" sz="2400" dirty="0">
                <a:latin typeface="Times New Roman" panose="02020603050405020304" pitchFamily="18" charset="0"/>
                <a:ea typeface="KaiTi" panose="02010609060101010101" pitchFamily="49" charset="-122"/>
                <a:cs typeface="Times New Roman" panose="02020603050405020304" pitchFamily="18" charset="0"/>
              </a:rPr>
              <a:t> – giờ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ôn cách nói giờ</a:t>
            </a:r>
          </a:p>
        </p:txBody>
      </p:sp>
    </p:spTree>
    <p:extLst>
      <p:ext uri="{BB962C8B-B14F-4D97-AF65-F5344CB8AC3E}">
        <p14:creationId xmlns:p14="http://schemas.microsoft.com/office/powerpoint/2010/main" val="7198971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478522115"/>
              </p:ext>
            </p:extLst>
          </p:nvPr>
        </p:nvGraphicFramePr>
        <p:xfrm>
          <a:off x="304154" y="277677"/>
          <a:ext cx="11373497" cy="1407799"/>
        </p:xfrm>
        <a:graphic>
          <a:graphicData uri="http://schemas.openxmlformats.org/drawingml/2006/table">
            <a:tbl>
              <a:tblPr firstRow="1">
                <a:tableStyleId>{5C22544A-7EE6-4342-B048-85BDC9FD1C3A}</a:tableStyleId>
              </a:tblPr>
              <a:tblGrid>
                <a:gridCol w="1022685">
                  <a:extLst>
                    <a:ext uri="{9D8B030D-6E8A-4147-A177-3AD203B41FA5}">
                      <a16:colId xmlns:a16="http://schemas.microsoft.com/office/drawing/2014/main" val="2897192029"/>
                    </a:ext>
                  </a:extLst>
                </a:gridCol>
                <a:gridCol w="2634189">
                  <a:extLst>
                    <a:ext uri="{9D8B030D-6E8A-4147-A177-3AD203B41FA5}">
                      <a16:colId xmlns:a16="http://schemas.microsoft.com/office/drawing/2014/main" val="2090168382"/>
                    </a:ext>
                  </a:extLst>
                </a:gridCol>
                <a:gridCol w="2603198">
                  <a:extLst>
                    <a:ext uri="{9D8B030D-6E8A-4147-A177-3AD203B41FA5}">
                      <a16:colId xmlns:a16="http://schemas.microsoft.com/office/drawing/2014/main" val="964787021"/>
                    </a:ext>
                  </a:extLst>
                </a:gridCol>
                <a:gridCol w="1812942">
                  <a:extLst>
                    <a:ext uri="{9D8B030D-6E8A-4147-A177-3AD203B41FA5}">
                      <a16:colId xmlns:a16="http://schemas.microsoft.com/office/drawing/2014/main" val="934390766"/>
                    </a:ext>
                  </a:extLst>
                </a:gridCol>
                <a:gridCol w="3300483">
                  <a:extLst>
                    <a:ext uri="{9D8B030D-6E8A-4147-A177-3AD203B41FA5}">
                      <a16:colId xmlns:a16="http://schemas.microsoft.com/office/drawing/2014/main" val="1958298950"/>
                    </a:ext>
                  </a:extLst>
                </a:gridCol>
              </a:tblGrid>
              <a:tr h="798235">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595211">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上班</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shàngbān </a:t>
                      </a:r>
                      <a:endParaRPr lang="en-US" sz="32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动</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Đi làm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296778592"/>
                  </a:ext>
                </a:extLst>
              </a:tr>
            </a:tbl>
          </a:graphicData>
        </a:graphic>
      </p:graphicFrame>
      <p:pic>
        <p:nvPicPr>
          <p:cNvPr id="7170" name="Picture 2" descr="上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7858" y="2278360"/>
            <a:ext cx="1852403" cy="185240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班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04154" y="4727919"/>
            <a:ext cx="1852403" cy="1852404"/>
          </a:xfrm>
          <a:prstGeom prst="rect">
            <a:avLst/>
          </a:prstGeom>
          <a:noFill/>
          <a:extLst>
            <a:ext uri="{909E8E84-426E-40DD-AFC4-6F175D3DCCD1}">
              <a14:hiddenFill xmlns:a14="http://schemas.microsoft.com/office/drawing/2010/main">
                <a:solidFill>
                  <a:srgbClr val="FFFFFF"/>
                </a:solidFill>
              </a14:hiddenFill>
            </a:ext>
          </a:extLst>
        </p:spPr>
      </p:pic>
      <p:sp>
        <p:nvSpPr>
          <p:cNvPr id="7173" name="Chiết tự 7173"/>
          <p:cNvSpPr txBox="1"/>
          <p:nvPr/>
        </p:nvSpPr>
        <p:spPr>
          <a:xfrm>
            <a:off x="2700000" y="1805476"/>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班 = </a:t>
            </a:r>
            <a:r>
              <a:rPr lang="zh-CN" sz="3600" dirty="0">
                <a:latin typeface="KaiTi" panose="02010609060101010101" pitchFamily="49" charset="-122"/>
                <a:ea typeface="KaiTi" panose="02010609060101010101" pitchFamily="49" charset="-122"/>
              </a:rPr>
              <a:t>王</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刂</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王</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王 + Bộ Đao 刂 + 王</a:t>
            </a:r>
          </a:p>
        </p:txBody>
      </p:sp>
      <p:sp>
        <p:nvSpPr>
          <p:cNvPr id="7174" name="Nhớ lại 7174"/>
          <p:cNvSpPr txBox="1"/>
          <p:nvPr/>
        </p:nvSpPr>
        <p:spPr>
          <a:xfrm>
            <a:off x="7200000" y="1805476"/>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上课</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shàngkè</a:t>
            </a:r>
            <a:r>
              <a:rPr lang="vi-VN" sz="2400" dirty="0">
                <a:latin typeface="Times New Roman" panose="02020603050405020304" pitchFamily="18" charset="0"/>
                <a:ea typeface="KaiTi" panose="02010609060101010101" pitchFamily="49" charset="-122"/>
                <a:cs typeface="Times New Roman" panose="02020603050405020304" pitchFamily="18" charset="0"/>
              </a:rPr>
              <a:t> – lên lớp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上课 / 上班</a:t>
            </a:r>
          </a:p>
          <a:p>
            <a:pPr>
              <a:spcBef>
                <a:spcPts val="200"/>
              </a:spcBef>
            </a:pPr>
            <a:r>
              <a:rPr lang="zh-CN" sz="2800" dirty="0">
                <a:solidFill>
                  <a:srgbClr val="C00000"/>
                </a:solidFill>
                <a:latin typeface="KaiTi" panose="02010609060101010101" pitchFamily="49" charset="-122"/>
                <a:ea typeface="KaiTi" panose="02010609060101010101" pitchFamily="49" charset="-122"/>
              </a:rPr>
              <a:t>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bān</a:t>
            </a:r>
            <a:r>
              <a:rPr lang="vi-VN" sz="2400" dirty="0">
                <a:latin typeface="Times New Roman" panose="02020603050405020304" pitchFamily="18" charset="0"/>
                <a:ea typeface="KaiTi" panose="02010609060101010101" pitchFamily="49" charset="-122"/>
                <a:cs typeface="Times New Roman" panose="02020603050405020304" pitchFamily="18" charset="0"/>
              </a:rPr>
              <a:t> – lớp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我们班有十六个学生</a:t>
            </a:r>
          </a:p>
          <a:p>
            <a:pPr>
              <a:spcBef>
                <a:spcPts val="200"/>
              </a:spcBef>
            </a:pPr>
            <a:r>
              <a:rPr lang="zh-CN" sz="2800" dirty="0">
                <a:solidFill>
                  <a:srgbClr val="C00000"/>
                </a:solidFill>
                <a:latin typeface="KaiTi" panose="02010609060101010101" pitchFamily="49" charset="-122"/>
                <a:ea typeface="KaiTi" panose="02010609060101010101" pitchFamily="49" charset="-122"/>
              </a:rPr>
              <a:t>下课</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xiàkè</a:t>
            </a:r>
            <a:r>
              <a:rPr lang="vi-VN" sz="2400" dirty="0">
                <a:latin typeface="Times New Roman" panose="02020603050405020304" pitchFamily="18" charset="0"/>
                <a:ea typeface="KaiTi" panose="02010609060101010101" pitchFamily="49" charset="-122"/>
                <a:cs typeface="Times New Roman" panose="02020603050405020304" pitchFamily="18" charset="0"/>
              </a:rPr>
              <a:t> – tan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trái nghĩa 上课</a:t>
            </a:r>
          </a:p>
        </p:txBody>
      </p:sp>
      <p:sp>
        <p:nvSpPr>
          <p:cNvPr id="7175" name="Ví dụ thêm 7175"/>
          <p:cNvSpPr txBox="1"/>
          <p:nvPr/>
        </p:nvSpPr>
        <p:spPr>
          <a:xfrm>
            <a:off x="2700000" y="348547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我爸爸八点上班。</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bàba bā diǎn shàngbān.</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Bố tôi 8 giờ đi làm.</a:t>
            </a:r>
          </a:p>
        </p:txBody>
      </p:sp>
    </p:spTree>
    <p:extLst>
      <p:ext uri="{BB962C8B-B14F-4D97-AF65-F5344CB8AC3E}">
        <p14:creationId xmlns:p14="http://schemas.microsoft.com/office/powerpoint/2010/main" val="11134862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dissolve">
                                      <p:cBhvr>
                                        <p:cTn id="7" dur="500"/>
                                        <p:tgtEl>
                                          <p:spTgt spid="71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5"/>
                                        </p:tgtEl>
                                        <p:attrNameLst>
                                          <p:attrName>style.visibility</p:attrName>
                                        </p:attrNameLst>
                                      </p:cBhvr>
                                      <p:to>
                                        <p:strVal val="visible"/>
                                      </p:to>
                                    </p:set>
                                    <p:animEffect transition="in" filter="wipe(left)">
                                      <p:cBhvr>
                                        <p:cTn id="12" dur="500"/>
                                        <p:tgtEl>
                                          <p:spTgt spid="71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4"/>
                                        </p:tgtEl>
                                        <p:attrNameLst>
                                          <p:attrName>style.visibility</p:attrName>
                                        </p:attrNameLst>
                                      </p:cBhvr>
                                      <p:to>
                                        <p:strVal val="visible"/>
                                      </p:to>
                                    </p:set>
                                    <p:animEffect transition="in" filter="wipe(left)">
                                      <p:cBhvr>
                                        <p:cTn id="17"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88902854"/>
              </p:ext>
            </p:extLst>
          </p:nvPr>
        </p:nvGraphicFramePr>
        <p:xfrm>
          <a:off x="387460" y="309966"/>
          <a:ext cx="11344757" cy="1472339"/>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41185">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周末</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zhōumò </a:t>
                      </a:r>
                      <a:endParaRPr kumimoji="0" lang="en-US" sz="32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名</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Cuối tuần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pic>
        <p:nvPicPr>
          <p:cNvPr id="8194" name="Picture 2" descr="周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93507" y="1982025"/>
            <a:ext cx="1893289" cy="189329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末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93507" y="4075035"/>
            <a:ext cx="1915779" cy="2020965"/>
          </a:xfrm>
          <a:prstGeom prst="rect">
            <a:avLst/>
          </a:prstGeom>
          <a:noFill/>
          <a:extLst>
            <a:ext uri="{909E8E84-426E-40DD-AFC4-6F175D3DCCD1}">
              <a14:hiddenFill xmlns:a14="http://schemas.microsoft.com/office/drawing/2010/main">
                <a:solidFill>
                  <a:srgbClr val="FFFFFF"/>
                </a:solidFill>
              </a14:hiddenFill>
            </a:ext>
          </a:extLst>
        </p:spPr>
      </p:pic>
      <p:sp>
        <p:nvSpPr>
          <p:cNvPr id="8197" name="Chiết tự 8197"/>
          <p:cNvSpPr txBox="1"/>
          <p:nvPr/>
        </p:nvSpPr>
        <p:spPr>
          <a:xfrm>
            <a:off x="2700000" y="1902305"/>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末 = </a:t>
            </a:r>
            <a:r>
              <a:rPr lang="zh-CN" sz="3600" dirty="0">
                <a:solidFill>
                  <a:srgbClr val="C00000"/>
                </a:solidFill>
                <a:latin typeface="KaiTi" panose="02010609060101010101" pitchFamily="49" charset="-122"/>
                <a:ea typeface="KaiTi" panose="02010609060101010101" pitchFamily="49" charset="-122"/>
              </a:rPr>
              <a:t>木</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一</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Mộc 木 + 一: ngọn cây → cuối</a:t>
            </a:r>
          </a:p>
        </p:txBody>
      </p:sp>
      <p:sp>
        <p:nvSpPr>
          <p:cNvPr id="8198" name="Nhớ lại 8198"/>
          <p:cNvSpPr txBox="1"/>
          <p:nvPr/>
        </p:nvSpPr>
        <p:spPr>
          <a:xfrm>
            <a:off x="2700000" y="3582305"/>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星期</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xīngqī</a:t>
            </a:r>
            <a:r>
              <a:rPr lang="vi-VN" sz="2400" dirty="0">
                <a:latin typeface="Times New Roman" panose="02020603050405020304" pitchFamily="18" charset="0"/>
                <a:ea typeface="KaiTi" panose="02010609060101010101" pitchFamily="49" charset="-122"/>
                <a:cs typeface="Times New Roman" panose="02020603050405020304" pitchFamily="18" charset="0"/>
              </a:rPr>
              <a:t> – tuần, thứ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周 = 星期</a:t>
            </a:r>
          </a:p>
          <a:p>
            <a:pPr>
              <a:spcBef>
                <a:spcPts val="200"/>
              </a:spcBef>
            </a:pPr>
            <a:r>
              <a:rPr lang="zh-CN" sz="2800" dirty="0">
                <a:solidFill>
                  <a:srgbClr val="C00000"/>
                </a:solidFill>
                <a:latin typeface="KaiTi" panose="02010609060101010101" pitchFamily="49" charset="-122"/>
                <a:ea typeface="KaiTi" panose="02010609060101010101" pitchFamily="49" charset="-122"/>
              </a:rPr>
              <a:t>树</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shù</a:t>
            </a:r>
            <a:r>
              <a:rPr lang="vi-VN" sz="2400" dirty="0">
                <a:latin typeface="Times New Roman" panose="02020603050405020304" pitchFamily="18" charset="0"/>
                <a:ea typeface="KaiTi" panose="02010609060101010101" pitchFamily="49" charset="-122"/>
                <a:cs typeface="Times New Roman" panose="02020603050405020304" pitchFamily="18" charset="0"/>
              </a:rPr>
              <a:t> – cây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木</a:t>
            </a:r>
          </a:p>
        </p:txBody>
      </p:sp>
      <p:sp>
        <p:nvSpPr>
          <p:cNvPr id="8199" name="Ví dụ thêm 8199"/>
          <p:cNvSpPr txBox="1"/>
          <p:nvPr/>
        </p:nvSpPr>
        <p:spPr>
          <a:xfrm>
            <a:off x="7200000" y="1902305"/>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周末你忙不忙？</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Zhōumò nǐ máng bu máng?</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Cuối tuần bạn có bận không?</a:t>
            </a:r>
          </a:p>
        </p:txBody>
      </p:sp>
    </p:spTree>
    <p:extLst>
      <p:ext uri="{BB962C8B-B14F-4D97-AF65-F5344CB8AC3E}">
        <p14:creationId xmlns:p14="http://schemas.microsoft.com/office/powerpoint/2010/main" val="1084012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dissolve">
                                      <p:cBhvr>
                                        <p:cTn id="7" dur="5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199"/>
                                        </p:tgtEl>
                                        <p:attrNameLst>
                                          <p:attrName>style.visibility</p:attrName>
                                        </p:attrNameLst>
                                      </p:cBhvr>
                                      <p:to>
                                        <p:strVal val="visible"/>
                                      </p:to>
                                    </p:set>
                                    <p:animEffect transition="in" filter="wipe(left)">
                                      <p:cBhvr>
                                        <p:cTn id="12" dur="500"/>
                                        <p:tgtEl>
                                          <p:spTgt spid="81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198"/>
                                        </p:tgtEl>
                                        <p:attrNameLst>
                                          <p:attrName>style.visibility</p:attrName>
                                        </p:attrNameLst>
                                      </p:cBhvr>
                                      <p:to>
                                        <p:strVal val="visible"/>
                                      </p:to>
                                    </p:set>
                                    <p:animEffect transition="in" filter="wipe(left)">
                                      <p:cBhvr>
                                        <p:cTn id="17"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83443423"/>
              </p:ext>
            </p:extLst>
          </p:nvPr>
        </p:nvGraphicFramePr>
        <p:xfrm>
          <a:off x="387460" y="309966"/>
          <a:ext cx="11344757" cy="1675998"/>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Tiếng</a:t>
                      </a:r>
                      <a:r>
                        <a:rPr lang="en-US" sz="3200" i="0" kern="1200" dirty="0">
                          <a:solidFill>
                            <a:schemeClr val="dk1"/>
                          </a:solidFill>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925619">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平时</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píngshí </a:t>
                      </a:r>
                      <a:endParaRPr kumimoji="0" lang="en-US" sz="32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名</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dirty="0">
                          <a:solidFill>
                            <a:schemeClr val="dk1"/>
                          </a:solidFill>
                          <a:latin typeface="Times New Roman" panose="02020603050405020304" pitchFamily="18" charset="0"/>
                          <a:ea typeface="+mn-ea"/>
                          <a:cs typeface="Times New Roman" panose="02020603050405020304" pitchFamily="18" charset="0"/>
                        </a:rPr>
                        <a:t>Bình </a:t>
                      </a:r>
                      <a:r>
                        <a:rPr lang="en-US" sz="2800" i="0" kern="1200" dirty="0" err="1">
                          <a:solidFill>
                            <a:schemeClr val="dk1"/>
                          </a:solidFill>
                          <a:latin typeface="Times New Roman" panose="02020603050405020304" pitchFamily="18" charset="0"/>
                          <a:ea typeface="+mn-ea"/>
                          <a:cs typeface="Times New Roman" panose="02020603050405020304" pitchFamily="18" charset="0"/>
                        </a:rPr>
                        <a:t>thường</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br>
                        <a:rPr lang="vi-VN" sz="2800" i="0" kern="1200" dirty="0">
                          <a:solidFill>
                            <a:schemeClr val="dk1"/>
                          </a:solidFill>
                          <a:latin typeface="Times New Roman" panose="02020603050405020304" pitchFamily="18" charset="0"/>
                          <a:ea typeface="+mn-ea"/>
                          <a:cs typeface="Times New Roman" panose="02020603050405020304" pitchFamily="18" charset="0"/>
                        </a:rPr>
                      </a:br>
                      <a:r>
                        <a:rPr lang="en-US" sz="2800" i="0" kern="1200" dirty="0" err="1">
                          <a:solidFill>
                            <a:schemeClr val="dk1"/>
                          </a:solidFill>
                          <a:latin typeface="Times New Roman" panose="02020603050405020304" pitchFamily="18" charset="0"/>
                          <a:ea typeface="+mn-ea"/>
                          <a:cs typeface="Times New Roman" panose="02020603050405020304" pitchFamily="18" charset="0"/>
                        </a:rPr>
                        <a:t>thường</a:t>
                      </a:r>
                      <a:r>
                        <a:rPr lang="en-US" sz="2800" i="0" kern="1200" dirty="0">
                          <a:solidFill>
                            <a:schemeClr val="dk1"/>
                          </a:solidFill>
                          <a:latin typeface="Times New Roman" panose="02020603050405020304" pitchFamily="18" charset="0"/>
                          <a:ea typeface="+mn-ea"/>
                          <a:cs typeface="Times New Roman" panose="02020603050405020304" pitchFamily="18" charset="0"/>
                        </a:rPr>
                        <a:t> </a:t>
                      </a:r>
                      <a:r>
                        <a:rPr lang="en-US" sz="2800" i="0" kern="1200" dirty="0" err="1">
                          <a:solidFill>
                            <a:schemeClr val="dk1"/>
                          </a:solidFill>
                          <a:latin typeface="Times New Roman" panose="02020603050405020304" pitchFamily="18" charset="0"/>
                          <a:ea typeface="+mn-ea"/>
                          <a:cs typeface="Times New Roman" panose="02020603050405020304" pitchFamily="18" charset="0"/>
                        </a:rPr>
                        <a:t>nhật</a:t>
                      </a:r>
                      <a:endParaRPr lang="en-US" sz="28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61815694"/>
                  </a:ext>
                </a:extLst>
              </a:tr>
            </a:tbl>
          </a:graphicData>
        </a:graphic>
      </p:graphicFrame>
      <p:pic>
        <p:nvPicPr>
          <p:cNvPr id="9218" name="Picture 2" descr="平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7460" y="2130845"/>
            <a:ext cx="1831555" cy="183155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时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87460" y="4629797"/>
            <a:ext cx="1831556" cy="1831557"/>
          </a:xfrm>
          <a:prstGeom prst="rect">
            <a:avLst/>
          </a:prstGeom>
          <a:noFill/>
          <a:extLst>
            <a:ext uri="{909E8E84-426E-40DD-AFC4-6F175D3DCCD1}">
              <a14:hiddenFill xmlns:a14="http://schemas.microsoft.com/office/drawing/2010/main">
                <a:solidFill>
                  <a:srgbClr val="FFFFFF"/>
                </a:solidFill>
              </a14:hiddenFill>
            </a:ext>
          </a:extLst>
        </p:spPr>
      </p:pic>
      <p:sp>
        <p:nvSpPr>
          <p:cNvPr id="9221" name="Chiết tự 9221"/>
          <p:cNvSpPr txBox="1"/>
          <p:nvPr/>
        </p:nvSpPr>
        <p:spPr>
          <a:xfrm>
            <a:off x="2700000" y="2105964"/>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时 = </a:t>
            </a:r>
            <a:r>
              <a:rPr lang="zh-CN" sz="3600" dirty="0">
                <a:solidFill>
                  <a:srgbClr val="C00000"/>
                </a:solidFill>
                <a:latin typeface="KaiTi" panose="02010609060101010101" pitchFamily="49" charset="-122"/>
                <a:ea typeface="KaiTi" panose="02010609060101010101" pitchFamily="49" charset="-122"/>
              </a:rPr>
              <a:t>日</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寸</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Nhật 日 (mặt trời) + 寸: thời gian</a:t>
            </a:r>
          </a:p>
        </p:txBody>
      </p:sp>
      <p:sp>
        <p:nvSpPr>
          <p:cNvPr id="9222" name="Nhớ lại 9222"/>
          <p:cNvSpPr txBox="1"/>
          <p:nvPr/>
        </p:nvSpPr>
        <p:spPr>
          <a:xfrm>
            <a:off x="2700000" y="4145964"/>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时间</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shíjiān</a:t>
            </a:r>
            <a:r>
              <a:rPr lang="vi-VN" sz="2400" dirty="0">
                <a:latin typeface="Times New Roman" panose="02020603050405020304" pitchFamily="18" charset="0"/>
                <a:ea typeface="KaiTi" panose="02010609060101010101" pitchFamily="49" charset="-122"/>
                <a:cs typeface="Times New Roman" panose="02020603050405020304" pitchFamily="18" charset="0"/>
              </a:rPr>
              <a:t> – thời gian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时</a:t>
            </a:r>
          </a:p>
          <a:p>
            <a:pPr>
              <a:spcBef>
                <a:spcPts val="200"/>
              </a:spcBef>
            </a:pPr>
            <a:r>
              <a:rPr lang="zh-CN" sz="2800" dirty="0">
                <a:solidFill>
                  <a:srgbClr val="C00000"/>
                </a:solidFill>
                <a:latin typeface="KaiTi" panose="02010609060101010101" pitchFamily="49" charset="-122"/>
                <a:ea typeface="KaiTi" panose="02010609060101010101" pitchFamily="49" charset="-122"/>
              </a:rPr>
              <a:t>有时候</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yǒu shíhou</a:t>
            </a:r>
            <a:r>
              <a:rPr lang="vi-VN" sz="2400" dirty="0">
                <a:latin typeface="Times New Roman" panose="02020603050405020304" pitchFamily="18" charset="0"/>
                <a:ea typeface="KaiTi" panose="02010609060101010101" pitchFamily="49" charset="-122"/>
                <a:cs typeface="Times New Roman" panose="02020603050405020304" pitchFamily="18" charset="0"/>
              </a:rPr>
              <a:t> – có lúc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时</a:t>
            </a:r>
          </a:p>
        </p:txBody>
      </p:sp>
      <p:sp>
        <p:nvSpPr>
          <p:cNvPr id="9223" name="Ví dụ thêm 9223"/>
          <p:cNvSpPr txBox="1"/>
          <p:nvPr/>
        </p:nvSpPr>
        <p:spPr>
          <a:xfrm>
            <a:off x="7200000" y="2105964"/>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平时我七点起床。</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Píngshí wǒ qī diǎn qǐchuáng.</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Bình thường tôi 7 giờ dậy.</a:t>
            </a:r>
          </a:p>
        </p:txBody>
      </p:sp>
    </p:spTree>
    <p:extLst>
      <p:ext uri="{BB962C8B-B14F-4D97-AF65-F5344CB8AC3E}">
        <p14:creationId xmlns:p14="http://schemas.microsoft.com/office/powerpoint/2010/main" val="18287769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dissolve">
                                      <p:cBhvr>
                                        <p:cTn id="7" dur="500"/>
                                        <p:tgtEl>
                                          <p:spTgt spid="92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wipe(left)">
                                      <p:cBhvr>
                                        <p:cTn id="17"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F5DDB-9045-D17B-83D4-DFE7ADABB568}"/>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9B3AF72-D6F1-7B0E-10F3-73508CF16B12}"/>
              </a:ext>
            </a:extLst>
          </p:cNvPr>
          <p:cNvGraphicFramePr>
            <a:graphicFrameLocks noGrp="1"/>
          </p:cNvGraphicFramePr>
          <p:nvPr>
            <p:extLst>
              <p:ext uri="{D42A27DB-BD31-4B8C-83A1-F6EECF244321}">
                <p14:modId xmlns:p14="http://schemas.microsoft.com/office/powerpoint/2010/main" val="3435531961"/>
              </p:ext>
            </p:extLst>
          </p:nvPr>
        </p:nvGraphicFramePr>
        <p:xfrm>
          <a:off x="426016" y="766810"/>
          <a:ext cx="10862470" cy="1026692"/>
        </p:xfrm>
        <a:graphic>
          <a:graphicData uri="http://schemas.openxmlformats.org/drawingml/2006/table">
            <a:tbl>
              <a:tblPr>
                <a:tableStyleId>{2D5ABB26-0587-4C30-8999-92F81FD0307C}</a:tableStyleId>
              </a:tblPr>
              <a:tblGrid>
                <a:gridCol w="10862470">
                  <a:extLst>
                    <a:ext uri="{9D8B030D-6E8A-4147-A177-3AD203B41FA5}">
                      <a16:colId xmlns:a16="http://schemas.microsoft.com/office/drawing/2014/main" val="1061202752"/>
                    </a:ext>
                  </a:extLst>
                </a:gridCol>
              </a:tblGrid>
              <a:tr h="1026692">
                <a:tc>
                  <a:txBody>
                    <a:bodyPr/>
                    <a:lstStyle/>
                    <a:p>
                      <a:pPr marL="0" algn="l" defTabSz="914400" rtl="0" eaLnBrk="1" latinLnBrk="0" hangingPunct="1">
                        <a:lnSpc>
                          <a:spcPct val="100000"/>
                        </a:lnSpc>
                      </a:pP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Trong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một</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câu</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khi</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đồng</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thời</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có</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trạng</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ngữ</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diễn</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tả</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thời</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C00000"/>
                          </a:solidFill>
                          <a:latin typeface="Times New Roman" panose="02020603050405020304" pitchFamily="18" charset="0"/>
                          <a:ea typeface="+mn-ea"/>
                          <a:cs typeface="Times New Roman" panose="02020603050405020304" pitchFamily="18" charset="0"/>
                        </a:rPr>
                        <a:t>gian</a:t>
                      </a:r>
                      <a:r>
                        <a:rPr lang="en-US" sz="2600" b="1" kern="1200" baseline="0" dirty="0">
                          <a:solidFill>
                            <a:srgbClr val="C00000"/>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và</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0070C0"/>
                          </a:solidFill>
                          <a:latin typeface="Times New Roman" panose="02020603050405020304" pitchFamily="18" charset="0"/>
                          <a:ea typeface="+mn-ea"/>
                          <a:cs typeface="Times New Roman" panose="02020603050405020304" pitchFamily="18" charset="0"/>
                        </a:rPr>
                        <a:t>trạng</a:t>
                      </a:r>
                      <a:r>
                        <a:rPr lang="en-US" sz="2600" b="1" kern="1200" baseline="0" dirty="0">
                          <a:solidFill>
                            <a:srgbClr val="0070C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0070C0"/>
                          </a:solidFill>
                          <a:latin typeface="Times New Roman" panose="02020603050405020304" pitchFamily="18" charset="0"/>
                          <a:ea typeface="+mn-ea"/>
                          <a:cs typeface="Times New Roman" panose="02020603050405020304" pitchFamily="18" charset="0"/>
                        </a:rPr>
                        <a:t>ngữ</a:t>
                      </a:r>
                      <a:r>
                        <a:rPr lang="en-US" sz="2600" b="1" kern="1200" baseline="0" dirty="0">
                          <a:solidFill>
                            <a:srgbClr val="0070C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0070C0"/>
                          </a:solidFill>
                          <a:latin typeface="Times New Roman" panose="02020603050405020304" pitchFamily="18" charset="0"/>
                          <a:ea typeface="+mn-ea"/>
                          <a:cs typeface="Times New Roman" panose="02020603050405020304" pitchFamily="18" charset="0"/>
                        </a:rPr>
                        <a:t>chỉ</a:t>
                      </a:r>
                      <a:r>
                        <a:rPr lang="en-US" sz="2600" b="1" kern="1200" baseline="0" dirty="0">
                          <a:solidFill>
                            <a:srgbClr val="0070C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0070C0"/>
                          </a:solidFill>
                          <a:latin typeface="Times New Roman" panose="02020603050405020304" pitchFamily="18" charset="0"/>
                          <a:ea typeface="+mn-ea"/>
                          <a:cs typeface="Times New Roman" panose="02020603050405020304" pitchFamily="18" charset="0"/>
                        </a:rPr>
                        <a:t>địa</a:t>
                      </a:r>
                      <a:r>
                        <a:rPr lang="en-US" sz="2600" b="1" kern="1200" baseline="0" dirty="0">
                          <a:solidFill>
                            <a:srgbClr val="0070C0"/>
                          </a:solidFill>
                          <a:latin typeface="Times New Roman" panose="02020603050405020304" pitchFamily="18" charset="0"/>
                          <a:ea typeface="+mn-ea"/>
                          <a:cs typeface="Times New Roman" panose="02020603050405020304" pitchFamily="18" charset="0"/>
                        </a:rPr>
                        <a:t> </a:t>
                      </a:r>
                      <a:r>
                        <a:rPr lang="en-US" sz="2600" b="1" kern="1200" baseline="0" dirty="0" err="1">
                          <a:solidFill>
                            <a:srgbClr val="0070C0"/>
                          </a:solidFill>
                          <a:latin typeface="Times New Roman" panose="02020603050405020304" pitchFamily="18" charset="0"/>
                          <a:ea typeface="+mn-ea"/>
                          <a:cs typeface="Times New Roman" panose="02020603050405020304" pitchFamily="18" charset="0"/>
                        </a:rPr>
                        <a:t>điểm</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thì</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trạng</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ngữ</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chỉ</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thời</a:t>
                      </a:r>
                      <a:r>
                        <a:rPr lang="en-US" sz="2600" b="1"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gian</a:t>
                      </a:r>
                      <a:r>
                        <a:rPr lang="en-US" sz="2600" b="1"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i="1" u="sng"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đứng</a:t>
                      </a:r>
                      <a:r>
                        <a:rPr lang="en-US" sz="2600" i="1" u="sng"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i="1" u="sng"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trước</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trạng</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ngữ</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chỉ</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địa</a:t>
                      </a:r>
                      <a:r>
                        <a:rPr lang="en-US" sz="2600" b="1"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b="1"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điểm</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a:t>
                      </a:r>
                    </a:p>
                  </a:txBody>
                  <a:tcPr/>
                </a:tc>
                <a:extLst>
                  <a:ext uri="{0D108BD9-81ED-4DB2-BD59-A6C34878D82A}">
                    <a16:rowId xmlns:a16="http://schemas.microsoft.com/office/drawing/2014/main" val="3778424746"/>
                  </a:ext>
                </a:extLst>
              </a:tr>
            </a:tbl>
          </a:graphicData>
        </a:graphic>
      </p:graphicFrame>
      <p:graphicFrame>
        <p:nvGraphicFramePr>
          <p:cNvPr id="2" name="Table 1">
            <a:extLst>
              <a:ext uri="{FF2B5EF4-FFF2-40B4-BE49-F238E27FC236}">
                <a16:creationId xmlns:a16="http://schemas.microsoft.com/office/drawing/2014/main" id="{F8ABAA93-5469-45CE-F1E4-6E43A41A1035}"/>
              </a:ext>
            </a:extLst>
          </p:cNvPr>
          <p:cNvGraphicFramePr>
            <a:graphicFrameLocks noGrp="1"/>
          </p:cNvGraphicFramePr>
          <p:nvPr/>
        </p:nvGraphicFramePr>
        <p:xfrm>
          <a:off x="1909012" y="1925052"/>
          <a:ext cx="8550440" cy="1889760"/>
        </p:xfrm>
        <a:graphic>
          <a:graphicData uri="http://schemas.openxmlformats.org/drawingml/2006/table">
            <a:tbl>
              <a:tblPr>
                <a:tableStyleId>{5940675A-B579-460E-94D1-54222C63F5DA}</a:tableStyleId>
              </a:tblPr>
              <a:tblGrid>
                <a:gridCol w="1350993">
                  <a:extLst>
                    <a:ext uri="{9D8B030D-6E8A-4147-A177-3AD203B41FA5}">
                      <a16:colId xmlns:a16="http://schemas.microsoft.com/office/drawing/2014/main" val="1355618285"/>
                    </a:ext>
                  </a:extLst>
                </a:gridCol>
                <a:gridCol w="1883203">
                  <a:extLst>
                    <a:ext uri="{9D8B030D-6E8A-4147-A177-3AD203B41FA5}">
                      <a16:colId xmlns:a16="http://schemas.microsoft.com/office/drawing/2014/main" val="1340096670"/>
                    </a:ext>
                  </a:extLst>
                </a:gridCol>
                <a:gridCol w="2082048">
                  <a:extLst>
                    <a:ext uri="{9D8B030D-6E8A-4147-A177-3AD203B41FA5}">
                      <a16:colId xmlns:a16="http://schemas.microsoft.com/office/drawing/2014/main" val="1717140651"/>
                    </a:ext>
                  </a:extLst>
                </a:gridCol>
                <a:gridCol w="1617098">
                  <a:extLst>
                    <a:ext uri="{9D8B030D-6E8A-4147-A177-3AD203B41FA5}">
                      <a16:colId xmlns:a16="http://schemas.microsoft.com/office/drawing/2014/main" val="3720164861"/>
                    </a:ext>
                  </a:extLst>
                </a:gridCol>
                <a:gridCol w="1617098">
                  <a:extLst>
                    <a:ext uri="{9D8B030D-6E8A-4147-A177-3AD203B41FA5}">
                      <a16:colId xmlns:a16="http://schemas.microsoft.com/office/drawing/2014/main" val="3091592653"/>
                    </a:ext>
                  </a:extLst>
                </a:gridCol>
              </a:tblGrid>
              <a:tr h="407521">
                <a:tc rowSpan="2">
                  <a:txBody>
                    <a:bodyPr/>
                    <a:lstStyle/>
                    <a:p>
                      <a:pPr algn="ctr"/>
                      <a:r>
                        <a:rPr lang="en-US" sz="2400" b="0">
                          <a:latin typeface="Times New Roman" panose="02020603050405020304" pitchFamily="18" charset="0"/>
                          <a:cs typeface="Times New Roman" panose="02020603050405020304" pitchFamily="18" charset="0"/>
                        </a:rPr>
                        <a:t>S</a:t>
                      </a:r>
                    </a:p>
                  </a:txBody>
                  <a:tcPr anchor="ctr"/>
                </a:tc>
                <a:tc gridSpan="4">
                  <a:txBody>
                    <a:bodyPr/>
                    <a:lstStyle/>
                    <a:p>
                      <a:pPr algn="ctr"/>
                      <a:r>
                        <a:rPr lang="en-US" sz="2400" b="0">
                          <a:latin typeface="Times New Roman" panose="02020603050405020304" pitchFamily="18" charset="0"/>
                          <a:cs typeface="Times New Roman" panose="02020603050405020304" pitchFamily="18" charset="0"/>
                        </a:rPr>
                        <a:t>P</a:t>
                      </a:r>
                    </a:p>
                  </a:txBody>
                  <a:tcPr anchor="ct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8733589"/>
                  </a:ext>
                </a:extLst>
              </a:tr>
              <a:tr h="407521">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Time</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a:latin typeface="Times New Roman" panose="02020603050405020304" pitchFamily="18" charset="0"/>
                          <a:cs typeface="Times New Roman" panose="02020603050405020304" pitchFamily="18" charset="0"/>
                        </a:rPr>
                        <a:t>在</a:t>
                      </a:r>
                      <a:r>
                        <a:rPr lang="en-US" altLang="zh-CN" sz="2400" b="0">
                          <a:latin typeface="Times New Roman" panose="02020603050405020304" pitchFamily="18" charset="0"/>
                          <a:cs typeface="Times New Roman" panose="02020603050405020304" pitchFamily="18" charset="0"/>
                        </a:rPr>
                        <a:t>+</a:t>
                      </a:r>
                      <a:r>
                        <a:rPr lang="en-US" sz="2400" b="0">
                          <a:latin typeface="Times New Roman" panose="02020603050405020304" pitchFamily="18" charset="0"/>
                          <a:cs typeface="Times New Roman" panose="02020603050405020304" pitchFamily="18" charset="0"/>
                        </a:rPr>
                        <a:t>L</a:t>
                      </a:r>
                      <a:r>
                        <a:rPr lang="en-US" altLang="zh-CN" sz="2400" b="0">
                          <a:latin typeface="Times New Roman" panose="02020603050405020304" pitchFamily="18" charset="0"/>
                          <a:cs typeface="Times New Roman" panose="02020603050405020304" pitchFamily="18" charset="0"/>
                        </a:rPr>
                        <a:t>ocation</a:t>
                      </a:r>
                      <a:endParaRPr lang="en-US" sz="2400" b="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latin typeface="Times New Roman" panose="02020603050405020304" pitchFamily="18" charset="0"/>
                          <a:cs typeface="Times New Roman" panose="02020603050405020304" pitchFamily="18" charset="0"/>
                        </a:rPr>
                        <a:t>V</a:t>
                      </a:r>
                    </a:p>
                  </a:txBody>
                  <a:tcPr anchor="ctr"/>
                </a:tc>
                <a:tc>
                  <a:txBody>
                    <a:bodyPr/>
                    <a:lstStyle/>
                    <a:p>
                      <a:pPr algn="ctr"/>
                      <a:r>
                        <a:rPr lang="en-US" sz="2400" b="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818679587"/>
                  </a:ext>
                </a:extLst>
              </a:tr>
              <a:tr h="434690">
                <a:tc>
                  <a:txBody>
                    <a:bodyPr/>
                    <a:lstStyle/>
                    <a:p>
                      <a:pPr algn="ctr"/>
                      <a:r>
                        <a:rPr lang="zh-CN" altLang="en-US" sz="2600" b="0">
                          <a:latin typeface="KaiTi" panose="02010609060101010101" pitchFamily="49" charset="-122"/>
                          <a:ea typeface="KaiTi" panose="02010609060101010101" pitchFamily="49" charset="-122"/>
                          <a:cs typeface="Times New Roman" panose="02020603050405020304" pitchFamily="18" charset="0"/>
                        </a:rPr>
                        <a:t>我</a:t>
                      </a:r>
                      <a:endParaRPr lang="en-US" sz="2600" b="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rPr>
                        <a:t>昨天上午</a:t>
                      </a:r>
                      <a:endParaRPr 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在图书馆</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看</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书。</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3531788690"/>
                  </a:ext>
                </a:extLst>
              </a:tr>
              <a:tr h="434690">
                <a:tc>
                  <a:txBody>
                    <a:bodyPr/>
                    <a:lstStyle/>
                    <a:p>
                      <a:pPr algn="ctr"/>
                      <a:r>
                        <a:rPr lang="zh-CN" altLang="en-US" sz="2600" b="0">
                          <a:latin typeface="KaiTi" panose="02010609060101010101" pitchFamily="49" charset="-122"/>
                          <a:ea typeface="KaiTi" panose="02010609060101010101" pitchFamily="49" charset="-122"/>
                          <a:cs typeface="Times New Roman" panose="02020603050405020304" pitchFamily="18" charset="0"/>
                        </a:rPr>
                        <a:t>他</a:t>
                      </a:r>
                      <a:endParaRPr lang="en-US" sz="2600" b="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rPr>
                        <a:t>现在</a:t>
                      </a:r>
                      <a:endParaRPr 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在朋友家</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吃</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dirty="0">
                          <a:solidFill>
                            <a:schemeClr val="tx1"/>
                          </a:solidFill>
                          <a:latin typeface="KaiTi" panose="02010609060101010101" pitchFamily="49" charset="-122"/>
                          <a:ea typeface="KaiTi" panose="02010609060101010101" pitchFamily="49" charset="-122"/>
                          <a:cs typeface="Times New Roman" panose="02020603050405020304" pitchFamily="18" charset="0"/>
                        </a:rPr>
                        <a:t>晚饭。</a:t>
                      </a:r>
                      <a:endParaRPr lang="en-US" sz="2600" b="0" kern="1200"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2828824028"/>
                  </a:ext>
                </a:extLst>
              </a:tr>
            </a:tbl>
          </a:graphicData>
        </a:graphic>
      </p:graphicFrame>
      <p:graphicFrame>
        <p:nvGraphicFramePr>
          <p:cNvPr id="3" name="Table 2">
            <a:extLst>
              <a:ext uri="{FF2B5EF4-FFF2-40B4-BE49-F238E27FC236}">
                <a16:creationId xmlns:a16="http://schemas.microsoft.com/office/drawing/2014/main" id="{11D5D975-66A1-47E6-2E9C-CDDF0F711D78}"/>
              </a:ext>
            </a:extLst>
          </p:cNvPr>
          <p:cNvGraphicFramePr>
            <a:graphicFrameLocks noGrp="1"/>
          </p:cNvGraphicFramePr>
          <p:nvPr/>
        </p:nvGraphicFramePr>
        <p:xfrm>
          <a:off x="866273" y="3946362"/>
          <a:ext cx="8379328" cy="545432"/>
        </p:xfrm>
        <a:graphic>
          <a:graphicData uri="http://schemas.openxmlformats.org/drawingml/2006/table">
            <a:tbl>
              <a:tblPr>
                <a:tableStyleId>{2D5ABB26-0587-4C30-8999-92F81FD0307C}</a:tableStyleId>
              </a:tblPr>
              <a:tblGrid>
                <a:gridCol w="8379328">
                  <a:extLst>
                    <a:ext uri="{9D8B030D-6E8A-4147-A177-3AD203B41FA5}">
                      <a16:colId xmlns:a16="http://schemas.microsoft.com/office/drawing/2014/main" val="2824656717"/>
                    </a:ext>
                  </a:extLst>
                </a:gridCol>
              </a:tblGrid>
              <a:tr h="545432">
                <a:tc>
                  <a:txBody>
                    <a:bodyPr/>
                    <a:lstStyle/>
                    <a:p>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Có</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lúc</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trạng</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ngữ</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chỉ</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thời</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gian</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đứng</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trước</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chủ</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 </a:t>
                      </a:r>
                      <a:r>
                        <a:rPr lang="en-US" sz="2600" kern="1200" baseline="0" dirty="0" err="1">
                          <a:solidFill>
                            <a:schemeClr val="tx1">
                              <a:lumMod val="85000"/>
                              <a:lumOff val="15000"/>
                            </a:schemeClr>
                          </a:solidFill>
                          <a:latin typeface="Times New Roman" panose="02020603050405020304" pitchFamily="18" charset="0"/>
                          <a:ea typeface="+mn-ea"/>
                          <a:cs typeface="Times New Roman" panose="02020603050405020304" pitchFamily="18" charset="0"/>
                        </a:rPr>
                        <a:t>ngữ</a:t>
                      </a:r>
                      <a:r>
                        <a:rPr lang="en-US" sz="2600" kern="1200" baseline="0" dirty="0">
                          <a:solidFill>
                            <a:schemeClr val="tx1">
                              <a:lumMod val="85000"/>
                              <a:lumOff val="15000"/>
                            </a:schemeClr>
                          </a:solidFill>
                          <a:latin typeface="Times New Roman" panose="02020603050405020304" pitchFamily="18" charset="0"/>
                          <a:ea typeface="+mn-ea"/>
                          <a:cs typeface="Times New Roman" panose="02020603050405020304" pitchFamily="18" charset="0"/>
                        </a:rPr>
                        <a:t>.</a:t>
                      </a:r>
                    </a:p>
                  </a:txBody>
                  <a:tcPr/>
                </a:tc>
                <a:extLst>
                  <a:ext uri="{0D108BD9-81ED-4DB2-BD59-A6C34878D82A}">
                    <a16:rowId xmlns:a16="http://schemas.microsoft.com/office/drawing/2014/main" val="2078596741"/>
                  </a:ext>
                </a:extLst>
              </a:tr>
            </a:tbl>
          </a:graphicData>
        </a:graphic>
      </p:graphicFrame>
      <p:graphicFrame>
        <p:nvGraphicFramePr>
          <p:cNvPr id="9" name="Table 8">
            <a:extLst>
              <a:ext uri="{FF2B5EF4-FFF2-40B4-BE49-F238E27FC236}">
                <a16:creationId xmlns:a16="http://schemas.microsoft.com/office/drawing/2014/main" id="{5CE79E07-F242-F78A-3EA9-339EB8716EE3}"/>
              </a:ext>
            </a:extLst>
          </p:cNvPr>
          <p:cNvGraphicFramePr>
            <a:graphicFrameLocks noGrp="1"/>
          </p:cNvGraphicFramePr>
          <p:nvPr/>
        </p:nvGraphicFramePr>
        <p:xfrm>
          <a:off x="1909009" y="4604086"/>
          <a:ext cx="8550442" cy="1917031"/>
        </p:xfrm>
        <a:graphic>
          <a:graphicData uri="http://schemas.openxmlformats.org/drawingml/2006/table">
            <a:tbl>
              <a:tblPr/>
              <a:tblGrid>
                <a:gridCol w="1710088">
                  <a:extLst>
                    <a:ext uri="{9D8B030D-6E8A-4147-A177-3AD203B41FA5}">
                      <a16:colId xmlns:a16="http://schemas.microsoft.com/office/drawing/2014/main" val="2316392956"/>
                    </a:ext>
                  </a:extLst>
                </a:gridCol>
                <a:gridCol w="1034568">
                  <a:extLst>
                    <a:ext uri="{9D8B030D-6E8A-4147-A177-3AD203B41FA5}">
                      <a16:colId xmlns:a16="http://schemas.microsoft.com/office/drawing/2014/main" val="4259823667"/>
                    </a:ext>
                  </a:extLst>
                </a:gridCol>
                <a:gridCol w="2385609">
                  <a:extLst>
                    <a:ext uri="{9D8B030D-6E8A-4147-A177-3AD203B41FA5}">
                      <a16:colId xmlns:a16="http://schemas.microsoft.com/office/drawing/2014/main" val="3163998628"/>
                    </a:ext>
                  </a:extLst>
                </a:gridCol>
                <a:gridCol w="1710088">
                  <a:extLst>
                    <a:ext uri="{9D8B030D-6E8A-4147-A177-3AD203B41FA5}">
                      <a16:colId xmlns:a16="http://schemas.microsoft.com/office/drawing/2014/main" val="3617970586"/>
                    </a:ext>
                  </a:extLst>
                </a:gridCol>
                <a:gridCol w="1710089">
                  <a:extLst>
                    <a:ext uri="{9D8B030D-6E8A-4147-A177-3AD203B41FA5}">
                      <a16:colId xmlns:a16="http://schemas.microsoft.com/office/drawing/2014/main" val="941195445"/>
                    </a:ext>
                  </a:extLst>
                </a:gridCol>
              </a:tblGrid>
              <a:tr h="311217">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Times New Roman" panose="02020603050405020304" pitchFamily="18" charset="0"/>
                          <a:ea typeface="+mn-ea"/>
                          <a:cs typeface="Times New Roman" panose="02020603050405020304" pitchFamily="18" charset="0"/>
                        </a:rPr>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tx1"/>
                          </a:solidFill>
                          <a:latin typeface="Times New Roman" panose="02020603050405020304" pitchFamily="18" charset="0"/>
                          <a:ea typeface="+mn-ea"/>
                          <a:cs typeface="Times New Roman" panose="02020603050405020304" pitchFamily="18" charset="0"/>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tx1"/>
                          </a:solidFill>
                          <a:latin typeface="Times New Roman" panose="02020603050405020304" pitchFamily="18" charset="0"/>
                          <a:ea typeface="+mn-ea"/>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676776"/>
                  </a:ext>
                </a:extLst>
              </a:tr>
              <a:tr h="484471">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kern="1200">
                          <a:solidFill>
                            <a:schemeClr val="tx1"/>
                          </a:solidFill>
                          <a:latin typeface="Times New Roman" panose="02020603050405020304" pitchFamily="18" charset="0"/>
                          <a:ea typeface="+mn-ea"/>
                          <a:cs typeface="Times New Roman" panose="02020603050405020304" pitchFamily="18" charset="0"/>
                        </a:rPr>
                        <a:t>在</a:t>
                      </a:r>
                      <a:r>
                        <a:rPr lang="en-US" altLang="zh-CN" sz="2400" b="0" kern="1200">
                          <a:solidFill>
                            <a:schemeClr val="tx1"/>
                          </a:solidFill>
                          <a:latin typeface="Times New Roman" panose="02020603050405020304" pitchFamily="18" charset="0"/>
                          <a:ea typeface="+mn-ea"/>
                          <a:cs typeface="Times New Roman" panose="02020603050405020304" pitchFamily="18" charset="0"/>
                        </a:rPr>
                        <a:t>+</a:t>
                      </a:r>
                      <a:r>
                        <a:rPr lang="en-US" sz="2400" b="0" kern="1200">
                          <a:solidFill>
                            <a:schemeClr val="tx1"/>
                          </a:solidFill>
                          <a:latin typeface="Times New Roman" panose="02020603050405020304" pitchFamily="18" charset="0"/>
                          <a:ea typeface="+mn-ea"/>
                          <a:cs typeface="Times New Roman" panose="02020603050405020304" pitchFamily="18" charset="0"/>
                        </a:rPr>
                        <a:t>L</a:t>
                      </a:r>
                      <a:r>
                        <a:rPr lang="en-US" altLang="zh-CN" sz="2400" b="0" kern="1200">
                          <a:solidFill>
                            <a:schemeClr val="tx1"/>
                          </a:solidFill>
                          <a:latin typeface="Times New Roman" panose="02020603050405020304" pitchFamily="18" charset="0"/>
                          <a:ea typeface="+mn-ea"/>
                          <a:cs typeface="Times New Roman" panose="02020603050405020304" pitchFamily="18" charset="0"/>
                        </a:rPr>
                        <a:t>ocation</a:t>
                      </a:r>
                      <a:endParaRPr lang="en-US" sz="2400" b="0" kern="120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553609"/>
                  </a:ext>
                </a:extLst>
              </a:tr>
              <a:tr h="311217">
                <a:tc>
                  <a:txBody>
                    <a:bodyPr/>
                    <a:lstStyle/>
                    <a:p>
                      <a:pPr marL="0" algn="ctr" defTabSz="914400" rtl="0" eaLnBrk="1" latinLnBrk="0" hangingPunct="1"/>
                      <a:r>
                        <a:rPr lang="zh-CN" alt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rPr>
                        <a:t>今年</a:t>
                      </a:r>
                      <a:endParaRPr 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我</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在中国</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学习</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汉语。</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3850986"/>
                  </a:ext>
                </a:extLst>
              </a:tr>
              <a:tr h="311217">
                <a:tc>
                  <a:txBody>
                    <a:bodyPr/>
                    <a:lstStyle/>
                    <a:p>
                      <a:pPr marL="0" algn="ctr" defTabSz="914400" rtl="0" eaLnBrk="1" latinLnBrk="0" hangingPunct="1"/>
                      <a:r>
                        <a:rPr lang="zh-CN" alt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rPr>
                        <a:t>上午</a:t>
                      </a:r>
                      <a:endParaRPr 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我</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在学校</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上</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dirty="0">
                          <a:solidFill>
                            <a:schemeClr val="tx1"/>
                          </a:solidFill>
                          <a:latin typeface="KaiTi" panose="02010609060101010101" pitchFamily="49" charset="-122"/>
                          <a:ea typeface="KaiTi" panose="02010609060101010101" pitchFamily="49" charset="-122"/>
                          <a:cs typeface="Times New Roman" panose="02020603050405020304" pitchFamily="18" charset="0"/>
                        </a:rPr>
                        <a:t>课。</a:t>
                      </a:r>
                      <a:endParaRPr lang="en-US" sz="2600" b="0" kern="1200"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612470"/>
                  </a:ext>
                </a:extLst>
              </a:tr>
            </a:tbl>
          </a:graphicData>
        </a:graphic>
      </p:graphicFrame>
      <p:sp>
        <p:nvSpPr>
          <p:cNvPr id="10" name="TextBox 9">
            <a:extLst>
              <a:ext uri="{FF2B5EF4-FFF2-40B4-BE49-F238E27FC236}">
                <a16:creationId xmlns:a16="http://schemas.microsoft.com/office/drawing/2014/main" id="{FAEDFFB0-9730-0D84-BF79-5136E098850B}"/>
              </a:ext>
            </a:extLst>
          </p:cNvPr>
          <p:cNvSpPr txBox="1"/>
          <p:nvPr/>
        </p:nvSpPr>
        <p:spPr>
          <a:xfrm>
            <a:off x="9386424" y="22213"/>
            <a:ext cx="2805576" cy="523220"/>
          </a:xfrm>
          <a:prstGeom prst="rect">
            <a:avLst/>
          </a:prstGeom>
          <a:solidFill>
            <a:srgbClr val="FFC000"/>
          </a:solidFill>
        </p:spPr>
        <p:txBody>
          <a:bodyPr wrap="none" rtlCol="0">
            <a:spAutoFit/>
          </a:bodyPr>
          <a:lstStyle/>
          <a:p>
            <a:r>
              <a:rPr lang="en-VN" sz="2800" dirty="0">
                <a:latin typeface="Times New Roman" panose="02020603050405020304" pitchFamily="18" charset="0"/>
                <a:cs typeface="Times New Roman" panose="02020603050405020304" pitchFamily="18" charset="0"/>
              </a:rPr>
              <a:t>Chú thích bổ sung</a:t>
            </a:r>
          </a:p>
        </p:txBody>
      </p:sp>
    </p:spTree>
    <p:extLst>
      <p:ext uri="{BB962C8B-B14F-4D97-AF65-F5344CB8AC3E}">
        <p14:creationId xmlns:p14="http://schemas.microsoft.com/office/powerpoint/2010/main" val="127426563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0782532"/>
              </p:ext>
            </p:extLst>
          </p:nvPr>
        </p:nvGraphicFramePr>
        <p:xfrm>
          <a:off x="518089" y="157566"/>
          <a:ext cx="11344757" cy="1522120"/>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90966">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学校</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xuéxiào</a:t>
                      </a:r>
                      <a:endParaRPr kumimoji="0" lang="en-US" sz="32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名</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a:solidFill>
                            <a:schemeClr val="dk1"/>
                          </a:solidFill>
                          <a:latin typeface="Times New Roman" panose="02020603050405020304" pitchFamily="18" charset="0"/>
                          <a:ea typeface="+mn-ea"/>
                          <a:cs typeface="Times New Roman" panose="02020603050405020304" pitchFamily="18" charset="0"/>
                        </a:rPr>
                        <a:t>Trường </a:t>
                      </a:r>
                      <a:r>
                        <a:rPr lang="en-US" sz="3200" i="0" kern="1200" dirty="0" err="1">
                          <a:solidFill>
                            <a:schemeClr val="dk1"/>
                          </a:solidFill>
                          <a:latin typeface="Times New Roman" panose="02020603050405020304" pitchFamily="18" charset="0"/>
                          <a:ea typeface="+mn-ea"/>
                          <a:cs typeface="Times New Roman" panose="02020603050405020304" pitchFamily="18" charset="0"/>
                        </a:rPr>
                        <a:t>học</a:t>
                      </a:r>
                      <a:r>
                        <a:rPr lang="en-US" sz="3200" i="0" kern="1200" dirty="0">
                          <a:solidFill>
                            <a:schemeClr val="dk1"/>
                          </a:solidFill>
                          <a:latin typeface="Times New Roman" panose="02020603050405020304" pitchFamily="18" charset="0"/>
                          <a:ea typeface="+mn-ea"/>
                          <a:cs typeface="Times New Roman" panose="02020603050405020304" pitchFamily="18" charset="0"/>
                        </a:rPr>
                        <a:t>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043244981"/>
                  </a:ext>
                </a:extLst>
              </a:tr>
            </a:tbl>
          </a:graphicData>
        </a:graphic>
      </p:graphicFrame>
      <p:pic>
        <p:nvPicPr>
          <p:cNvPr id="10242" name="Picture 2" descr="学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7461" y="1934533"/>
            <a:ext cx="1822339" cy="198809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校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87461" y="4552109"/>
            <a:ext cx="1896756" cy="1896757"/>
          </a:xfrm>
          <a:prstGeom prst="rect">
            <a:avLst/>
          </a:prstGeom>
          <a:noFill/>
          <a:extLst>
            <a:ext uri="{909E8E84-426E-40DD-AFC4-6F175D3DCCD1}">
              <a14:hiddenFill xmlns:a14="http://schemas.microsoft.com/office/drawing/2010/main">
                <a:solidFill>
                  <a:srgbClr val="FFFFFF"/>
                </a:solidFill>
              </a14:hiddenFill>
            </a:ext>
          </a:extLst>
        </p:spPr>
      </p:pic>
      <p:sp>
        <p:nvSpPr>
          <p:cNvPr id="10245" name="Chiết tự 10245"/>
          <p:cNvSpPr txBox="1"/>
          <p:nvPr/>
        </p:nvSpPr>
        <p:spPr>
          <a:xfrm>
            <a:off x="2700000" y="1799686"/>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校 = </a:t>
            </a:r>
            <a:r>
              <a:rPr lang="zh-CN" sz="3600" dirty="0">
                <a:solidFill>
                  <a:srgbClr val="C00000"/>
                </a:solidFill>
                <a:latin typeface="KaiTi" panose="02010609060101010101" pitchFamily="49" charset="-122"/>
                <a:ea typeface="KaiTi" panose="02010609060101010101" pitchFamily="49" charset="-122"/>
              </a:rPr>
              <a:t>木</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交</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Mộc 木 + 交</a:t>
            </a:r>
          </a:p>
        </p:txBody>
      </p:sp>
      <p:sp>
        <p:nvSpPr>
          <p:cNvPr id="10246" name="Nhớ lại 10246"/>
          <p:cNvSpPr txBox="1"/>
          <p:nvPr/>
        </p:nvSpPr>
        <p:spPr>
          <a:xfrm>
            <a:off x="7200000" y="1799686"/>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学生</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xuésheng</a:t>
            </a:r>
            <a:r>
              <a:rPr lang="vi-VN" sz="2400" dirty="0">
                <a:latin typeface="Times New Roman" panose="02020603050405020304" pitchFamily="18" charset="0"/>
                <a:ea typeface="KaiTi" panose="02010609060101010101" pitchFamily="49" charset="-122"/>
                <a:cs typeface="Times New Roman" panose="02020603050405020304" pitchFamily="18" charset="0"/>
              </a:rPr>
              <a:t> – học sinh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学</a:t>
            </a:r>
          </a:p>
          <a:p>
            <a:pPr>
              <a:spcBef>
                <a:spcPts val="200"/>
              </a:spcBef>
            </a:pPr>
            <a:r>
              <a:rPr lang="zh-CN" sz="2800" dirty="0">
                <a:solidFill>
                  <a:srgbClr val="C00000"/>
                </a:solidFill>
                <a:latin typeface="KaiTi" panose="02010609060101010101" pitchFamily="49" charset="-122"/>
                <a:ea typeface="KaiTi" panose="02010609060101010101" pitchFamily="49" charset="-122"/>
              </a:rPr>
              <a:t>学习</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xuéxí</a:t>
            </a:r>
            <a:r>
              <a:rPr lang="vi-VN" sz="2400" dirty="0">
                <a:latin typeface="Times New Roman" panose="02020603050405020304" pitchFamily="18" charset="0"/>
                <a:ea typeface="KaiTi" panose="02010609060101010101" pitchFamily="49" charset="-122"/>
                <a:cs typeface="Times New Roman" panose="02020603050405020304" pitchFamily="18" charset="0"/>
              </a:rPr>
              <a:t> –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学</a:t>
            </a:r>
          </a:p>
          <a:p>
            <a:pPr>
              <a:spcBef>
                <a:spcPts val="200"/>
              </a:spcBef>
            </a:pPr>
            <a:r>
              <a:rPr lang="zh-CN" sz="2800" dirty="0">
                <a:solidFill>
                  <a:srgbClr val="C00000"/>
                </a:solidFill>
                <a:latin typeface="KaiTi" panose="02010609060101010101" pitchFamily="49" charset="-122"/>
                <a:ea typeface="KaiTi" panose="02010609060101010101" pitchFamily="49" charset="-122"/>
              </a:rPr>
              <a:t>树</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shù</a:t>
            </a:r>
            <a:r>
              <a:rPr lang="vi-VN" sz="2400" dirty="0">
                <a:latin typeface="Times New Roman" panose="02020603050405020304" pitchFamily="18" charset="0"/>
                <a:ea typeface="KaiTi" panose="02010609060101010101" pitchFamily="49" charset="-122"/>
                <a:cs typeface="Times New Roman" panose="02020603050405020304" pitchFamily="18" charset="0"/>
              </a:rPr>
              <a:t> – cây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木</a:t>
            </a:r>
          </a:p>
        </p:txBody>
      </p:sp>
      <p:sp>
        <p:nvSpPr>
          <p:cNvPr id="10247" name="Ví dụ thêm 10247"/>
          <p:cNvSpPr txBox="1"/>
          <p:nvPr/>
        </p:nvSpPr>
        <p:spPr>
          <a:xfrm>
            <a:off x="2700000" y="347968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我们学校很大。</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Wǒmen xuéxiào hěn dà.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Trường chúng tôi rất lớn.</a:t>
            </a:r>
          </a:p>
        </p:txBody>
      </p:sp>
    </p:spTree>
    <p:extLst>
      <p:ext uri="{BB962C8B-B14F-4D97-AF65-F5344CB8AC3E}">
        <p14:creationId xmlns:p14="http://schemas.microsoft.com/office/powerpoint/2010/main" val="3772186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dissolve">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7"/>
                                        </p:tgtEl>
                                        <p:attrNameLst>
                                          <p:attrName>style.visibility</p:attrName>
                                        </p:attrNameLst>
                                      </p:cBhvr>
                                      <p:to>
                                        <p:strVal val="visible"/>
                                      </p:to>
                                    </p:set>
                                    <p:animEffect transition="in" filter="wipe(left)">
                                      <p:cBhvr>
                                        <p:cTn id="12" dur="500"/>
                                        <p:tgtEl>
                                          <p:spTgt spid="102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6"/>
                                        </p:tgtEl>
                                        <p:attrNameLst>
                                          <p:attrName>style.visibility</p:attrName>
                                        </p:attrNameLst>
                                      </p:cBhvr>
                                      <p:to>
                                        <p:strVal val="visible"/>
                                      </p:to>
                                    </p:set>
                                    <p:animEffect transition="in" filter="wipe(left)">
                                      <p:cBhvr>
                                        <p:cTn id="17"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032713589"/>
              </p:ext>
            </p:extLst>
          </p:nvPr>
        </p:nvGraphicFramePr>
        <p:xfrm>
          <a:off x="371962" y="325464"/>
          <a:ext cx="11344757" cy="1506070"/>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74916">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食堂</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shítáng </a:t>
                      </a:r>
                      <a:endParaRPr kumimoji="0" lang="en-US" sz="32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名</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Nhà ăn, căng tin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pic>
        <p:nvPicPr>
          <p:cNvPr id="11266" name="Picture 2" descr="食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71962" y="2019300"/>
            <a:ext cx="2073729" cy="207373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堂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71962" y="4280797"/>
            <a:ext cx="2073729" cy="2073730"/>
          </a:xfrm>
          <a:prstGeom prst="rect">
            <a:avLst/>
          </a:prstGeom>
          <a:noFill/>
          <a:extLst>
            <a:ext uri="{909E8E84-426E-40DD-AFC4-6F175D3DCCD1}">
              <a14:hiddenFill xmlns:a14="http://schemas.microsoft.com/office/drawing/2010/main">
                <a:solidFill>
                  <a:srgbClr val="FFFFFF"/>
                </a:solidFill>
              </a14:hiddenFill>
            </a:ext>
          </a:extLst>
        </p:spPr>
      </p:pic>
      <p:sp>
        <p:nvSpPr>
          <p:cNvPr id="11269" name="Chiết tự 11269"/>
          <p:cNvSpPr txBox="1"/>
          <p:nvPr/>
        </p:nvSpPr>
        <p:spPr>
          <a:xfrm>
            <a:off x="2700000" y="1951534"/>
            <a:ext cx="4400000" cy="3022865"/>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食 = </a:t>
            </a:r>
            <a:r>
              <a:rPr lang="zh-CN" sz="3600" dirty="0">
                <a:latin typeface="KaiTi" panose="02010609060101010101" pitchFamily="49" charset="-122"/>
                <a:ea typeface="KaiTi" panose="02010609060101010101" pitchFamily="49" charset="-122"/>
              </a:rPr>
              <a:t>人</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良</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Thực 食 (ăn) – dạng rút gọn 饣</a:t>
            </a:r>
          </a:p>
          <a:p>
            <a:pPr/>
            <a:r>
              <a:rPr lang="zh-CN" sz="3600" dirty="0">
                <a:latin typeface="KaiTi" panose="02010609060101010101" pitchFamily="49" charset="-122"/>
                <a:ea typeface="KaiTi" panose="02010609060101010101" pitchFamily="49" charset="-122"/>
              </a:rPr>
              <a:t>堂 = </a:t>
            </a:r>
            <a:r>
              <a:rPr lang="zh-CN" sz="3600" dirty="0">
                <a:latin typeface="KaiTi" panose="02010609060101010101" pitchFamily="49" charset="-122"/>
                <a:ea typeface="KaiTi" panose="02010609060101010101" pitchFamily="49" charset="-122"/>
              </a:rPr>
              <a:t>尚</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土</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尚 + Bộ Thổ 土</a:t>
            </a:r>
          </a:p>
        </p:txBody>
      </p:sp>
      <p:sp>
        <p:nvSpPr>
          <p:cNvPr id="11270" name="Nhớ lại 11270"/>
          <p:cNvSpPr txBox="1"/>
          <p:nvPr/>
        </p:nvSpPr>
        <p:spPr>
          <a:xfrm>
            <a:off x="7200000" y="1951534"/>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饭馆</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fànguǎn</a:t>
            </a:r>
            <a:r>
              <a:rPr lang="vi-VN" sz="2400" dirty="0">
                <a:latin typeface="Times New Roman" panose="02020603050405020304" pitchFamily="18" charset="0"/>
                <a:ea typeface="KaiTi" panose="02010609060101010101" pitchFamily="49" charset="-122"/>
                <a:cs typeface="Times New Roman" panose="02020603050405020304" pitchFamily="18" charset="0"/>
              </a:rPr>
              <a:t> – quán ăn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饣 là dạng rút gọn của 食</a:t>
            </a:r>
          </a:p>
          <a:p>
            <a:pPr>
              <a:spcBef>
                <a:spcPts val="200"/>
              </a:spcBef>
            </a:pPr>
            <a:r>
              <a:rPr lang="zh-CN" sz="2800" dirty="0">
                <a:solidFill>
                  <a:srgbClr val="C00000"/>
                </a:solidFill>
                <a:latin typeface="KaiTi" panose="02010609060101010101" pitchFamily="49" charset="-122"/>
                <a:ea typeface="KaiTi" panose="02010609060101010101" pitchFamily="49" charset="-122"/>
              </a:rPr>
              <a:t>吃饭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chīfàn</a:t>
            </a:r>
            <a:r>
              <a:rPr lang="vi-VN" sz="2400" dirty="0">
                <a:latin typeface="Times New Roman" panose="02020603050405020304" pitchFamily="18" charset="0"/>
                <a:ea typeface="KaiTi" panose="02010609060101010101" pitchFamily="49" charset="-122"/>
                <a:cs typeface="Times New Roman" panose="02020603050405020304" pitchFamily="18" charset="0"/>
              </a:rPr>
              <a:t> – ăn cơm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饭</a:t>
            </a:r>
          </a:p>
        </p:txBody>
      </p:sp>
      <p:sp>
        <p:nvSpPr>
          <p:cNvPr id="11271" name="Ví dụ thêm 11271"/>
          <p:cNvSpPr txBox="1"/>
          <p:nvPr/>
        </p:nvSpPr>
        <p:spPr>
          <a:xfrm>
            <a:off x="7200000" y="4471534"/>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学校食堂在哪儿？</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Xuéxiào shítáng zài nǎr?</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Căng tin trường ở đâu?</a:t>
            </a:r>
          </a:p>
        </p:txBody>
      </p:sp>
    </p:spTree>
    <p:extLst>
      <p:ext uri="{BB962C8B-B14F-4D97-AF65-F5344CB8AC3E}">
        <p14:creationId xmlns:p14="http://schemas.microsoft.com/office/powerpoint/2010/main" val="1728547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dissolve">
                                      <p:cBhvr>
                                        <p:cTn id="7" dur="500"/>
                                        <p:tgtEl>
                                          <p:spTgt spid="112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71"/>
                                        </p:tgtEl>
                                        <p:attrNameLst>
                                          <p:attrName>style.visibility</p:attrName>
                                        </p:attrNameLst>
                                      </p:cBhvr>
                                      <p:to>
                                        <p:strVal val="visible"/>
                                      </p:to>
                                    </p:set>
                                    <p:animEffect transition="in" filter="wipe(left)">
                                      <p:cBhvr>
                                        <p:cTn id="12" dur="500"/>
                                        <p:tgtEl>
                                          <p:spTgt spid="112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70"/>
                                        </p:tgtEl>
                                        <p:attrNameLst>
                                          <p:attrName>style.visibility</p:attrName>
                                        </p:attrNameLst>
                                      </p:cBhvr>
                                      <p:to>
                                        <p:strVal val="visible"/>
                                      </p:to>
                                    </p:set>
                                    <p:animEffect transition="in" filter="wipe(left)">
                                      <p:cBhvr>
                                        <p:cTn id="17"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1796-1AA7-45A1-CA4A-DC62676B264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2F20DED-EB78-B513-B6A2-B373B2F554C7}"/>
              </a:ext>
            </a:extLst>
          </p:cNvPr>
          <p:cNvGraphicFramePr>
            <a:graphicFrameLocks noGrp="1"/>
          </p:cNvGraphicFramePr>
          <p:nvPr>
            <p:extLst>
              <p:ext uri="{D42A27DB-BD31-4B8C-83A1-F6EECF244321}">
                <p14:modId xmlns:p14="http://schemas.microsoft.com/office/powerpoint/2010/main" val="459857505"/>
              </p:ext>
            </p:extLst>
          </p:nvPr>
        </p:nvGraphicFramePr>
        <p:xfrm>
          <a:off x="387460" y="309966"/>
          <a:ext cx="11344757" cy="1449197"/>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18043">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的时候</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…de shíhòu </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a:solidFill>
                            <a:schemeClr val="dk1"/>
                          </a:solidFill>
                          <a:latin typeface="Times New Roman" panose="02020603050405020304" pitchFamily="18" charset="0"/>
                          <a:ea typeface="+mn-ea"/>
                          <a:cs typeface="Times New Roman" panose="02020603050405020304" pitchFamily="18" charset="0"/>
                        </a:rPr>
                        <a:t>Khi, </a:t>
                      </a:r>
                      <a:r>
                        <a:rPr lang="en-US" sz="3200" i="0" kern="1200" dirty="0" err="1">
                          <a:solidFill>
                            <a:schemeClr val="dk1"/>
                          </a:solidFill>
                          <a:latin typeface="Times New Roman" panose="02020603050405020304" pitchFamily="18" charset="0"/>
                          <a:ea typeface="+mn-ea"/>
                          <a:cs typeface="Times New Roman" panose="02020603050405020304" pitchFamily="18" charset="0"/>
                        </a:rPr>
                        <a:t>lúc</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74798083"/>
                  </a:ext>
                </a:extLst>
              </a:tr>
            </a:tbl>
          </a:graphicData>
        </a:graphic>
      </p:graphicFrame>
      <p:graphicFrame>
        <p:nvGraphicFramePr>
          <p:cNvPr id="2" name="Table 1">
            <a:extLst>
              <a:ext uri="{FF2B5EF4-FFF2-40B4-BE49-F238E27FC236}">
                <a16:creationId xmlns:a16="http://schemas.microsoft.com/office/drawing/2014/main" id="{6FDFE83F-BE66-61FA-9E17-A0AF23DAF9B5}"/>
              </a:ext>
            </a:extLst>
          </p:cNvPr>
          <p:cNvGraphicFramePr>
            <a:graphicFrameLocks noGrp="1"/>
          </p:cNvGraphicFramePr>
          <p:nvPr>
            <p:extLst>
              <p:ext uri="{D42A27DB-BD31-4B8C-83A1-F6EECF244321}">
                <p14:modId xmlns:p14="http://schemas.microsoft.com/office/powerpoint/2010/main" val="1352006281"/>
              </p:ext>
            </p:extLst>
          </p:nvPr>
        </p:nvGraphicFramePr>
        <p:xfrm>
          <a:off x="2214335" y="2606040"/>
          <a:ext cx="6337877" cy="822960"/>
        </p:xfrm>
        <a:graphic>
          <a:graphicData uri="http://schemas.openxmlformats.org/drawingml/2006/table">
            <a:tbl>
              <a:tblPr>
                <a:tableStyleId>{2D5ABB26-0587-4C30-8999-92F81FD0307C}</a:tableStyleId>
              </a:tblPr>
              <a:tblGrid>
                <a:gridCol w="6337877">
                  <a:extLst>
                    <a:ext uri="{9D8B030D-6E8A-4147-A177-3AD203B41FA5}">
                      <a16:colId xmlns:a16="http://schemas.microsoft.com/office/drawing/2014/main" val="416765917"/>
                    </a:ext>
                  </a:extLst>
                </a:gridCol>
              </a:tblGrid>
              <a:tr h="756804">
                <a:tc>
                  <a:txBody>
                    <a:bodyPr/>
                    <a:lstStyle/>
                    <a:p>
                      <a:pPr algn="ctr"/>
                      <a:r>
                        <a:rPr lang="zh-CN" altLang="en-US" sz="2800" kern="1200" dirty="0">
                          <a:solidFill>
                            <a:srgbClr val="00B050"/>
                          </a:solidFill>
                          <a:latin typeface="KaiTi" panose="02010609060101010101" pitchFamily="49" charset="-122"/>
                          <a:ea typeface="KaiTi" panose="02010609060101010101" pitchFamily="49" charset="-122"/>
                          <a:cs typeface="+mn-cs"/>
                        </a:rPr>
                        <a:t>吃饭的时候我常看电视。</a:t>
                      </a:r>
                      <a:br>
                        <a:rPr lang="vi-VN" altLang="zh-CN" sz="2800" kern="120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Chīfàn</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de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shíhòu</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cháng</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kàn</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diànshì</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3718972812"/>
                  </a:ext>
                </a:extLst>
              </a:tr>
            </a:tbl>
          </a:graphicData>
        </a:graphic>
      </p:graphicFrame>
      <p:sp>
        <p:nvSpPr>
          <p:cNvPr id="5" name="Nhớ lại 5"/>
          <p:cNvSpPr txBox="1"/>
          <p:nvPr/>
        </p:nvSpPr>
        <p:spPr>
          <a:xfrm>
            <a:off x="2700000" y="3499163"/>
            <a:ext cx="47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的</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de</a:t>
            </a:r>
            <a:r>
              <a:rPr lang="vi-VN" sz="2400" dirty="0">
                <a:latin typeface="Times New Roman" panose="02020603050405020304" pitchFamily="18" charset="0"/>
                <a:ea typeface="KaiTi" panose="02010609060101010101" pitchFamily="49" charset="-122"/>
                <a:cs typeface="Times New Roman" panose="02020603050405020304" pitchFamily="18" charset="0"/>
              </a:rPr>
              <a:t> – của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…的 + 时候</a:t>
            </a:r>
          </a:p>
          <a:p>
            <a:pPr>
              <a:spcBef>
                <a:spcPts val="200"/>
              </a:spcBef>
            </a:pPr>
            <a:r>
              <a:rPr lang="zh-CN" sz="2800" dirty="0">
                <a:solidFill>
                  <a:srgbClr val="C00000"/>
                </a:solidFill>
                <a:latin typeface="KaiTi" panose="02010609060101010101" pitchFamily="49" charset="-122"/>
                <a:ea typeface="KaiTi" panose="02010609060101010101" pitchFamily="49" charset="-122"/>
              </a:rPr>
              <a:t>有时候</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yǒu shíhou</a:t>
            </a:r>
            <a:r>
              <a:rPr lang="vi-VN" sz="2400" dirty="0">
                <a:latin typeface="Times New Roman" panose="02020603050405020304" pitchFamily="18" charset="0"/>
                <a:ea typeface="KaiTi" panose="02010609060101010101" pitchFamily="49" charset="-122"/>
                <a:cs typeface="Times New Roman" panose="02020603050405020304" pitchFamily="18" charset="0"/>
              </a:rPr>
              <a:t> – có lúc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时候 ôn lại</a:t>
            </a:r>
          </a:p>
        </p:txBody>
      </p:sp>
    </p:spTree>
    <p:extLst>
      <p:ext uri="{BB962C8B-B14F-4D97-AF65-F5344CB8AC3E}">
        <p14:creationId xmlns:p14="http://schemas.microsoft.com/office/powerpoint/2010/main" val="27865405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59260017"/>
              </p:ext>
            </p:extLst>
          </p:nvPr>
        </p:nvGraphicFramePr>
        <p:xfrm>
          <a:off x="387460" y="309966"/>
          <a:ext cx="11344757" cy="1428578"/>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97424">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做饭</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zuò fàn </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Nấu ăn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597462639"/>
                  </a:ext>
                </a:extLst>
              </a:tr>
            </a:tbl>
          </a:graphicData>
        </a:graphic>
      </p:graphicFrame>
      <p:pic>
        <p:nvPicPr>
          <p:cNvPr id="13314" name="Picture 2" descr="做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7460" y="1882119"/>
            <a:ext cx="1833226" cy="1833227"/>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饭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87460" y="3959334"/>
            <a:ext cx="1833226" cy="183322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832546" y="2515911"/>
            <a:ext cx="4187365" cy="830997"/>
          </a:xfrm>
          <a:prstGeom prst="rect">
            <a:avLst/>
          </a:prstGeom>
        </p:spPr>
        <p:txBody>
          <a:bodyPr wrap="none">
            <a:spAutoFit/>
          </a:bodyPr>
          <a:lstStyle/>
          <a:p>
            <a:r>
              <a:rPr lang="zh-CN" altLang="en-US" sz="2800" dirty="0">
                <a:solidFill>
                  <a:srgbClr val="00B050"/>
                </a:solidFill>
                <a:latin typeface="KaiTi" panose="02010609060101010101" pitchFamily="49" charset="-122"/>
                <a:ea typeface="KaiTi" panose="02010609060101010101" pitchFamily="49" charset="-122"/>
              </a:rPr>
              <a:t>今天星期天我们在家做饭</a:t>
            </a:r>
            <a:br>
              <a:rPr lang="en-US" altLang="zh-CN" sz="2800" dirty="0">
                <a:solidFill>
                  <a:srgbClr val="00B050"/>
                </a:solidFill>
                <a:latin typeface="KaiTi" panose="02010609060101010101" pitchFamily="49" charset="-122"/>
                <a:ea typeface="KaiTi" panose="02010609060101010101" pitchFamily="49" charset="-122"/>
              </a:rPr>
            </a:br>
            <a:r>
              <a:rPr lang="en-US" altLang="zh-CN" sz="2000" i="1" dirty="0" err="1">
                <a:solidFill>
                  <a:prstClr val="black"/>
                </a:solidFill>
                <a:latin typeface="Times New Roman" panose="02020603050405020304" pitchFamily="18" charset="0"/>
                <a:cs typeface="Times New Roman" panose="02020603050405020304" pitchFamily="18" charset="0"/>
              </a:rPr>
              <a:t>j</a:t>
            </a:r>
            <a:r>
              <a:rPr lang="en-US" sz="2000" i="1" dirty="0" err="1">
                <a:solidFill>
                  <a:prstClr val="black"/>
                </a:solidFill>
                <a:latin typeface="Times New Roman" panose="02020603050405020304" pitchFamily="18" charset="0"/>
                <a:cs typeface="Times New Roman" panose="02020603050405020304" pitchFamily="18" charset="0"/>
              </a:rPr>
              <a:t>īntiān</a:t>
            </a:r>
            <a:r>
              <a:rPr lang="en-US" sz="2000" i="1" dirty="0">
                <a:solidFill>
                  <a:prstClr val="black"/>
                </a:solidFill>
                <a:latin typeface="Times New Roman" panose="02020603050405020304" pitchFamily="18" charset="0"/>
                <a:cs typeface="Times New Roman" panose="02020603050405020304" pitchFamily="18" charset="0"/>
              </a:rPr>
              <a:t> </a:t>
            </a:r>
            <a:r>
              <a:rPr lang="en-US" altLang="zh-CN" sz="2000" i="1" dirty="0" err="1">
                <a:solidFill>
                  <a:prstClr val="black"/>
                </a:solidFill>
                <a:latin typeface="Times New Roman" panose="02020603050405020304" pitchFamily="18" charset="0"/>
                <a:cs typeface="Times New Roman" panose="02020603050405020304" pitchFamily="18" charset="0"/>
              </a:rPr>
              <a:t>xīngqītiān</a:t>
            </a:r>
            <a:r>
              <a:rPr lang="vi-VN" altLang="zh-CN"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wǒmen</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zàijiā</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zuò</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fàn</a:t>
            </a:r>
            <a:endParaRPr lang="en-US" sz="2000" i="1" dirty="0">
              <a:solidFill>
                <a:prstClr val="black"/>
              </a:solidFill>
              <a:latin typeface="Times New Roman" panose="02020603050405020304" pitchFamily="18" charset="0"/>
              <a:cs typeface="Times New Roman" panose="02020603050405020304" pitchFamily="18" charset="0"/>
            </a:endParaRPr>
          </a:p>
        </p:txBody>
      </p:sp>
      <p:sp>
        <p:nvSpPr>
          <p:cNvPr id="13317" name="Chiết tự 13317"/>
          <p:cNvSpPr txBox="1"/>
          <p:nvPr/>
        </p:nvSpPr>
        <p:spPr>
          <a:xfrm>
            <a:off x="2700000" y="3418544"/>
            <a:ext cx="4400000" cy="2635160"/>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做 = </a:t>
            </a:r>
            <a:r>
              <a:rPr lang="zh-CN" sz="3600" dirty="0">
                <a:solidFill>
                  <a:srgbClr val="C00000"/>
                </a:solidFill>
                <a:latin typeface="KaiTi" panose="02010609060101010101" pitchFamily="49" charset="-122"/>
                <a:ea typeface="KaiTi" panose="02010609060101010101" pitchFamily="49" charset="-122"/>
              </a:rPr>
              <a:t>亻</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故</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Nhân đứng 亻 + 故</a:t>
            </a:r>
          </a:p>
          <a:p>
            <a:pPr/>
            <a:r>
              <a:rPr lang="zh-CN" sz="3600" dirty="0">
                <a:latin typeface="KaiTi" panose="02010609060101010101" pitchFamily="49" charset="-122"/>
                <a:ea typeface="KaiTi" panose="02010609060101010101" pitchFamily="49" charset="-122"/>
              </a:rPr>
              <a:t>饭 = </a:t>
            </a:r>
            <a:r>
              <a:rPr lang="zh-CN" sz="3600" dirty="0">
                <a:solidFill>
                  <a:srgbClr val="C00000"/>
                </a:solidFill>
                <a:latin typeface="KaiTi" panose="02010609060101010101" pitchFamily="49" charset="-122"/>
                <a:ea typeface="KaiTi" panose="02010609060101010101" pitchFamily="49" charset="-122"/>
              </a:rPr>
              <a:t>饣</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反</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Thực 饣 + 反</a:t>
            </a:r>
          </a:p>
        </p:txBody>
      </p:sp>
      <p:sp>
        <p:nvSpPr>
          <p:cNvPr id="13318" name="Nhớ lại 13318"/>
          <p:cNvSpPr txBox="1"/>
          <p:nvPr/>
        </p:nvSpPr>
        <p:spPr>
          <a:xfrm>
            <a:off x="7200000" y="3418544"/>
            <a:ext cx="4500000" cy="2915848"/>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做</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zuò</a:t>
            </a:r>
            <a:r>
              <a:rPr lang="vi-VN" sz="2400" dirty="0">
                <a:latin typeface="Times New Roman" panose="02020603050405020304" pitchFamily="18" charset="0"/>
                <a:ea typeface="KaiTi" panose="02010609060101010101" pitchFamily="49" charset="-122"/>
                <a:cs typeface="Times New Roman" panose="02020603050405020304" pitchFamily="18" charset="0"/>
              </a:rPr>
              <a:t> – làm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做什么</a:t>
            </a:r>
          </a:p>
          <a:p>
            <a:pPr>
              <a:spcBef>
                <a:spcPts val="200"/>
              </a:spcBef>
            </a:pPr>
            <a:r>
              <a:rPr lang="zh-CN" sz="2800" dirty="0">
                <a:solidFill>
                  <a:srgbClr val="C00000"/>
                </a:solidFill>
                <a:latin typeface="KaiTi" panose="02010609060101010101" pitchFamily="49" charset="-122"/>
                <a:ea typeface="KaiTi" panose="02010609060101010101" pitchFamily="49" charset="-122"/>
              </a:rPr>
              <a:t>吃饭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chīfàn</a:t>
            </a:r>
            <a:r>
              <a:rPr lang="vi-VN" sz="2400" dirty="0">
                <a:latin typeface="Times New Roman" panose="02020603050405020304" pitchFamily="18" charset="0"/>
                <a:ea typeface="KaiTi" panose="02010609060101010101" pitchFamily="49" charset="-122"/>
                <a:cs typeface="Times New Roman" panose="02020603050405020304" pitchFamily="18" charset="0"/>
              </a:rPr>
              <a:t> – ăn cơm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饭</a:t>
            </a:r>
          </a:p>
          <a:p>
            <a:pPr>
              <a:spcBef>
                <a:spcPts val="200"/>
              </a:spcBef>
            </a:pPr>
            <a:r>
              <a:rPr lang="zh-CN" sz="2800" dirty="0">
                <a:solidFill>
                  <a:srgbClr val="C00000"/>
                </a:solidFill>
                <a:latin typeface="KaiTi" panose="02010609060101010101" pitchFamily="49" charset="-122"/>
                <a:ea typeface="KaiTi" panose="02010609060101010101" pitchFamily="49" charset="-122"/>
              </a:rPr>
              <a:t>饭馆</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fànguǎn</a:t>
            </a:r>
            <a:r>
              <a:rPr lang="vi-VN" sz="2400" dirty="0">
                <a:latin typeface="Times New Roman" panose="02020603050405020304" pitchFamily="18" charset="0"/>
                <a:ea typeface="KaiTi" panose="02010609060101010101" pitchFamily="49" charset="-122"/>
                <a:cs typeface="Times New Roman" panose="02020603050405020304" pitchFamily="18" charset="0"/>
              </a:rPr>
              <a:t> – quán ăn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饣</a:t>
            </a:r>
          </a:p>
        </p:txBody>
      </p:sp>
    </p:spTree>
    <p:extLst>
      <p:ext uri="{BB962C8B-B14F-4D97-AF65-F5344CB8AC3E}">
        <p14:creationId xmlns:p14="http://schemas.microsoft.com/office/powerpoint/2010/main" val="3421967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dissolve">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8"/>
                                        </p:tgtEl>
                                        <p:attrNameLst>
                                          <p:attrName>style.visibility</p:attrName>
                                        </p:attrNameLst>
                                      </p:cBhvr>
                                      <p:to>
                                        <p:strVal val="visible"/>
                                      </p:to>
                                    </p:set>
                                    <p:animEffect transition="in" filter="wipe(left)">
                                      <p:cBhvr>
                                        <p:cTn id="17"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78167769"/>
              </p:ext>
            </p:extLst>
          </p:nvPr>
        </p:nvGraphicFramePr>
        <p:xfrm>
          <a:off x="387460" y="309966"/>
          <a:ext cx="11344757" cy="1428578"/>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731154">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97424">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菜</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cài</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名</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Món ăn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418117922"/>
                  </a:ext>
                </a:extLst>
              </a:tr>
            </a:tbl>
          </a:graphicData>
        </a:graphic>
      </p:graphicFrame>
      <p:pic>
        <p:nvPicPr>
          <p:cNvPr id="14338" name="Picture 2" descr="菜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87460" y="2019299"/>
            <a:ext cx="2171700" cy="21717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330267" y="1831908"/>
            <a:ext cx="7007046" cy="830997"/>
          </a:xfrm>
          <a:prstGeom prst="rect">
            <a:avLst/>
          </a:prstGeom>
        </p:spPr>
        <p:txBody>
          <a:bodyPr wrap="none">
            <a:spAutoFit/>
          </a:bodyPr>
          <a:lstStyle/>
          <a:p>
            <a:r>
              <a:rPr lang="zh-CN" altLang="en-US" sz="2800" dirty="0">
                <a:solidFill>
                  <a:srgbClr val="00B050"/>
                </a:solidFill>
                <a:latin typeface="KaiTi" panose="02010609060101010101" pitchFamily="49" charset="-122"/>
                <a:ea typeface="KaiTi" panose="02010609060101010101" pitchFamily="49" charset="-122"/>
              </a:rPr>
              <a:t>我们在家做饭。我做韩国菜，他做中国菜，</a:t>
            </a:r>
            <a:br>
              <a:rPr lang="en-US" altLang="zh-CN" sz="2800" dirty="0">
                <a:solidFill>
                  <a:srgbClr val="00B050"/>
                </a:solidFill>
                <a:latin typeface="KaiTi" panose="02010609060101010101" pitchFamily="49" charset="-122"/>
                <a:ea typeface="KaiTi" panose="02010609060101010101" pitchFamily="49" charset="-122"/>
              </a:rPr>
            </a:br>
            <a:r>
              <a:rPr lang="en-US" sz="2000" i="1" dirty="0" err="1">
                <a:solidFill>
                  <a:prstClr val="black"/>
                </a:solidFill>
                <a:latin typeface="Times New Roman" panose="02020603050405020304" pitchFamily="18" charset="0"/>
                <a:cs typeface="Times New Roman" panose="02020603050405020304" pitchFamily="18" charset="0"/>
              </a:rPr>
              <a:t>Wǒmen</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zàijiā</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zuò</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fàn</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Wǒ</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zuò</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Hánguó</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cài</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tā</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zuò</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Zhōngguó</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cài</a:t>
            </a:r>
            <a:r>
              <a:rPr lang="en-US" sz="2000" i="1" dirty="0">
                <a:solidFill>
                  <a:prstClr val="black"/>
                </a:solidFill>
                <a:latin typeface="Times New Roman" panose="02020603050405020304" pitchFamily="18" charset="0"/>
                <a:cs typeface="Times New Roman" panose="02020603050405020304" pitchFamily="18" charset="0"/>
              </a:rPr>
              <a:t>,</a:t>
            </a:r>
          </a:p>
        </p:txBody>
      </p:sp>
      <p:sp>
        <p:nvSpPr>
          <p:cNvPr id="14339" name="Chiết tự 14339"/>
          <p:cNvSpPr txBox="1"/>
          <p:nvPr/>
        </p:nvSpPr>
        <p:spPr>
          <a:xfrm>
            <a:off x="2700000" y="2758544"/>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菜 = </a:t>
            </a:r>
            <a:r>
              <a:rPr lang="zh-CN" sz="3600" dirty="0">
                <a:solidFill>
                  <a:srgbClr val="C00000"/>
                </a:solidFill>
                <a:latin typeface="KaiTi" panose="02010609060101010101" pitchFamily="49" charset="-122"/>
                <a:ea typeface="KaiTi" panose="02010609060101010101" pitchFamily="49" charset="-122"/>
              </a:rPr>
              <a:t>艹</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采</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Thảo 艹 (cỏ, rau)</a:t>
            </a:r>
          </a:p>
        </p:txBody>
      </p:sp>
      <p:sp>
        <p:nvSpPr>
          <p:cNvPr id="14340" name="Nhớ lại 14340"/>
          <p:cNvSpPr txBox="1"/>
          <p:nvPr/>
        </p:nvSpPr>
        <p:spPr>
          <a:xfrm>
            <a:off x="7200000" y="2758544"/>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花</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huā</a:t>
            </a:r>
            <a:r>
              <a:rPr lang="vi-VN" sz="2400" dirty="0">
                <a:latin typeface="Times New Roman" panose="02020603050405020304" pitchFamily="18" charset="0"/>
                <a:ea typeface="KaiTi" panose="02010609060101010101" pitchFamily="49" charset="-122"/>
                <a:cs typeface="Times New Roman" panose="02020603050405020304" pitchFamily="18" charset="0"/>
              </a:rPr>
              <a:t> – hoa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艹</a:t>
            </a:r>
          </a:p>
          <a:p>
            <a:pPr>
              <a:spcBef>
                <a:spcPts val="200"/>
              </a:spcBef>
            </a:pPr>
            <a:r>
              <a:rPr lang="zh-CN" sz="2800" dirty="0">
                <a:solidFill>
                  <a:srgbClr val="C00000"/>
                </a:solidFill>
                <a:latin typeface="KaiTi" panose="02010609060101010101" pitchFamily="49" charset="-122"/>
                <a:ea typeface="KaiTi" panose="02010609060101010101" pitchFamily="49" charset="-122"/>
              </a:rPr>
              <a:t>茶</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chá</a:t>
            </a:r>
            <a:r>
              <a:rPr lang="vi-VN" sz="2400" dirty="0">
                <a:latin typeface="Times New Roman" panose="02020603050405020304" pitchFamily="18" charset="0"/>
                <a:ea typeface="KaiTi" panose="02010609060101010101" pitchFamily="49" charset="-122"/>
                <a:cs typeface="Times New Roman" panose="02020603050405020304" pitchFamily="18" charset="0"/>
              </a:rPr>
              <a:t> – trà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艹</a:t>
            </a:r>
          </a:p>
        </p:txBody>
      </p:sp>
    </p:spTree>
    <p:extLst>
      <p:ext uri="{BB962C8B-B14F-4D97-AF65-F5344CB8AC3E}">
        <p14:creationId xmlns:p14="http://schemas.microsoft.com/office/powerpoint/2010/main" val="7223524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dissolve">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wipe(left)">
                                      <p:cBhvr>
                                        <p:cTn id="17"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69975264"/>
              </p:ext>
            </p:extLst>
          </p:nvPr>
        </p:nvGraphicFramePr>
        <p:xfrm>
          <a:off x="387460" y="309966"/>
          <a:ext cx="11344757" cy="1623023"/>
        </p:xfrm>
        <a:graphic>
          <a:graphicData uri="http://schemas.openxmlformats.org/drawingml/2006/table">
            <a:tbl>
              <a:tblPr firstRow="1">
                <a:tableStyleId>{5C22544A-7EE6-4342-B048-85BDC9FD1C3A}</a:tableStyleId>
              </a:tblPr>
              <a:tblGrid>
                <a:gridCol w="1224364">
                  <a:extLst>
                    <a:ext uri="{9D8B030D-6E8A-4147-A177-3AD203B41FA5}">
                      <a16:colId xmlns:a16="http://schemas.microsoft.com/office/drawing/2014/main" val="2897192029"/>
                    </a:ext>
                  </a:extLst>
                </a:gridCol>
                <a:gridCol w="2711610">
                  <a:extLst>
                    <a:ext uri="{9D8B030D-6E8A-4147-A177-3AD203B41FA5}">
                      <a16:colId xmlns:a16="http://schemas.microsoft.com/office/drawing/2014/main" val="2090168382"/>
                    </a:ext>
                  </a:extLst>
                </a:gridCol>
                <a:gridCol w="2464824">
                  <a:extLst>
                    <a:ext uri="{9D8B030D-6E8A-4147-A177-3AD203B41FA5}">
                      <a16:colId xmlns:a16="http://schemas.microsoft.com/office/drawing/2014/main" val="964787021"/>
                    </a:ext>
                  </a:extLst>
                </a:gridCol>
                <a:gridCol w="1611823">
                  <a:extLst>
                    <a:ext uri="{9D8B030D-6E8A-4147-A177-3AD203B41FA5}">
                      <a16:colId xmlns:a16="http://schemas.microsoft.com/office/drawing/2014/main" val="934390766"/>
                    </a:ext>
                  </a:extLst>
                </a:gridCol>
                <a:gridCol w="3332136">
                  <a:extLst>
                    <a:ext uri="{9D8B030D-6E8A-4147-A177-3AD203B41FA5}">
                      <a16:colId xmlns:a16="http://schemas.microsoft.com/office/drawing/2014/main" val="1958298950"/>
                    </a:ext>
                  </a:extLst>
                </a:gridCol>
              </a:tblGrid>
              <a:tr h="678179">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927741">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聊天儿</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liáotiānr</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rPr>
                        <a:t>动</a:t>
                      </a:r>
                      <a:endParaRPr lang="en-US" sz="3200" kern="1200">
                        <a:solidFill>
                          <a:schemeClr val="dk1"/>
                        </a:solidFill>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i="0" kern="1200">
                          <a:solidFill>
                            <a:schemeClr val="dk1"/>
                          </a:solidFill>
                          <a:latin typeface="Times New Roman" panose="02020603050405020304" pitchFamily="18" charset="0"/>
                          <a:ea typeface="+mn-ea"/>
                          <a:cs typeface="Times New Roman" panose="02020603050405020304" pitchFamily="18" charset="0"/>
                        </a:rPr>
                        <a:t>Nói chuyện, </a:t>
                      </a:r>
                      <a:br>
                        <a:rPr lang="vi-VN" sz="2800" i="0" kern="1200">
                          <a:solidFill>
                            <a:schemeClr val="dk1"/>
                          </a:solidFill>
                          <a:latin typeface="Times New Roman" panose="02020603050405020304" pitchFamily="18" charset="0"/>
                          <a:ea typeface="+mn-ea"/>
                          <a:cs typeface="Times New Roman" panose="02020603050405020304" pitchFamily="18" charset="0"/>
                        </a:rPr>
                      </a:br>
                      <a:r>
                        <a:rPr lang="en-US" sz="2800" i="0" kern="1200">
                          <a:solidFill>
                            <a:schemeClr val="dk1"/>
                          </a:solidFill>
                          <a:latin typeface="Times New Roman" panose="02020603050405020304" pitchFamily="18" charset="0"/>
                          <a:ea typeface="+mn-ea"/>
                          <a:cs typeface="Times New Roman" panose="02020603050405020304" pitchFamily="18" charset="0"/>
                        </a:rPr>
                        <a:t>tán ngẫ</a:t>
                      </a:r>
                      <a:r>
                        <a:rPr lang="en-US" altLang="zh-CN" sz="2800" i="0" kern="1200">
                          <a:solidFill>
                            <a:schemeClr val="dk1"/>
                          </a:solidFill>
                          <a:latin typeface="Times New Roman" panose="02020603050405020304" pitchFamily="18" charset="0"/>
                          <a:ea typeface="+mn-ea"/>
                          <a:cs typeface="Times New Roman" panose="02020603050405020304" pitchFamily="18" charset="0"/>
                        </a:rPr>
                        <a:t>u</a:t>
                      </a:r>
                      <a:endParaRPr lang="en-US" sz="28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66191364"/>
                  </a:ext>
                </a:extLst>
              </a:tr>
            </a:tbl>
          </a:graphicData>
        </a:graphic>
      </p:graphicFrame>
      <p:pic>
        <p:nvPicPr>
          <p:cNvPr id="15362" name="Picture 2" descr="聊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15186" y="2124637"/>
            <a:ext cx="1757856" cy="1757857"/>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天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80631" y="4354790"/>
            <a:ext cx="1713483" cy="1713484"/>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儿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894114" y="4354791"/>
            <a:ext cx="1186543" cy="1713484"/>
          </a:xfrm>
          <a:prstGeom prst="rect">
            <a:avLst/>
          </a:prstGeom>
          <a:noFill/>
          <a:extLst>
            <a:ext uri="{909E8E84-426E-40DD-AFC4-6F175D3DCCD1}">
              <a14:hiddenFill xmlns:a14="http://schemas.microsoft.com/office/drawing/2010/main">
                <a:solidFill>
                  <a:srgbClr val="FFFFFF"/>
                </a:solidFill>
              </a14:hiddenFill>
            </a:ext>
          </a:extLst>
        </p:spPr>
      </p:pic>
      <p:sp>
        <p:nvSpPr>
          <p:cNvPr id="15367" name="Chiết tự 15367"/>
          <p:cNvSpPr txBox="1"/>
          <p:nvPr/>
        </p:nvSpPr>
        <p:spPr>
          <a:xfrm>
            <a:off x="3200000" y="2052989"/>
            <a:ext cx="4400000" cy="2635160"/>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聊 = </a:t>
            </a:r>
            <a:r>
              <a:rPr lang="zh-CN" sz="3600" dirty="0">
                <a:solidFill>
                  <a:srgbClr val="C00000"/>
                </a:solidFill>
                <a:latin typeface="KaiTi" panose="02010609060101010101" pitchFamily="49" charset="-122"/>
                <a:ea typeface="KaiTi" panose="02010609060101010101" pitchFamily="49" charset="-122"/>
              </a:rPr>
              <a:t>耳</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卯</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Nhĩ 耳 (tai) + 卯</a:t>
            </a:r>
          </a:p>
          <a:p>
            <a:pPr/>
            <a:r>
              <a:rPr lang="zh-CN" sz="3600" dirty="0">
                <a:latin typeface="KaiTi" panose="02010609060101010101" pitchFamily="49" charset="-122"/>
                <a:ea typeface="KaiTi" panose="02010609060101010101" pitchFamily="49" charset="-122"/>
              </a:rPr>
              <a:t>天 = </a:t>
            </a:r>
            <a:r>
              <a:rPr lang="zh-CN" sz="3600" dirty="0">
                <a:latin typeface="KaiTi" panose="02010609060101010101" pitchFamily="49" charset="-122"/>
                <a:ea typeface="KaiTi" panose="02010609060101010101" pitchFamily="49" charset="-122"/>
              </a:rPr>
              <a:t>一</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大</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一 + 大</a:t>
            </a:r>
          </a:p>
        </p:txBody>
      </p:sp>
      <p:sp>
        <p:nvSpPr>
          <p:cNvPr id="15368" name="Nhớ lại 15368"/>
          <p:cNvSpPr txBox="1"/>
          <p:nvPr/>
        </p:nvSpPr>
        <p:spPr>
          <a:xfrm>
            <a:off x="7700000" y="2052989"/>
            <a:ext cx="41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今天</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jīntiān</a:t>
            </a:r>
            <a:r>
              <a:rPr lang="vi-VN" sz="2400" dirty="0">
                <a:latin typeface="Times New Roman" panose="02020603050405020304" pitchFamily="18" charset="0"/>
                <a:ea typeface="KaiTi" panose="02010609060101010101" pitchFamily="49" charset="-122"/>
                <a:cs typeface="Times New Roman" panose="02020603050405020304" pitchFamily="18" charset="0"/>
              </a:rPr>
              <a:t> – hôm nay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天</a:t>
            </a:r>
          </a:p>
          <a:p>
            <a:pPr>
              <a:spcBef>
                <a:spcPts val="200"/>
              </a:spcBef>
            </a:pPr>
            <a:r>
              <a:rPr lang="zh-CN" sz="2800" dirty="0">
                <a:solidFill>
                  <a:srgbClr val="C00000"/>
                </a:solidFill>
                <a:latin typeface="KaiTi" panose="02010609060101010101" pitchFamily="49" charset="-122"/>
                <a:ea typeface="KaiTi" panose="02010609060101010101" pitchFamily="49" charset="-122"/>
              </a:rPr>
              <a:t>哪儿</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nǎr</a:t>
            </a:r>
            <a:r>
              <a:rPr lang="vi-VN" sz="2400" dirty="0">
                <a:latin typeface="Times New Roman" panose="02020603050405020304" pitchFamily="18" charset="0"/>
                <a:ea typeface="KaiTi" panose="02010609060101010101" pitchFamily="49" charset="-122"/>
                <a:cs typeface="Times New Roman" panose="02020603050405020304" pitchFamily="18" charset="0"/>
              </a:rPr>
              <a:t> – ở đâu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儿 – âm uốn lưỡi</a:t>
            </a:r>
          </a:p>
        </p:txBody>
      </p:sp>
      <p:sp>
        <p:nvSpPr>
          <p:cNvPr id="15369" name="Ví dụ thêm 15369"/>
          <p:cNvSpPr txBox="1"/>
          <p:nvPr/>
        </p:nvSpPr>
        <p:spPr>
          <a:xfrm>
            <a:off x="3200000" y="4812989"/>
            <a:ext cx="4400000" cy="1774948"/>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我们在食堂聊天儿。</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Wǒmen zài shítáng liáotiānr.</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Chúng tôi nói chuyện ở căng tin.</a:t>
            </a:r>
          </a:p>
        </p:txBody>
      </p:sp>
    </p:spTree>
    <p:extLst>
      <p:ext uri="{BB962C8B-B14F-4D97-AF65-F5344CB8AC3E}">
        <p14:creationId xmlns:p14="http://schemas.microsoft.com/office/powerpoint/2010/main" val="40514500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67"/>
                                        </p:tgtEl>
                                        <p:attrNameLst>
                                          <p:attrName>style.visibility</p:attrName>
                                        </p:attrNameLst>
                                      </p:cBhvr>
                                      <p:to>
                                        <p:strVal val="visible"/>
                                      </p:to>
                                    </p:set>
                                    <p:animEffect transition="in" filter="dissolve">
                                      <p:cBhvr>
                                        <p:cTn id="7" dur="500"/>
                                        <p:tgtEl>
                                          <p:spTgt spid="153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9"/>
                                        </p:tgtEl>
                                        <p:attrNameLst>
                                          <p:attrName>style.visibility</p:attrName>
                                        </p:attrNameLst>
                                      </p:cBhvr>
                                      <p:to>
                                        <p:strVal val="visible"/>
                                      </p:to>
                                    </p:set>
                                    <p:animEffect transition="in" filter="wipe(left)">
                                      <p:cBhvr>
                                        <p:cTn id="12" dur="500"/>
                                        <p:tgtEl>
                                          <p:spTgt spid="153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8"/>
                                        </p:tgtEl>
                                        <p:attrNameLst>
                                          <p:attrName>style.visibility</p:attrName>
                                        </p:attrNameLst>
                                      </p:cBhvr>
                                      <p:to>
                                        <p:strVal val="visible"/>
                                      </p:to>
                                    </p:set>
                                    <p:animEffect transition="in" filter="wipe(left)">
                                      <p:cBhvr>
                                        <p:cTn id="17"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79C75-0972-4543-CA76-AB431A28BDD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AD81DFB-1D55-6EEA-FBB5-025415BB9F4B}"/>
              </a:ext>
            </a:extLst>
          </p:cNvPr>
          <p:cNvGraphicFramePr>
            <a:graphicFrameLocks noGrp="1"/>
          </p:cNvGraphicFramePr>
          <p:nvPr>
            <p:extLst>
              <p:ext uri="{D42A27DB-BD31-4B8C-83A1-F6EECF244321}">
                <p14:modId xmlns:p14="http://schemas.microsoft.com/office/powerpoint/2010/main" val="2781928758"/>
              </p:ext>
            </p:extLst>
          </p:nvPr>
        </p:nvGraphicFramePr>
        <p:xfrm>
          <a:off x="2764722" y="39645"/>
          <a:ext cx="6999764" cy="6557421"/>
        </p:xfrm>
        <a:graphic>
          <a:graphicData uri="http://schemas.openxmlformats.org/drawingml/2006/table">
            <a:tbl>
              <a:tblPr firstRow="1">
                <a:tableStyleId>{5C22544A-7EE6-4342-B048-85BDC9FD1C3A}</a:tableStyleId>
              </a:tblPr>
              <a:tblGrid>
                <a:gridCol w="1067050">
                  <a:extLst>
                    <a:ext uri="{9D8B030D-6E8A-4147-A177-3AD203B41FA5}">
                      <a16:colId xmlns:a16="http://schemas.microsoft.com/office/drawing/2014/main" val="2897192029"/>
                    </a:ext>
                  </a:extLst>
                </a:gridCol>
                <a:gridCol w="2512263">
                  <a:extLst>
                    <a:ext uri="{9D8B030D-6E8A-4147-A177-3AD203B41FA5}">
                      <a16:colId xmlns:a16="http://schemas.microsoft.com/office/drawing/2014/main" val="2090168382"/>
                    </a:ext>
                  </a:extLst>
                </a:gridCol>
                <a:gridCol w="992937">
                  <a:extLst>
                    <a:ext uri="{9D8B030D-6E8A-4147-A177-3AD203B41FA5}">
                      <a16:colId xmlns:a16="http://schemas.microsoft.com/office/drawing/2014/main" val="964787021"/>
                    </a:ext>
                  </a:extLst>
                </a:gridCol>
                <a:gridCol w="2427514">
                  <a:extLst>
                    <a:ext uri="{9D8B030D-6E8A-4147-A177-3AD203B41FA5}">
                      <a16:colId xmlns:a16="http://schemas.microsoft.com/office/drawing/2014/main" val="934390766"/>
                    </a:ext>
                  </a:extLst>
                </a:gridCol>
              </a:tblGrid>
              <a:tr h="461098">
                <a:tc>
                  <a:txBody>
                    <a:bodyPr/>
                    <a:lstStyle/>
                    <a:p>
                      <a:pPr marL="0" indent="0" algn="ctr" defTabSz="914400" rtl="0" eaLnBrk="1" latinLnBrk="0" hangingPunct="1">
                        <a:buFontTx/>
                        <a:buNone/>
                      </a:pP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dirty="0" err="1">
                          <a:solidFill>
                            <a:srgbClr val="07443C"/>
                          </a:solidFill>
                          <a:effectLst/>
                          <a:latin typeface="Times New Roman" panose="02020603050405020304" pitchFamily="18" charset="0"/>
                          <a:ea typeface="+mn-ea"/>
                          <a:cs typeface="Times New Roman" panose="02020603050405020304" pitchFamily="18" charset="0"/>
                        </a:rPr>
                        <a:t>Tiếng</a:t>
                      </a: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dirty="0" err="1">
                          <a:solidFill>
                            <a:srgbClr val="07443C"/>
                          </a:solidFill>
                          <a:effectLst/>
                          <a:latin typeface="Times New Roman" panose="02020603050405020304" pitchFamily="18" charset="0"/>
                          <a:ea typeface="+mn-ea"/>
                          <a:cs typeface="Times New Roman" panose="02020603050405020304" pitchFamily="18" charset="0"/>
                        </a:rPr>
                        <a:t>Tiếng</a:t>
                      </a: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8775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同屋</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dirty="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周末</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433596">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在</a:t>
                      </a:r>
                      <a:endParaRPr lang="en-US" sz="2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平时</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986799">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家</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学校</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461651">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汽车</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食堂</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79489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公司</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rowSpan="2">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的时候</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44027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工作</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时候</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r h="388717">
                <a:tc rowSpan="3">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从</a:t>
                      </a:r>
                      <a:r>
                        <a:rPr lang="en-US" altLang="zh-CN"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到</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做饭</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r h="472437">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从</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菜</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164739039"/>
                  </a:ext>
                </a:extLst>
              </a:tr>
              <a:tr h="388717">
                <a:tc vMerge="1">
                  <a:txBody>
                    <a:bodyPr/>
                    <a:lstStyle/>
                    <a:p>
                      <a:pPr marL="0" indent="0" algn="ctr" defTabSz="914400" rtl="0" eaLnBrk="1" fontAlgn="b" latinLnBrk="0" hangingPunct="1">
                        <a:buFontTx/>
                        <a:buNone/>
                      </a:pP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到</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聊天儿</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27085916"/>
                  </a:ext>
                </a:extLst>
              </a:tr>
              <a:tr h="472437">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上班</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dirty="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周末</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296778592"/>
                  </a:ext>
                </a:extLst>
              </a:tr>
            </a:tbl>
          </a:graphicData>
        </a:graphic>
      </p:graphicFrame>
      <p:sp>
        <p:nvSpPr>
          <p:cNvPr id="6" name="Title 1">
            <a:extLst>
              <a:ext uri="{FF2B5EF4-FFF2-40B4-BE49-F238E27FC236}">
                <a16:creationId xmlns:a16="http://schemas.microsoft.com/office/drawing/2014/main" id="{6BE892D0-F057-4B8E-1E8C-82FCB8F53C11}"/>
              </a:ext>
            </a:extLst>
          </p:cNvPr>
          <p:cNvSpPr txBox="1">
            <a:spLocks/>
          </p:cNvSpPr>
          <p:nvPr/>
        </p:nvSpPr>
        <p:spPr>
          <a:xfrm>
            <a:off x="113699" y="39645"/>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solidFill>
                  <a:srgbClr val="FF0000"/>
                </a:solidFill>
                <a:latin typeface="KaiTi" panose="02010609060101010101" pitchFamily="49" charset="-122"/>
                <a:ea typeface="KaiTi" panose="02010609060101010101" pitchFamily="49" charset="-122"/>
              </a:rPr>
              <a:t>课</a:t>
            </a:r>
            <a:r>
              <a:rPr lang="en-US" altLang="zh-CN" sz="2000" b="1" dirty="0">
                <a:solidFill>
                  <a:srgbClr val="FF0000"/>
                </a:solidFill>
                <a:latin typeface="KaiTi" panose="02010609060101010101" pitchFamily="49" charset="-122"/>
                <a:ea typeface="KaiTi" panose="02010609060101010101" pitchFamily="49" charset="-122"/>
              </a:rPr>
              <a:t> </a:t>
            </a:r>
            <a:r>
              <a:rPr lang="zh-CN" altLang="en-US" sz="2000" b="1" dirty="0">
                <a:solidFill>
                  <a:srgbClr val="FF0000"/>
                </a:solidFill>
                <a:latin typeface="KaiTi" panose="02010609060101010101" pitchFamily="49" charset="-122"/>
                <a:ea typeface="KaiTi" panose="02010609060101010101" pitchFamily="49" charset="-122"/>
              </a:rPr>
              <a:t>文一 </a:t>
            </a:r>
            <a:r>
              <a:rPr lang="en-US" altLang="zh-CN" sz="2000" b="1" dirty="0" err="1">
                <a:solidFill>
                  <a:srgbClr val="FF0000"/>
                </a:solidFill>
                <a:latin typeface="KaiTi" panose="02010609060101010101" pitchFamily="49" charset="-122"/>
                <a:ea typeface="KaiTi" panose="02010609060101010101" pitchFamily="49" charset="-122"/>
              </a:rPr>
              <a:t>Bài</a:t>
            </a:r>
            <a:r>
              <a:rPr lang="en-US" altLang="zh-CN" sz="2000" b="1" dirty="0">
                <a:solidFill>
                  <a:srgbClr val="FF0000"/>
                </a:solidFill>
                <a:latin typeface="KaiTi" panose="02010609060101010101" pitchFamily="49" charset="-122"/>
                <a:ea typeface="KaiTi" panose="02010609060101010101" pitchFamily="49" charset="-122"/>
              </a:rPr>
              <a:t> </a:t>
            </a:r>
            <a:r>
              <a:rPr lang="en-US" altLang="zh-CN" sz="2000" b="1" dirty="0" err="1">
                <a:solidFill>
                  <a:srgbClr val="FF0000"/>
                </a:solidFill>
                <a:latin typeface="KaiTi" panose="02010609060101010101" pitchFamily="49" charset="-122"/>
                <a:ea typeface="KaiTi" panose="02010609060101010101" pitchFamily="49" charset="-122"/>
              </a:rPr>
              <a:t>khóa</a:t>
            </a:r>
            <a:r>
              <a:rPr lang="en-US" altLang="zh-CN" sz="2000" b="1" dirty="0">
                <a:solidFill>
                  <a:srgbClr val="FF0000"/>
                </a:solidFill>
                <a:latin typeface="KaiTi" panose="02010609060101010101" pitchFamily="49" charset="-122"/>
                <a:ea typeface="KaiTi" panose="02010609060101010101" pitchFamily="49" charset="-122"/>
              </a:rPr>
              <a:t> 1</a:t>
            </a:r>
            <a:endParaRPr lang="en-US" sz="2000" dirty="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7263426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864813" y="153849"/>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文一 </a:t>
            </a:r>
            <a:r>
              <a:rPr lang="en-US" altLang="zh-CN" sz="2000" b="1">
                <a:solidFill>
                  <a:srgbClr val="FF0000"/>
                </a:solidFill>
                <a:latin typeface="KaiTi" panose="02010609060101010101" pitchFamily="49" charset="-122"/>
                <a:ea typeface="KaiTi" panose="02010609060101010101" pitchFamily="49" charset="-122"/>
              </a:rPr>
              <a:t>Bài khóa 1</a:t>
            </a:r>
            <a:endParaRPr lang="en-US" sz="2000">
              <a:solidFill>
                <a:srgbClr val="FF0000"/>
              </a:solidFill>
              <a:latin typeface="KaiTi" panose="02010609060101010101" pitchFamily="49" charset="-122"/>
              <a:ea typeface="KaiTi" panose="02010609060101010101" pitchFamily="49" charset="-122"/>
            </a:endParaRPr>
          </a:p>
        </p:txBody>
      </p:sp>
      <p:pic>
        <p:nvPicPr>
          <p:cNvPr id="3" name="11-2.mp3">
            <a:hlinkClick r:id="" action="ppaction://media"/>
            <a:extLst>
              <a:ext uri="{FF2B5EF4-FFF2-40B4-BE49-F238E27FC236}">
                <a16:creationId xmlns:a16="http://schemas.microsoft.com/office/drawing/2014/main" id="{FE9169D3-7704-3985-603F-576F0E5283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3483" y="4929022"/>
            <a:ext cx="812800" cy="812800"/>
          </a:xfrm>
          <a:prstGeom prst="rect">
            <a:avLst/>
          </a:prstGeom>
        </p:spPr>
      </p:pic>
      <p:pic>
        <p:nvPicPr>
          <p:cNvPr id="4" name="Picture 3" descr=", do AI tạo">
            <a:extLst>
              <a:ext uri="{FF2B5EF4-FFF2-40B4-BE49-F238E27FC236}">
                <a16:creationId xmlns:a16="http://schemas.microsoft.com/office/drawing/2014/main" id="{76AA09B7-FFAA-DF52-EBD2-13A41AECBC10}"/>
              </a:ext>
            </a:extLst>
          </p:cNvPr>
          <p:cNvPicPr>
            <a:picLocks noChangeAspect="1"/>
          </p:cNvPicPr>
          <p:nvPr/>
        </p:nvPicPr>
        <p:blipFill>
          <a:blip r:embed="rId6"/>
          <a:stretch>
            <a:fillRect/>
          </a:stretch>
        </p:blipFill>
        <p:spPr>
          <a:xfrm>
            <a:off x="0" y="708477"/>
            <a:ext cx="4723494" cy="4723494"/>
          </a:xfrm>
          <a:prstGeom prst="rect">
            <a:avLst/>
          </a:prstGeom>
        </p:spPr>
      </p:pic>
      <p:sp>
        <p:nvSpPr>
          <p:cNvPr id="5" name="TextBox 4">
            <a:extLst>
              <a:ext uri="{FF2B5EF4-FFF2-40B4-BE49-F238E27FC236}">
                <a16:creationId xmlns:a16="http://schemas.microsoft.com/office/drawing/2014/main" id="{D036F5E3-EF82-E1C6-5A31-6C5448027D3D}"/>
              </a:ext>
            </a:extLst>
          </p:cNvPr>
          <p:cNvSpPr txBox="1"/>
          <p:nvPr/>
        </p:nvSpPr>
        <p:spPr>
          <a:xfrm>
            <a:off x="5096325" y="969734"/>
            <a:ext cx="6847117" cy="3903954"/>
          </a:xfrm>
          <a:prstGeom prst="rect">
            <a:avLst/>
          </a:prstGeom>
          <a:solidFill>
            <a:schemeClr val="bg1"/>
          </a:solidFill>
        </p:spPr>
        <p:txBody>
          <a:bodyPr wrap="square" rtlCol="0">
            <a:spAutoFit/>
          </a:bodyPr>
          <a:lstStyle/>
          <a:p>
            <a:pPr>
              <a:lnSpc>
                <a:spcPct val="150000"/>
              </a:lnSpc>
            </a:pPr>
            <a:r>
              <a:rPr 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1.</a:t>
            </a: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“我”同屋在哪儿工作？</a:t>
            </a:r>
            <a:br>
              <a:rPr lang="vi-VN"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Wǒ</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tóng</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wū</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zài</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nǎr</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gōngzuò</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2.</a:t>
            </a: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“我”平时在哪儿工作？</a:t>
            </a:r>
            <a:br>
              <a:rPr lang="vi-VN"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Wǒ</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píngshí</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zài</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nǎr</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gōngzuò</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endParaRPr>
          </a:p>
          <a:p>
            <a:pPr>
              <a:lnSpc>
                <a:spcPct val="150000"/>
              </a:lnSpc>
            </a:pPr>
            <a:r>
              <a:rPr 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3.</a:t>
            </a: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休息的时候，“我”和同屋做什么？</a:t>
            </a:r>
            <a:br>
              <a:rPr lang="vi-VN"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Xiūxi</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de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shíhòu</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wǒ</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hé</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tóng</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wū</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zuò</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shénme</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TextBox 5">
            <a:extLst>
              <a:ext uri="{FF2B5EF4-FFF2-40B4-BE49-F238E27FC236}">
                <a16:creationId xmlns:a16="http://schemas.microsoft.com/office/drawing/2014/main" id="{9086EF34-D7E4-1618-94A8-6EA7CC0678A8}"/>
              </a:ext>
            </a:extLst>
          </p:cNvPr>
          <p:cNvSpPr txBox="1"/>
          <p:nvPr/>
        </p:nvSpPr>
        <p:spPr>
          <a:xfrm>
            <a:off x="7322243" y="23349"/>
            <a:ext cx="2101510" cy="737510"/>
          </a:xfrm>
          <a:prstGeom prst="rect">
            <a:avLst/>
          </a:prstGeom>
          <a:solidFill>
            <a:srgbClr val="FFFF00"/>
          </a:solidFill>
          <a:ln>
            <a:solidFill>
              <a:schemeClr val="accent1"/>
            </a:solidFill>
          </a:ln>
        </p:spPr>
        <p:style>
          <a:lnRef idx="0">
            <a:scrgbClr r="0" g="0" b="0"/>
          </a:lnRef>
          <a:fillRef idx="0">
            <a:scrgbClr r="0" g="0" b="0"/>
          </a:fillRef>
          <a:effectRef idx="0">
            <a:scrgbClr r="0" g="0" b="0"/>
          </a:effectRef>
          <a:fontRef idx="minor">
            <a:schemeClr val="accent2"/>
          </a:fontRef>
        </p:style>
        <p:txBody>
          <a:bodyPr wrap="square" rtlCol="0">
            <a:spAutoFit/>
          </a:bodyPr>
          <a:lstStyle/>
          <a:p>
            <a:pPr algn="ctr">
              <a:lnSpc>
                <a:spcPct val="150000"/>
              </a:lnSpc>
            </a:pPr>
            <a:r>
              <a:rPr lang="zh-CN" alt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问题 </a:t>
            </a:r>
            <a:r>
              <a:rPr lang="en-US" altLang="zh-CN" sz="320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w</a:t>
            </a:r>
            <a:r>
              <a:rPr lang="en-US" sz="320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èntí</a:t>
            </a: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 </a:t>
            </a:r>
          </a:p>
        </p:txBody>
      </p:sp>
    </p:spTree>
    <p:extLst>
      <p:ext uri="{BB962C8B-B14F-4D97-AF65-F5344CB8AC3E}">
        <p14:creationId xmlns:p14="http://schemas.microsoft.com/office/powerpoint/2010/main" val="20130909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3"/>
                </p:tgtEl>
              </p:cMediaNode>
            </p:audio>
          </p:childTnLst>
        </p:cTn>
      </p:par>
    </p:tnLst>
    <p:bldLst>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110B6-C33A-7BAC-A91B-1B11E649416C}"/>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65DF8AF-4405-5288-1DF0-0747B3CD4E82}"/>
              </a:ext>
            </a:extLst>
          </p:cNvPr>
          <p:cNvGraphicFramePr>
            <a:graphicFrameLocks noGrp="1"/>
          </p:cNvGraphicFramePr>
          <p:nvPr>
            <p:extLst>
              <p:ext uri="{D42A27DB-BD31-4B8C-83A1-F6EECF244321}">
                <p14:modId xmlns:p14="http://schemas.microsoft.com/office/powerpoint/2010/main" val="2555327662"/>
              </p:ext>
            </p:extLst>
          </p:nvPr>
        </p:nvGraphicFramePr>
        <p:xfrm>
          <a:off x="330199" y="566057"/>
          <a:ext cx="11742058" cy="5943600"/>
        </p:xfrm>
        <a:graphic>
          <a:graphicData uri="http://schemas.openxmlformats.org/drawingml/2006/table">
            <a:tbl>
              <a:tblPr>
                <a:tableStyleId>{2D5ABB26-0587-4C30-8999-92F81FD0307C}</a:tableStyleId>
              </a:tblPr>
              <a:tblGrid>
                <a:gridCol w="11742058">
                  <a:extLst>
                    <a:ext uri="{9D8B030D-6E8A-4147-A177-3AD203B41FA5}">
                      <a16:colId xmlns:a16="http://schemas.microsoft.com/office/drawing/2014/main" val="2803610259"/>
                    </a:ext>
                  </a:extLst>
                </a:gridCol>
              </a:tblGrid>
              <a:tr h="5907314">
                <a:tc>
                  <a:txBody>
                    <a:bodyPr/>
                    <a:lstStyle/>
                    <a:p>
                      <a:pPr algn="l">
                        <a:lnSpc>
                          <a:spcPct val="100000"/>
                        </a:lnSpc>
                      </a:pPr>
                      <a:r>
                        <a:rPr lang="zh-CN" altLang="en-US" sz="3200" dirty="0">
                          <a:solidFill>
                            <a:srgbClr val="00B050"/>
                          </a:solidFill>
                          <a:latin typeface="KaiTi" panose="02010609060101010101" pitchFamily="49" charset="-122"/>
                          <a:ea typeface="KaiTi" panose="02010609060101010101" pitchFamily="49" charset="-122"/>
                        </a:rPr>
                        <a:t>我的同屋是中国人，</a:t>
                      </a:r>
                      <a:br>
                        <a:rPr lang="vi-VN" altLang="zh-CN" sz="3200" dirty="0">
                          <a:solidFill>
                            <a:srgbClr val="00B05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de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tóngwū</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shì</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Zhōngguó</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rén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br>
                        <a:rPr lang="vi-VN" altLang="zh-CN" sz="3200" dirty="0">
                          <a:solidFill>
                            <a:srgbClr val="00B050"/>
                          </a:solidFill>
                          <a:latin typeface="KaiTi" panose="02010609060101010101" pitchFamily="49" charset="-122"/>
                          <a:ea typeface="KaiTi" panose="02010609060101010101" pitchFamily="49" charset="-122"/>
                        </a:rPr>
                      </a:br>
                      <a:r>
                        <a:rPr lang="zh-CN" altLang="en-US" sz="3200" dirty="0">
                          <a:solidFill>
                            <a:srgbClr val="00B050"/>
                          </a:solidFill>
                          <a:latin typeface="KaiTi" panose="02010609060101010101" pitchFamily="49" charset="-122"/>
                          <a:ea typeface="KaiTi" panose="02010609060101010101" pitchFamily="49" charset="-122"/>
                        </a:rPr>
                        <a:t>他在一家汽车公司工作。</a:t>
                      </a:r>
                      <a:br>
                        <a:rPr lang="vi-VN" altLang="zh-CN" sz="3200" dirty="0">
                          <a:solidFill>
                            <a:srgbClr val="00B05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yìjiā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qìchē</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gōngsī</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gōngzuò</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br>
                        <a:rPr lang="vi-VN" altLang="zh-CN" sz="3200" dirty="0">
                          <a:solidFill>
                            <a:srgbClr val="00B050"/>
                          </a:solidFill>
                          <a:latin typeface="KaiTi" panose="02010609060101010101" pitchFamily="49" charset="-122"/>
                          <a:ea typeface="KaiTi" panose="02010609060101010101" pitchFamily="49" charset="-122"/>
                        </a:rPr>
                      </a:br>
                      <a:r>
                        <a:rPr lang="zh-CN" altLang="en-US" sz="3200" dirty="0">
                          <a:solidFill>
                            <a:srgbClr val="00B050"/>
                          </a:solidFill>
                          <a:latin typeface="KaiTi" panose="02010609060101010101" pitchFamily="49" charset="-122"/>
                          <a:ea typeface="KaiTi" panose="02010609060101010101" pitchFamily="49" charset="-122"/>
                        </a:rPr>
                        <a:t>他每天都很忙，从早上八点到下午五点都在公司上班，</a:t>
                      </a:r>
                      <a:br>
                        <a:rPr lang="vi-VN" altLang="zh-CN" sz="3200" dirty="0">
                          <a:solidFill>
                            <a:srgbClr val="00B05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měitiān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dōu</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hěn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máng</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cóng</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zǎoshang</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diǎn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dào</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xiàwǔ</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wǔ</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diǎn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dōu</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gōngsī</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shàngbān</a:t>
                      </a:r>
                      <a:r>
                        <a:rPr kumimoji="0" lang="vi-VN"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br>
                        <a:rPr kumimoji="0" lang="vi-VN" altLang="zh-C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br>
                      <a:r>
                        <a:rPr lang="zh-CN" altLang="en-US" sz="3200" dirty="0">
                          <a:solidFill>
                            <a:srgbClr val="00B050"/>
                          </a:solidFill>
                          <a:latin typeface="KaiTi" panose="02010609060101010101" pitchFamily="49" charset="-122"/>
                          <a:ea typeface="KaiTi" panose="02010609060101010101" pitchFamily="49" charset="-122"/>
                        </a:rPr>
                        <a:t>有时候周末也去上班。平时我在学校食堂吃饭，他也不在家吃饭。</a:t>
                      </a:r>
                      <a:br>
                        <a:rPr lang="vi-VN" altLang="zh-CN" sz="3200" dirty="0">
                          <a:solidFill>
                            <a:srgbClr val="00B050"/>
                          </a:solidFill>
                          <a:latin typeface="KaiTi" panose="02010609060101010101" pitchFamily="49" charset="-122"/>
                          <a:ea typeface="KaiTi" panose="02010609060101010101" pitchFamily="49" charset="-122"/>
                        </a:rPr>
                      </a:br>
                      <a:r>
                        <a:rPr kumimoji="0"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ǒu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shíhòu</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zhōumò</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yě</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qù</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shàngbān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Píngshí</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xuéxiào</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shítáng</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chīfàn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yě</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bú</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jiā</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chīfàn</a:t>
                      </a:r>
                      <a:r>
                        <a:rPr kumimoji="0" lang="en-US"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br>
                        <a:rPr kumimoji="0" lang="vi-VN" sz="24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br>
                      <a:r>
                        <a:rPr lang="zh-CN" altLang="en-US" sz="3200" dirty="0">
                          <a:solidFill>
                            <a:srgbClr val="00B050"/>
                          </a:solidFill>
                          <a:latin typeface="KaiTi" panose="02010609060101010101" pitchFamily="49" charset="-122"/>
                          <a:ea typeface="KaiTi" panose="02010609060101010101" pitchFamily="49" charset="-122"/>
                        </a:rPr>
                        <a:t>休息的时候，我们在家做饭。我做韩国菜，他做中国菜，我们一起吃饭聊天儿。</a:t>
                      </a:r>
                      <a:br>
                        <a:rPr lang="en-US" altLang="zh-CN" sz="3200" dirty="0">
                          <a:solidFill>
                            <a:srgbClr val="00B050"/>
                          </a:solidFill>
                          <a:latin typeface="KaiTi" panose="02010609060101010101" pitchFamily="49" charset="-122"/>
                          <a:ea typeface="KaiTi" panose="02010609060101010101" pitchFamily="49" charset="-122"/>
                        </a:rPr>
                      </a:br>
                      <a:r>
                        <a:rPr kumimoji="0" lang="en-US" altLang="zh-CN"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Xiūxi</a:t>
                      </a:r>
                      <a:r>
                        <a:rPr kumimoji="0" lang="en-US" altLang="zh-C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de</a:t>
                      </a:r>
                      <a:r>
                        <a:rPr kumimoji="0" lang="vi-VN" altLang="zh-C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shíhòu</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wǒmen</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zàijiā</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zuò</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fàn</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zuò</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vi-V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H</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ánguó</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cài</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tā</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zuò</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vi-V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hōngguó</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cài</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wǒmen</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yìqǐ</a:t>
                      </a:r>
                      <a:r>
                        <a:rPr kumimoji="0" lang="en-US" altLang="zh-CN"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chīfàn</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liáotiānr</a:t>
                      </a:r>
                      <a:r>
                        <a:rPr kumimoji="0" lang="en-US" sz="24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1001144329"/>
                  </a:ext>
                </a:extLst>
              </a:tr>
            </a:tbl>
          </a:graphicData>
        </a:graphic>
      </p:graphicFrame>
      <p:sp>
        <p:nvSpPr>
          <p:cNvPr id="11" name="Title 1">
            <a:extLst>
              <a:ext uri="{FF2B5EF4-FFF2-40B4-BE49-F238E27FC236}">
                <a16:creationId xmlns:a16="http://schemas.microsoft.com/office/drawing/2014/main" id="{64E53C53-E767-C29B-5EF4-F1C18F856718}"/>
              </a:ext>
            </a:extLst>
          </p:cNvPr>
          <p:cNvSpPr txBox="1">
            <a:spLocks/>
          </p:cNvSpPr>
          <p:nvPr/>
        </p:nvSpPr>
        <p:spPr>
          <a:xfrm>
            <a:off x="864813" y="153849"/>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文一 </a:t>
            </a:r>
            <a:r>
              <a:rPr lang="en-US" altLang="zh-CN" sz="2000" b="1">
                <a:solidFill>
                  <a:srgbClr val="FF0000"/>
                </a:solidFill>
                <a:latin typeface="KaiTi" panose="02010609060101010101" pitchFamily="49" charset="-122"/>
                <a:ea typeface="KaiTi" panose="02010609060101010101" pitchFamily="49" charset="-122"/>
              </a:rPr>
              <a:t>Bài khóa 1</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2491925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E923A-47DE-A462-7EA2-45D88E3F6FA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A740104-7EFA-F47A-6097-E8E3BCCCDFA0}"/>
              </a:ext>
            </a:extLst>
          </p:cNvPr>
          <p:cNvGraphicFramePr>
            <a:graphicFrameLocks noGrp="1"/>
          </p:cNvGraphicFramePr>
          <p:nvPr>
            <p:extLst>
              <p:ext uri="{D42A27DB-BD31-4B8C-83A1-F6EECF244321}">
                <p14:modId xmlns:p14="http://schemas.microsoft.com/office/powerpoint/2010/main" val="3359900544"/>
              </p:ext>
            </p:extLst>
          </p:nvPr>
        </p:nvGraphicFramePr>
        <p:xfrm>
          <a:off x="224971" y="720634"/>
          <a:ext cx="11742058" cy="4925060"/>
        </p:xfrm>
        <a:graphic>
          <a:graphicData uri="http://schemas.openxmlformats.org/drawingml/2006/table">
            <a:tbl>
              <a:tblPr>
                <a:tableStyleId>{2D5ABB26-0587-4C30-8999-92F81FD0307C}</a:tableStyleId>
              </a:tblPr>
              <a:tblGrid>
                <a:gridCol w="11742058">
                  <a:extLst>
                    <a:ext uri="{9D8B030D-6E8A-4147-A177-3AD203B41FA5}">
                      <a16:colId xmlns:a16="http://schemas.microsoft.com/office/drawing/2014/main" val="2803610259"/>
                    </a:ext>
                  </a:extLst>
                </a:gridCol>
              </a:tblGrid>
              <a:tr h="3222171">
                <a:tc>
                  <a:txBody>
                    <a:bodyPr/>
                    <a:lstStyle/>
                    <a:p>
                      <a:pPr algn="l">
                        <a:lnSpc>
                          <a:spcPct val="150000"/>
                        </a:lnSpc>
                      </a:pPr>
                      <a:r>
                        <a:rPr lang="zh-CN" altLang="en-US" sz="3600" dirty="0">
                          <a:solidFill>
                            <a:schemeClr val="tx1"/>
                          </a:solidFill>
                          <a:latin typeface="KaiTi" panose="02010609060101010101" pitchFamily="49" charset="-122"/>
                          <a:ea typeface="KaiTi" panose="02010609060101010101" pitchFamily="49" charset="-122"/>
                        </a:rPr>
                        <a:t>我的同屋是中国人，他在一家汽车公司工作。</a:t>
                      </a:r>
                      <a:br>
                        <a:rPr lang="vi-VN" altLang="zh-CN" sz="3600" dirty="0">
                          <a:solidFill>
                            <a:schemeClr val="tx1"/>
                          </a:solidFill>
                          <a:latin typeface="KaiTi" panose="02010609060101010101" pitchFamily="49" charset="-122"/>
                          <a:ea typeface="KaiTi" panose="02010609060101010101" pitchFamily="49" charset="-122"/>
                        </a:rPr>
                      </a:br>
                      <a:r>
                        <a:rPr lang="zh-CN" altLang="en-US" sz="3600" dirty="0">
                          <a:solidFill>
                            <a:schemeClr val="tx1"/>
                          </a:solidFill>
                          <a:latin typeface="KaiTi" panose="02010609060101010101" pitchFamily="49" charset="-122"/>
                          <a:ea typeface="KaiTi" panose="02010609060101010101" pitchFamily="49" charset="-122"/>
                        </a:rPr>
                        <a:t>他每天都很忙，从早上八点到下午五点都在公司上班，</a:t>
                      </a:r>
                      <a:br>
                        <a:rPr kumimoji="0" lang="vi-VN" altLang="zh-CN" sz="28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rPr>
                      </a:br>
                      <a:r>
                        <a:rPr lang="zh-CN" altLang="en-US" sz="3600" dirty="0">
                          <a:solidFill>
                            <a:schemeClr val="tx1"/>
                          </a:solidFill>
                          <a:latin typeface="KaiTi" panose="02010609060101010101" pitchFamily="49" charset="-122"/>
                          <a:ea typeface="KaiTi" panose="02010609060101010101" pitchFamily="49" charset="-122"/>
                        </a:rPr>
                        <a:t>有时候周末也去上班。</a:t>
                      </a:r>
                      <a:endParaRPr lang="vi-VN" altLang="zh-CN" sz="3600" dirty="0">
                        <a:solidFill>
                          <a:schemeClr val="tx1"/>
                        </a:solidFill>
                        <a:latin typeface="KaiTi" panose="02010609060101010101" pitchFamily="49" charset="-122"/>
                        <a:ea typeface="KaiTi" panose="02010609060101010101" pitchFamily="49" charset="-122"/>
                      </a:endParaRPr>
                    </a:p>
                    <a:p>
                      <a:pPr algn="l">
                        <a:lnSpc>
                          <a:spcPct val="150000"/>
                        </a:lnSpc>
                      </a:pPr>
                      <a:r>
                        <a:rPr lang="zh-CN" altLang="en-US" sz="3600" dirty="0">
                          <a:solidFill>
                            <a:schemeClr val="tx1"/>
                          </a:solidFill>
                          <a:latin typeface="KaiTi" panose="02010609060101010101" pitchFamily="49" charset="-122"/>
                          <a:ea typeface="KaiTi" panose="02010609060101010101" pitchFamily="49" charset="-122"/>
                        </a:rPr>
                        <a:t>平时我在学校食堂吃饭，他也不在家吃饭。</a:t>
                      </a:r>
                      <a:br>
                        <a:rPr kumimoji="0" lang="vi-VN" sz="2800" b="0"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br>
                      <a:r>
                        <a:rPr lang="zh-CN" altLang="en-US" sz="3600" dirty="0">
                          <a:solidFill>
                            <a:schemeClr val="tx1"/>
                          </a:solidFill>
                          <a:latin typeface="KaiTi" panose="02010609060101010101" pitchFamily="49" charset="-122"/>
                          <a:ea typeface="KaiTi" panose="02010609060101010101" pitchFamily="49" charset="-122"/>
                        </a:rPr>
                        <a:t>休息的时候，我们在家做饭。我做韩国菜，他做中国菜，我们一起吃饭聊天儿。</a:t>
                      </a:r>
                      <a:endParaRPr kumimoji="0" lang="en-US" sz="2800" b="0" i="1" u="none" strike="noStrike" kern="1200" cap="none" spc="0" normalizeH="0" baseline="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1144329"/>
                  </a:ext>
                </a:extLst>
              </a:tr>
            </a:tbl>
          </a:graphicData>
        </a:graphic>
      </p:graphicFrame>
      <p:sp>
        <p:nvSpPr>
          <p:cNvPr id="11" name="Title 1">
            <a:extLst>
              <a:ext uri="{FF2B5EF4-FFF2-40B4-BE49-F238E27FC236}">
                <a16:creationId xmlns:a16="http://schemas.microsoft.com/office/drawing/2014/main" id="{0A036D3D-05D8-E37C-5122-A963130D5ED4}"/>
              </a:ext>
            </a:extLst>
          </p:cNvPr>
          <p:cNvSpPr txBox="1">
            <a:spLocks/>
          </p:cNvSpPr>
          <p:nvPr/>
        </p:nvSpPr>
        <p:spPr>
          <a:xfrm>
            <a:off x="864813" y="153849"/>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文一 </a:t>
            </a:r>
            <a:r>
              <a:rPr lang="en-US" altLang="zh-CN" sz="2000" b="1">
                <a:solidFill>
                  <a:srgbClr val="FF0000"/>
                </a:solidFill>
                <a:latin typeface="KaiTi" panose="02010609060101010101" pitchFamily="49" charset="-122"/>
                <a:ea typeface="KaiTi" panose="02010609060101010101" pitchFamily="49" charset="-122"/>
              </a:rPr>
              <a:t>Bài khóa 1</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2459142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96138853"/>
              </p:ext>
            </p:extLst>
          </p:nvPr>
        </p:nvGraphicFramePr>
        <p:xfrm>
          <a:off x="433953" y="445830"/>
          <a:ext cx="7656161" cy="6164528"/>
        </p:xfrm>
        <a:graphic>
          <a:graphicData uri="http://schemas.openxmlformats.org/drawingml/2006/table">
            <a:tbl>
              <a:tblPr firstRow="1">
                <a:tableStyleId>{5C22544A-7EE6-4342-B048-85BDC9FD1C3A}</a:tableStyleId>
              </a:tblPr>
              <a:tblGrid>
                <a:gridCol w="854520">
                  <a:extLst>
                    <a:ext uri="{9D8B030D-6E8A-4147-A177-3AD203B41FA5}">
                      <a16:colId xmlns:a16="http://schemas.microsoft.com/office/drawing/2014/main" val="2897192029"/>
                    </a:ext>
                  </a:extLst>
                </a:gridCol>
                <a:gridCol w="1693138">
                  <a:extLst>
                    <a:ext uri="{9D8B030D-6E8A-4147-A177-3AD203B41FA5}">
                      <a16:colId xmlns:a16="http://schemas.microsoft.com/office/drawing/2014/main" val="2090168382"/>
                    </a:ext>
                  </a:extLst>
                </a:gridCol>
                <a:gridCol w="1677645">
                  <a:extLst>
                    <a:ext uri="{9D8B030D-6E8A-4147-A177-3AD203B41FA5}">
                      <a16:colId xmlns:a16="http://schemas.microsoft.com/office/drawing/2014/main" val="964787021"/>
                    </a:ext>
                  </a:extLst>
                </a:gridCol>
                <a:gridCol w="982405">
                  <a:extLst>
                    <a:ext uri="{9D8B030D-6E8A-4147-A177-3AD203B41FA5}">
                      <a16:colId xmlns:a16="http://schemas.microsoft.com/office/drawing/2014/main" val="934390766"/>
                    </a:ext>
                  </a:extLst>
                </a:gridCol>
                <a:gridCol w="2448453">
                  <a:extLst>
                    <a:ext uri="{9D8B030D-6E8A-4147-A177-3AD203B41FA5}">
                      <a16:colId xmlns:a16="http://schemas.microsoft.com/office/drawing/2014/main" val="1958298950"/>
                    </a:ext>
                  </a:extLst>
                </a:gridCol>
              </a:tblGrid>
              <a:tr h="1059618">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993620">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晚饭</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2500" i="1" kern="1200">
                          <a:solidFill>
                            <a:schemeClr val="dk1"/>
                          </a:solidFill>
                          <a:latin typeface="Times New Roman" panose="02020603050405020304" pitchFamily="18" charset="0"/>
                          <a:ea typeface="+mn-ea"/>
                          <a:cs typeface="Times New Roman" panose="02020603050405020304" pitchFamily="18" charset="0"/>
                        </a:rPr>
                        <a:t>Wǎnfàn</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i="0" kern="1200">
                          <a:solidFill>
                            <a:schemeClr val="dk1"/>
                          </a:solidFill>
                          <a:latin typeface="Times New Roman" panose="02020603050405020304" pitchFamily="18" charset="0"/>
                          <a:ea typeface="+mn-ea"/>
                          <a:cs typeface="Times New Roman" panose="02020603050405020304" pitchFamily="18" charset="0"/>
                        </a:rPr>
                        <a:t>Bữa tối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814326">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手机</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2500" i="1" kern="1200" noProof="0">
                          <a:solidFill>
                            <a:schemeClr val="dk1"/>
                          </a:solidFill>
                          <a:latin typeface="Times New Roman" panose="02020603050405020304" pitchFamily="18" charset="0"/>
                          <a:ea typeface="+mn-ea"/>
                          <a:cs typeface="Times New Roman" panose="02020603050405020304" pitchFamily="18" charset="0"/>
                        </a:rPr>
                        <a:t>shǒujī</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i="0" kern="1200">
                          <a:solidFill>
                            <a:schemeClr val="dk1"/>
                          </a:solidFill>
                          <a:latin typeface="Times New Roman" panose="02020603050405020304" pitchFamily="18" charset="0"/>
                          <a:ea typeface="+mn-ea"/>
                          <a:cs typeface="Times New Roman" panose="02020603050405020304" pitchFamily="18" charset="0"/>
                        </a:rPr>
                        <a:t>Điện thoại</a:t>
                      </a:r>
                      <a:r>
                        <a:rPr lang="en-US" sz="2500" i="0" kern="1200" baseline="0">
                          <a:solidFill>
                            <a:schemeClr val="dk1"/>
                          </a:solidFill>
                          <a:latin typeface="Times New Roman" panose="02020603050405020304" pitchFamily="18" charset="0"/>
                          <a:ea typeface="+mn-ea"/>
                          <a:cs typeface="Times New Roman" panose="02020603050405020304" pitchFamily="18" charset="0"/>
                        </a:rPr>
                        <a:t> di động</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1425651">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号码</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2500" i="1" kern="1200">
                          <a:solidFill>
                            <a:schemeClr val="dk1"/>
                          </a:solidFill>
                          <a:latin typeface="Times New Roman" panose="02020603050405020304" pitchFamily="18" charset="0"/>
                          <a:ea typeface="+mn-ea"/>
                          <a:cs typeface="Times New Roman" panose="02020603050405020304" pitchFamily="18" charset="0"/>
                        </a:rPr>
                        <a:t>hàomǎ</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i="0" kern="1200">
                          <a:solidFill>
                            <a:schemeClr val="dk1"/>
                          </a:solidFill>
                          <a:latin typeface="Times New Roman" panose="02020603050405020304" pitchFamily="18" charset="0"/>
                          <a:ea typeface="+mn-ea"/>
                          <a:cs typeface="Times New Roman" panose="02020603050405020304" pitchFamily="18" charset="0"/>
                        </a:rPr>
                        <a:t>Số</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654355">
                <a:tc rowSpan="2">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不用</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2500" i="1" kern="1200">
                          <a:solidFill>
                            <a:schemeClr val="dk1"/>
                          </a:solidFill>
                          <a:latin typeface="Times New Roman" panose="02020603050405020304" pitchFamily="18" charset="0"/>
                          <a:ea typeface="+mn-ea"/>
                          <a:cs typeface="Times New Roman" panose="02020603050405020304" pitchFamily="18" charset="0"/>
                        </a:rPr>
                        <a:t>bú</a:t>
                      </a:r>
                      <a:r>
                        <a:rPr lang="en-US" sz="2500" i="1" kern="1200">
                          <a:solidFill>
                            <a:schemeClr val="dk1"/>
                          </a:solidFill>
                          <a:latin typeface="Times New Roman" panose="02020603050405020304" pitchFamily="18" charset="0"/>
                          <a:ea typeface="+mn-ea"/>
                          <a:cs typeface="Times New Roman" panose="02020603050405020304" pitchFamily="18" charset="0"/>
                        </a:rPr>
                        <a:t>yòn</a:t>
                      </a:r>
                      <a:r>
                        <a:rPr lang="en-US" altLang="zh-CN" sz="2500" i="1" kern="1200">
                          <a:solidFill>
                            <a:schemeClr val="dk1"/>
                          </a:solidFill>
                          <a:latin typeface="Times New Roman" panose="02020603050405020304" pitchFamily="18" charset="0"/>
                          <a:ea typeface="+mn-ea"/>
                          <a:cs typeface="Times New Roman" panose="02020603050405020304" pitchFamily="18" charset="0"/>
                        </a:rPr>
                        <a:t>g</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副</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i="0" kern="1200">
                          <a:solidFill>
                            <a:schemeClr val="dk1"/>
                          </a:solidFill>
                          <a:latin typeface="Times New Roman" panose="02020603050405020304" pitchFamily="18" charset="0"/>
                          <a:ea typeface="+mn-ea"/>
                          <a:cs typeface="Times New Roman" panose="02020603050405020304" pitchFamily="18" charset="0"/>
                        </a:rPr>
                        <a:t>Không</a:t>
                      </a:r>
                      <a:r>
                        <a:rPr lang="en-US" sz="2500" i="0" kern="1200" baseline="0">
                          <a:solidFill>
                            <a:schemeClr val="dk1"/>
                          </a:solidFill>
                          <a:latin typeface="Times New Roman" panose="02020603050405020304" pitchFamily="18" charset="0"/>
                          <a:ea typeface="+mn-ea"/>
                          <a:cs typeface="Times New Roman" panose="02020603050405020304" pitchFamily="18" charset="0"/>
                        </a:rPr>
                        <a:t> cần</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1177880">
                <a:tc vMerge="1">
                  <a:txBody>
                    <a:bodyPr/>
                    <a:lstStyle/>
                    <a:p>
                      <a:pPr marL="0" indent="0" algn="ctr" defTabSz="914400" rtl="0" eaLnBrk="1" fontAlgn="b" latinLnBrk="0" hangingPunct="1">
                        <a:buFontTx/>
                        <a:buNone/>
                      </a:pPr>
                      <a:endPar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用</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2500" i="1" kern="1200">
                          <a:solidFill>
                            <a:schemeClr val="dk1"/>
                          </a:solidFill>
                          <a:latin typeface="Times New Roman" panose="02020603050405020304" pitchFamily="18" charset="0"/>
                          <a:ea typeface="+mn-ea"/>
                          <a:cs typeface="Times New Roman" panose="02020603050405020304" pitchFamily="18" charset="0"/>
                        </a:rPr>
                        <a:t>yòng</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动</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i="0" kern="1200">
                          <a:solidFill>
                            <a:schemeClr val="dk1"/>
                          </a:solidFill>
                          <a:latin typeface="Times New Roman" panose="02020603050405020304" pitchFamily="18" charset="0"/>
                          <a:ea typeface="+mn-ea"/>
                          <a:cs typeface="Times New Roman" panose="02020603050405020304" pitchFamily="18" charset="0"/>
                        </a:rPr>
                        <a:t>Cần( đa</a:t>
                      </a:r>
                      <a:r>
                        <a:rPr lang="en-US" sz="2500" i="0" kern="1200" baseline="0">
                          <a:solidFill>
                            <a:schemeClr val="dk1"/>
                          </a:solidFill>
                          <a:latin typeface="Times New Roman" panose="02020603050405020304" pitchFamily="18" charset="0"/>
                          <a:ea typeface="+mn-ea"/>
                          <a:cs typeface="Times New Roman" panose="02020603050405020304" pitchFamily="18" charset="0"/>
                        </a:rPr>
                        <a:t> số dùng ở thể phủ định)</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sp>
        <p:nvSpPr>
          <p:cNvPr id="6" name="Title 1"/>
          <p:cNvSpPr txBox="1">
            <a:spLocks/>
          </p:cNvSpPr>
          <p:nvPr/>
        </p:nvSpPr>
        <p:spPr>
          <a:xfrm>
            <a:off x="864813" y="52251"/>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文二 </a:t>
            </a:r>
            <a:r>
              <a:rPr lang="en-US" altLang="zh-CN" sz="2000" b="1">
                <a:solidFill>
                  <a:srgbClr val="FF0000"/>
                </a:solidFill>
                <a:latin typeface="KaiTi" panose="02010609060101010101" pitchFamily="49" charset="-122"/>
                <a:ea typeface="KaiTi" panose="02010609060101010101" pitchFamily="49" charset="-122"/>
              </a:rPr>
              <a:t>Bài khóa 2</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160308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17609226"/>
              </p:ext>
            </p:extLst>
          </p:nvPr>
        </p:nvGraphicFramePr>
        <p:xfrm>
          <a:off x="433953" y="279573"/>
          <a:ext cx="11356264" cy="1576934"/>
        </p:xfrm>
        <a:graphic>
          <a:graphicData uri="http://schemas.openxmlformats.org/drawingml/2006/table">
            <a:tbl>
              <a:tblPr firstRow="1">
                <a:tableStyleId>{5C22544A-7EE6-4342-B048-85BDC9FD1C3A}</a:tableStyleId>
              </a:tblPr>
              <a:tblGrid>
                <a:gridCol w="1267496">
                  <a:extLst>
                    <a:ext uri="{9D8B030D-6E8A-4147-A177-3AD203B41FA5}">
                      <a16:colId xmlns:a16="http://schemas.microsoft.com/office/drawing/2014/main" val="2897192029"/>
                    </a:ext>
                  </a:extLst>
                </a:gridCol>
                <a:gridCol w="2511405">
                  <a:extLst>
                    <a:ext uri="{9D8B030D-6E8A-4147-A177-3AD203B41FA5}">
                      <a16:colId xmlns:a16="http://schemas.microsoft.com/office/drawing/2014/main" val="2090168382"/>
                    </a:ext>
                  </a:extLst>
                </a:gridCol>
                <a:gridCol w="2488425">
                  <a:extLst>
                    <a:ext uri="{9D8B030D-6E8A-4147-A177-3AD203B41FA5}">
                      <a16:colId xmlns:a16="http://schemas.microsoft.com/office/drawing/2014/main" val="964787021"/>
                    </a:ext>
                  </a:extLst>
                </a:gridCol>
                <a:gridCol w="1457186">
                  <a:extLst>
                    <a:ext uri="{9D8B030D-6E8A-4147-A177-3AD203B41FA5}">
                      <a16:colId xmlns:a16="http://schemas.microsoft.com/office/drawing/2014/main" val="934390766"/>
                    </a:ext>
                  </a:extLst>
                </a:gridCol>
                <a:gridCol w="3631752">
                  <a:extLst>
                    <a:ext uri="{9D8B030D-6E8A-4147-A177-3AD203B41FA5}">
                      <a16:colId xmlns:a16="http://schemas.microsoft.com/office/drawing/2014/main" val="1958298950"/>
                    </a:ext>
                  </a:extLst>
                </a:gridCol>
              </a:tblGrid>
              <a:tr h="817994">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58940">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晚饭</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i="1" kern="1200">
                          <a:solidFill>
                            <a:schemeClr val="dk1"/>
                          </a:solidFill>
                          <a:latin typeface="Times New Roman" panose="02020603050405020304" pitchFamily="18" charset="0"/>
                          <a:ea typeface="+mn-ea"/>
                          <a:cs typeface="Times New Roman" panose="02020603050405020304" pitchFamily="18" charset="0"/>
                        </a:rPr>
                        <a:t>Wǎnfàn</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Bữa tối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bl>
          </a:graphicData>
        </a:graphic>
      </p:graphicFrame>
      <p:pic>
        <p:nvPicPr>
          <p:cNvPr id="1026" name="Picture 2" descr="晚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33953" y="1989117"/>
            <a:ext cx="1699258" cy="16902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饭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33953" y="4068289"/>
            <a:ext cx="1760795" cy="1773696"/>
          </a:xfrm>
          <a:prstGeom prst="rect">
            <a:avLst/>
          </a:prstGeom>
          <a:noFill/>
          <a:extLst>
            <a:ext uri="{909E8E84-426E-40DD-AFC4-6F175D3DCCD1}">
              <a14:hiddenFill xmlns:a14="http://schemas.microsoft.com/office/drawing/2010/main">
                <a:solidFill>
                  <a:srgbClr val="FFFFFF"/>
                </a:solidFill>
              </a14:hiddenFill>
            </a:ext>
          </a:extLst>
        </p:spPr>
      </p:pic>
      <p:sp>
        <p:nvSpPr>
          <p:cNvPr id="1029" name="Chiết tự 1029"/>
          <p:cNvSpPr txBox="1"/>
          <p:nvPr/>
        </p:nvSpPr>
        <p:spPr>
          <a:xfrm>
            <a:off x="2700000" y="1976507"/>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晚 = </a:t>
            </a:r>
            <a:r>
              <a:rPr lang="zh-CN" sz="3600" dirty="0">
                <a:solidFill>
                  <a:srgbClr val="C00000"/>
                </a:solidFill>
                <a:latin typeface="KaiTi" panose="02010609060101010101" pitchFamily="49" charset="-122"/>
                <a:ea typeface="KaiTi" panose="02010609060101010101" pitchFamily="49" charset="-122"/>
              </a:rPr>
              <a:t>日</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免</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Nhật 日 + 免</a:t>
            </a:r>
          </a:p>
        </p:txBody>
      </p:sp>
      <p:sp>
        <p:nvSpPr>
          <p:cNvPr id="1030" name="Nhớ lại 1030"/>
          <p:cNvSpPr txBox="1"/>
          <p:nvPr/>
        </p:nvSpPr>
        <p:spPr>
          <a:xfrm>
            <a:off x="7200000" y="1976507"/>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晚上</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wǎnshang</a:t>
            </a:r>
            <a:r>
              <a:rPr lang="vi-VN" sz="2400" dirty="0">
                <a:latin typeface="Times New Roman" panose="02020603050405020304" pitchFamily="18" charset="0"/>
                <a:ea typeface="KaiTi" panose="02010609060101010101" pitchFamily="49" charset="-122"/>
                <a:cs typeface="Times New Roman" panose="02020603050405020304" pitchFamily="18" charset="0"/>
              </a:rPr>
              <a:t> – buổi tối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晚</a:t>
            </a:r>
          </a:p>
          <a:p>
            <a:pPr>
              <a:spcBef>
                <a:spcPts val="200"/>
              </a:spcBef>
            </a:pPr>
            <a:r>
              <a:rPr lang="zh-CN" sz="2800" dirty="0">
                <a:solidFill>
                  <a:srgbClr val="C00000"/>
                </a:solidFill>
                <a:latin typeface="KaiTi" panose="02010609060101010101" pitchFamily="49" charset="-122"/>
                <a:ea typeface="KaiTi" panose="02010609060101010101" pitchFamily="49" charset="-122"/>
              </a:rPr>
              <a:t>早饭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zǎofàn</a:t>
            </a:r>
            <a:r>
              <a:rPr lang="vi-VN" sz="2400" dirty="0">
                <a:latin typeface="Times New Roman" panose="02020603050405020304" pitchFamily="18" charset="0"/>
                <a:ea typeface="KaiTi" panose="02010609060101010101" pitchFamily="49" charset="-122"/>
                <a:cs typeface="Times New Roman" panose="02020603050405020304" pitchFamily="18" charset="0"/>
              </a:rPr>
              <a:t> – bữa sáng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饭</a:t>
            </a:r>
          </a:p>
          <a:p>
            <a:pPr>
              <a:spcBef>
                <a:spcPts val="200"/>
              </a:spcBef>
            </a:pPr>
            <a:r>
              <a:rPr lang="zh-CN" sz="2800" dirty="0">
                <a:solidFill>
                  <a:srgbClr val="C00000"/>
                </a:solidFill>
                <a:latin typeface="KaiTi" panose="02010609060101010101" pitchFamily="49" charset="-122"/>
                <a:ea typeface="KaiTi" panose="02010609060101010101" pitchFamily="49" charset="-122"/>
              </a:rPr>
              <a:t>吃饭</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chīfàn</a:t>
            </a:r>
            <a:r>
              <a:rPr lang="vi-VN" sz="2400" dirty="0">
                <a:latin typeface="Times New Roman" panose="02020603050405020304" pitchFamily="18" charset="0"/>
                <a:ea typeface="KaiTi" panose="02010609060101010101" pitchFamily="49" charset="-122"/>
                <a:cs typeface="Times New Roman" panose="02020603050405020304" pitchFamily="18" charset="0"/>
              </a:rPr>
              <a:t> – ăn cơm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饭</a:t>
            </a:r>
          </a:p>
        </p:txBody>
      </p:sp>
      <p:sp>
        <p:nvSpPr>
          <p:cNvPr id="1031" name="Ví dụ thêm 1031"/>
          <p:cNvSpPr txBox="1"/>
          <p:nvPr/>
        </p:nvSpPr>
        <p:spPr>
          <a:xfrm>
            <a:off x="2700000" y="3656507"/>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你晚饭吃什么？</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wǎnfàn chī shénme?</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Bữa tối bạn ăn gì?</a:t>
            </a:r>
          </a:p>
        </p:txBody>
      </p:sp>
    </p:spTree>
    <p:extLst>
      <p:ext uri="{BB962C8B-B14F-4D97-AF65-F5344CB8AC3E}">
        <p14:creationId xmlns:p14="http://schemas.microsoft.com/office/powerpoint/2010/main" val="17676809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9"/>
                                        </p:tgtEl>
                                        <p:attrNameLst>
                                          <p:attrName>style.visibility</p:attrName>
                                        </p:attrNameLst>
                                      </p:cBhvr>
                                      <p:to>
                                        <p:strVal val="visible"/>
                                      </p:to>
                                    </p:set>
                                    <p:animEffect transition="in" filter="dissolve">
                                      <p:cBhvr>
                                        <p:cTn id="7" dur="500"/>
                                        <p:tgtEl>
                                          <p:spTgt spid="10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wipe(left)">
                                      <p:cBhvr>
                                        <p:cTn id="12" dur="500"/>
                                        <p:tgtEl>
                                          <p:spTgt spid="10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0"/>
                                        </p:tgtEl>
                                        <p:attrNameLst>
                                          <p:attrName>style.visibility</p:attrName>
                                        </p:attrNameLst>
                                      </p:cBhvr>
                                      <p:to>
                                        <p:strVal val="visible"/>
                                      </p:to>
                                    </p:set>
                                    <p:animEffect transition="in" filter="wipe(left)">
                                      <p:cBhvr>
                                        <p:cTn id="17"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42488262"/>
              </p:ext>
            </p:extLst>
          </p:nvPr>
        </p:nvGraphicFramePr>
        <p:xfrm>
          <a:off x="433953" y="224155"/>
          <a:ext cx="11356264" cy="1598568"/>
        </p:xfrm>
        <a:graphic>
          <a:graphicData uri="http://schemas.openxmlformats.org/drawingml/2006/table">
            <a:tbl>
              <a:tblPr firstRow="1">
                <a:tableStyleId>{5C22544A-7EE6-4342-B048-85BDC9FD1C3A}</a:tableStyleId>
              </a:tblPr>
              <a:tblGrid>
                <a:gridCol w="1267496">
                  <a:extLst>
                    <a:ext uri="{9D8B030D-6E8A-4147-A177-3AD203B41FA5}">
                      <a16:colId xmlns:a16="http://schemas.microsoft.com/office/drawing/2014/main" val="2897192029"/>
                    </a:ext>
                  </a:extLst>
                </a:gridCol>
                <a:gridCol w="2511405">
                  <a:extLst>
                    <a:ext uri="{9D8B030D-6E8A-4147-A177-3AD203B41FA5}">
                      <a16:colId xmlns:a16="http://schemas.microsoft.com/office/drawing/2014/main" val="2090168382"/>
                    </a:ext>
                  </a:extLst>
                </a:gridCol>
                <a:gridCol w="2488425">
                  <a:extLst>
                    <a:ext uri="{9D8B030D-6E8A-4147-A177-3AD203B41FA5}">
                      <a16:colId xmlns:a16="http://schemas.microsoft.com/office/drawing/2014/main" val="964787021"/>
                    </a:ext>
                  </a:extLst>
                </a:gridCol>
                <a:gridCol w="1457186">
                  <a:extLst>
                    <a:ext uri="{9D8B030D-6E8A-4147-A177-3AD203B41FA5}">
                      <a16:colId xmlns:a16="http://schemas.microsoft.com/office/drawing/2014/main" val="934390766"/>
                    </a:ext>
                  </a:extLst>
                </a:gridCol>
                <a:gridCol w="3631752">
                  <a:extLst>
                    <a:ext uri="{9D8B030D-6E8A-4147-A177-3AD203B41FA5}">
                      <a16:colId xmlns:a16="http://schemas.microsoft.com/office/drawing/2014/main" val="1958298950"/>
                    </a:ext>
                  </a:extLst>
                </a:gridCol>
              </a:tblGrid>
              <a:tr h="817994">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80574">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rPr>
                        <a:t>手机</a:t>
                      </a:r>
                      <a:endParaRPr lang="en-US" sz="3400" b="1" kern="1200">
                        <a:solidFill>
                          <a:srgbClr val="D1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i="1" kern="1200" noProof="0">
                          <a:solidFill>
                            <a:schemeClr val="dk1"/>
                          </a:solidFill>
                          <a:latin typeface="Times New Roman" panose="02020603050405020304" pitchFamily="18" charset="0"/>
                          <a:ea typeface="+mn-ea"/>
                          <a:cs typeface="Times New Roman" panose="02020603050405020304" pitchFamily="18" charset="0"/>
                        </a:rPr>
                        <a:t>shǒujī</a:t>
                      </a:r>
                      <a:endParaRPr lang="en-US" sz="32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Điện thoại</a:t>
                      </a:r>
                      <a:r>
                        <a:rPr lang="en-US" sz="3200" i="0" kern="1200" baseline="0">
                          <a:solidFill>
                            <a:schemeClr val="dk1"/>
                          </a:solidFill>
                          <a:latin typeface="Times New Roman" panose="02020603050405020304" pitchFamily="18" charset="0"/>
                          <a:ea typeface="+mn-ea"/>
                          <a:cs typeface="Times New Roman" panose="02020603050405020304" pitchFamily="18" charset="0"/>
                        </a:rPr>
                        <a:t> di động</a:t>
                      </a:r>
                      <a:endParaRPr lang="en-US" sz="32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bl>
          </a:graphicData>
        </a:graphic>
      </p:graphicFrame>
      <p:pic>
        <p:nvPicPr>
          <p:cNvPr id="2050" name="Picture 2" descr="手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33953" y="1920695"/>
            <a:ext cx="1732304" cy="173230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机的笔顺"/>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33953" y="4186400"/>
            <a:ext cx="1732304" cy="1732305"/>
          </a:xfrm>
          <a:prstGeom prst="rect">
            <a:avLst/>
          </a:prstGeom>
          <a:noFill/>
          <a:extLst>
            <a:ext uri="{909E8E84-426E-40DD-AFC4-6F175D3DCCD1}">
              <a14:hiddenFill xmlns:a14="http://schemas.microsoft.com/office/drawing/2010/main">
                <a:solidFill>
                  <a:srgbClr val="FFFFFF"/>
                </a:solidFill>
              </a14:hiddenFill>
            </a:ext>
          </a:extLst>
        </p:spPr>
      </p:pic>
      <p:sp>
        <p:nvSpPr>
          <p:cNvPr id="2053" name="Chiết tự 2053"/>
          <p:cNvSpPr txBox="1"/>
          <p:nvPr/>
        </p:nvSpPr>
        <p:spPr>
          <a:xfrm>
            <a:off x="2700000" y="1942723"/>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机 = </a:t>
            </a:r>
            <a:r>
              <a:rPr lang="zh-CN" sz="3600" dirty="0">
                <a:solidFill>
                  <a:srgbClr val="C00000"/>
                </a:solidFill>
                <a:latin typeface="KaiTi" panose="02010609060101010101" pitchFamily="49" charset="-122"/>
                <a:ea typeface="KaiTi" panose="02010609060101010101" pitchFamily="49" charset="-122"/>
              </a:rPr>
              <a:t>木</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Mộc 木 + 几</a:t>
            </a:r>
          </a:p>
        </p:txBody>
      </p:sp>
      <p:sp>
        <p:nvSpPr>
          <p:cNvPr id="2054" name="Nhớ lại 2054"/>
          <p:cNvSpPr txBox="1"/>
          <p:nvPr/>
        </p:nvSpPr>
        <p:spPr>
          <a:xfrm>
            <a:off x="7200000" y="1942723"/>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几</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jǐ</a:t>
            </a:r>
            <a:r>
              <a:rPr lang="vi-VN" sz="2400" dirty="0">
                <a:latin typeface="Times New Roman" panose="02020603050405020304" pitchFamily="18" charset="0"/>
                <a:ea typeface="KaiTi" panose="02010609060101010101" pitchFamily="49" charset="-122"/>
                <a:cs typeface="Times New Roman" panose="02020603050405020304" pitchFamily="18" charset="0"/>
              </a:rPr>
              <a:t> – mấy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几 trong 机</a:t>
            </a:r>
          </a:p>
          <a:p>
            <a:pPr>
              <a:spcBef>
                <a:spcPts val="200"/>
              </a:spcBef>
            </a:pPr>
            <a:r>
              <a:rPr lang="zh-CN" sz="2800" dirty="0">
                <a:solidFill>
                  <a:srgbClr val="C00000"/>
                </a:solidFill>
                <a:latin typeface="KaiTi" panose="02010609060101010101" pitchFamily="49" charset="-122"/>
                <a:ea typeface="KaiTi" panose="02010609060101010101" pitchFamily="49" charset="-122"/>
              </a:rPr>
              <a:t>找</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zhǎo</a:t>
            </a:r>
            <a:r>
              <a:rPr lang="vi-VN" sz="2400" dirty="0">
                <a:latin typeface="Times New Roman" panose="02020603050405020304" pitchFamily="18" charset="0"/>
                <a:ea typeface="KaiTi" panose="02010609060101010101" pitchFamily="49" charset="-122"/>
                <a:cs typeface="Times New Roman" panose="02020603050405020304" pitchFamily="18" charset="0"/>
              </a:rPr>
              <a:t> – tìm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扌 là dạng của 手</a:t>
            </a:r>
          </a:p>
          <a:p>
            <a:pPr>
              <a:spcBef>
                <a:spcPts val="200"/>
              </a:spcBef>
            </a:pPr>
            <a:r>
              <a:rPr lang="zh-CN" sz="2800" dirty="0">
                <a:solidFill>
                  <a:srgbClr val="C00000"/>
                </a:solidFill>
                <a:latin typeface="KaiTi" panose="02010609060101010101" pitchFamily="49" charset="-122"/>
                <a:ea typeface="KaiTi" panose="02010609060101010101" pitchFamily="49" charset="-122"/>
              </a:rPr>
              <a:t>打球</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dǎqiú</a:t>
            </a:r>
            <a:r>
              <a:rPr lang="vi-VN" sz="2400" dirty="0">
                <a:latin typeface="Times New Roman" panose="02020603050405020304" pitchFamily="18" charset="0"/>
                <a:ea typeface="KaiTi" panose="02010609060101010101" pitchFamily="49" charset="-122"/>
                <a:cs typeface="Times New Roman" panose="02020603050405020304" pitchFamily="18" charset="0"/>
              </a:rPr>
              <a:t> – chơi bóng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扌</a:t>
            </a:r>
          </a:p>
        </p:txBody>
      </p:sp>
      <p:sp>
        <p:nvSpPr>
          <p:cNvPr id="2055" name="Ví dụ thêm 2055"/>
          <p:cNvSpPr txBox="1"/>
          <p:nvPr/>
        </p:nvSpPr>
        <p:spPr>
          <a:xfrm>
            <a:off x="2700000" y="3622723"/>
            <a:ext cx="4400000" cy="1774948"/>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你的手机多少钱？</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de shǒujī duōshao qián?</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Điện thoại của bạn bao nhiêu tiền?</a:t>
            </a:r>
          </a:p>
        </p:txBody>
      </p:sp>
    </p:spTree>
    <p:extLst>
      <p:ext uri="{BB962C8B-B14F-4D97-AF65-F5344CB8AC3E}">
        <p14:creationId xmlns:p14="http://schemas.microsoft.com/office/powerpoint/2010/main" val="1843051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dissolve">
                                      <p:cBhvr>
                                        <p:cTn id="7" dur="500"/>
                                        <p:tgtEl>
                                          <p:spTgt spid="20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5"/>
                                        </p:tgtEl>
                                        <p:attrNameLst>
                                          <p:attrName>style.visibility</p:attrName>
                                        </p:attrNameLst>
                                      </p:cBhvr>
                                      <p:to>
                                        <p:strVal val="visible"/>
                                      </p:to>
                                    </p:set>
                                    <p:animEffect transition="in" filter="wipe(left)">
                                      <p:cBhvr>
                                        <p:cTn id="12" dur="500"/>
                                        <p:tgtEl>
                                          <p:spTgt spid="20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4"/>
                                        </p:tgtEl>
                                        <p:attrNameLst>
                                          <p:attrName>style.visibility</p:attrName>
                                        </p:attrNameLst>
                                      </p:cBhvr>
                                      <p:to>
                                        <p:strVal val="visible"/>
                                      </p:to>
                                    </p:set>
                                    <p:animEffect transition="in" filter="wipe(left)">
                                      <p:cBhvr>
                                        <p:cTn id="1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66226253"/>
              </p:ext>
            </p:extLst>
          </p:nvPr>
        </p:nvGraphicFramePr>
        <p:xfrm>
          <a:off x="433953" y="251863"/>
          <a:ext cx="11356264" cy="1644547"/>
        </p:xfrm>
        <a:graphic>
          <a:graphicData uri="http://schemas.openxmlformats.org/drawingml/2006/table">
            <a:tbl>
              <a:tblPr firstRow="1">
                <a:tableStyleId>{5C22544A-7EE6-4342-B048-85BDC9FD1C3A}</a:tableStyleId>
              </a:tblPr>
              <a:tblGrid>
                <a:gridCol w="1267496">
                  <a:extLst>
                    <a:ext uri="{9D8B030D-6E8A-4147-A177-3AD203B41FA5}">
                      <a16:colId xmlns:a16="http://schemas.microsoft.com/office/drawing/2014/main" val="2897192029"/>
                    </a:ext>
                  </a:extLst>
                </a:gridCol>
                <a:gridCol w="2511405">
                  <a:extLst>
                    <a:ext uri="{9D8B030D-6E8A-4147-A177-3AD203B41FA5}">
                      <a16:colId xmlns:a16="http://schemas.microsoft.com/office/drawing/2014/main" val="2090168382"/>
                    </a:ext>
                  </a:extLst>
                </a:gridCol>
                <a:gridCol w="2488425">
                  <a:extLst>
                    <a:ext uri="{9D8B030D-6E8A-4147-A177-3AD203B41FA5}">
                      <a16:colId xmlns:a16="http://schemas.microsoft.com/office/drawing/2014/main" val="964787021"/>
                    </a:ext>
                  </a:extLst>
                </a:gridCol>
                <a:gridCol w="1457186">
                  <a:extLst>
                    <a:ext uri="{9D8B030D-6E8A-4147-A177-3AD203B41FA5}">
                      <a16:colId xmlns:a16="http://schemas.microsoft.com/office/drawing/2014/main" val="934390766"/>
                    </a:ext>
                  </a:extLst>
                </a:gridCol>
                <a:gridCol w="3631752">
                  <a:extLst>
                    <a:ext uri="{9D8B030D-6E8A-4147-A177-3AD203B41FA5}">
                      <a16:colId xmlns:a16="http://schemas.microsoft.com/office/drawing/2014/main" val="1958298950"/>
                    </a:ext>
                  </a:extLst>
                </a:gridCol>
              </a:tblGrid>
              <a:tr h="817994">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26553">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号码</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i="1" kern="1200">
                          <a:solidFill>
                            <a:schemeClr val="dk1"/>
                          </a:solidFill>
                          <a:latin typeface="Times New Roman" panose="02020603050405020304" pitchFamily="18" charset="0"/>
                          <a:ea typeface="+mn-ea"/>
                          <a:cs typeface="Times New Roman" panose="02020603050405020304" pitchFamily="18" charset="0"/>
                        </a:rPr>
                        <a:t>hàomǎ</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Số</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bl>
          </a:graphicData>
        </a:graphic>
      </p:graphicFrame>
      <p:pic>
        <p:nvPicPr>
          <p:cNvPr id="3074" name="Picture 2" descr="号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33954" y="2028275"/>
            <a:ext cx="1971790" cy="197179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码的笔顺"/>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47368" y="4471610"/>
            <a:ext cx="1985204" cy="19717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3044433506"/>
              </p:ext>
            </p:extLst>
          </p:nvPr>
        </p:nvGraphicFramePr>
        <p:xfrm>
          <a:off x="6096000" y="2651760"/>
          <a:ext cx="5178136" cy="1554480"/>
        </p:xfrm>
        <a:graphic>
          <a:graphicData uri="http://schemas.openxmlformats.org/drawingml/2006/table">
            <a:tbl>
              <a:tblPr>
                <a:tableStyleId>{2D5ABB26-0587-4C30-8999-92F81FD0307C}</a:tableStyleId>
              </a:tblPr>
              <a:tblGrid>
                <a:gridCol w="5178136">
                  <a:extLst>
                    <a:ext uri="{9D8B030D-6E8A-4147-A177-3AD203B41FA5}">
                      <a16:colId xmlns:a16="http://schemas.microsoft.com/office/drawing/2014/main" val="1627033648"/>
                    </a:ext>
                  </a:extLst>
                </a:gridCol>
              </a:tblGrid>
              <a:tr h="800100">
                <a:tc>
                  <a:txBody>
                    <a:bodyPr/>
                    <a:lstStyle/>
                    <a:p>
                      <a:pPr algn="ctr"/>
                      <a:r>
                        <a:rPr lang="en-US" altLang="zh-CN" sz="2800" kern="1200" dirty="0">
                          <a:solidFill>
                            <a:srgbClr val="00B050"/>
                          </a:solidFill>
                          <a:latin typeface="KaiTi" panose="02010609060101010101" pitchFamily="49" charset="-122"/>
                          <a:ea typeface="KaiTi" panose="02010609060101010101" pitchFamily="49" charset="-122"/>
                          <a:cs typeface="+mn-cs"/>
                        </a:rPr>
                        <a:t>1.</a:t>
                      </a:r>
                      <a:r>
                        <a:rPr lang="zh-CN" altLang="en-US" sz="2800" kern="1200" dirty="0">
                          <a:solidFill>
                            <a:srgbClr val="00B050"/>
                          </a:solidFill>
                          <a:latin typeface="KaiTi" panose="02010609060101010101" pitchFamily="49" charset="-122"/>
                          <a:ea typeface="KaiTi" panose="02010609060101010101" pitchFamily="49" charset="-122"/>
                          <a:cs typeface="+mn-cs"/>
                        </a:rPr>
                        <a:t>你的电话号码是多少？</a:t>
                      </a:r>
                      <a:br>
                        <a:rPr lang="en-US" altLang="zh-CN" sz="2800" kern="120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diànhuà</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hàomǎ</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shì</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duōsh</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zh-CN" sz="2800" kern="1200" dirty="0">
                          <a:solidFill>
                            <a:srgbClr val="00B050"/>
                          </a:solidFill>
                          <a:latin typeface="KaiTi" panose="02010609060101010101" pitchFamily="49" charset="-122"/>
                          <a:ea typeface="KaiTi" panose="02010609060101010101" pitchFamily="49" charset="-122"/>
                          <a:cs typeface="+mn-cs"/>
                        </a:rPr>
                        <a:t>2.</a:t>
                      </a:r>
                      <a:r>
                        <a:rPr lang="zh-CN" altLang="en-US" sz="2800" kern="1200" noProof="0" dirty="0">
                          <a:solidFill>
                            <a:srgbClr val="00B050"/>
                          </a:solidFill>
                          <a:latin typeface="KaiTi" panose="02010609060101010101" pitchFamily="49" charset="-122"/>
                          <a:ea typeface="KaiTi" panose="02010609060101010101" pitchFamily="49" charset="-122"/>
                          <a:cs typeface="+mn-cs"/>
                        </a:rPr>
                        <a:t>你的手机号码是多少？</a:t>
                      </a:r>
                      <a:br>
                        <a:rPr lang="en-US" altLang="zh-CN" sz="2800" kern="1200" dirty="0">
                          <a:solidFill>
                            <a:srgbClr val="00B050"/>
                          </a:solidFill>
                          <a:latin typeface="KaiTi" panose="02010609060101010101" pitchFamily="49" charset="-122"/>
                          <a:ea typeface="KaiTi" panose="02010609060101010101" pitchFamily="49" charset="-122"/>
                          <a:cs typeface="+mn-cs"/>
                        </a:rPr>
                      </a:br>
                      <a:r>
                        <a:rPr lang="en-US" sz="2000" i="1" kern="1200" dirty="0" err="1">
                          <a:solidFill>
                            <a:prstClr val="black"/>
                          </a:solidFill>
                          <a:latin typeface="Times New Roman" panose="02020603050405020304" pitchFamily="18" charset="0"/>
                          <a:ea typeface="+mn-ea"/>
                          <a:cs typeface="Times New Roman" panose="02020603050405020304" pitchFamily="18" charset="0"/>
                        </a:rPr>
                        <a:t>Nǐ</a:t>
                      </a:r>
                      <a:r>
                        <a:rPr lang="en-US" sz="2000" i="1" kern="1200" dirty="0">
                          <a:solidFill>
                            <a:prstClr val="black"/>
                          </a:solidFill>
                          <a:latin typeface="Times New Roman" panose="02020603050405020304" pitchFamily="18" charset="0"/>
                          <a:ea typeface="+mn-ea"/>
                          <a:cs typeface="Times New Roman" panose="02020603050405020304" pitchFamily="18" charset="0"/>
                        </a:rPr>
                        <a:t> de </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shǒujī</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hàomǎ</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shì</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duōsh</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a</a:t>
                      </a:r>
                      <a:r>
                        <a:rPr lang="en-US" sz="2000" i="1" kern="1200" dirty="0" err="1">
                          <a:solidFill>
                            <a:prstClr val="black"/>
                          </a:solidFill>
                          <a:latin typeface="Times New Roman" panose="02020603050405020304" pitchFamily="18" charset="0"/>
                          <a:ea typeface="+mn-ea"/>
                          <a:cs typeface="Times New Roman" panose="02020603050405020304" pitchFamily="18" charset="0"/>
                        </a:rPr>
                        <a:t>o</a:t>
                      </a:r>
                      <a:r>
                        <a:rPr lang="vi-VN" sz="2000" i="1" kern="1200" dirty="0">
                          <a:solidFill>
                            <a:prstClr val="black"/>
                          </a:solidFill>
                          <a:latin typeface="Times New Roman" panose="02020603050405020304" pitchFamily="18" charset="0"/>
                          <a:ea typeface="+mn-ea"/>
                          <a:cs typeface="Times New Roman" panose="02020603050405020304" pitchFamily="18" charset="0"/>
                        </a:rPr>
                        <a:t>?</a:t>
                      </a:r>
                      <a:endParaRPr lang="en-US" sz="2000" i="1" kern="1200" dirty="0">
                        <a:solidFill>
                          <a:prstClr val="black"/>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62593029"/>
                  </a:ext>
                </a:extLst>
              </a:tr>
            </a:tbl>
          </a:graphicData>
        </a:graphic>
      </p:graphicFrame>
      <p:sp>
        <p:nvSpPr>
          <p:cNvPr id="3077" name="Chiết tự 3077"/>
          <p:cNvSpPr txBox="1"/>
          <p:nvPr/>
        </p:nvSpPr>
        <p:spPr>
          <a:xfrm>
            <a:off x="2700000" y="4296410"/>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码 = </a:t>
            </a:r>
            <a:r>
              <a:rPr lang="zh-CN" sz="3600" dirty="0">
                <a:solidFill>
                  <a:srgbClr val="C00000"/>
                </a:solidFill>
                <a:latin typeface="KaiTi" panose="02010609060101010101" pitchFamily="49" charset="-122"/>
                <a:ea typeface="KaiTi" panose="02010609060101010101" pitchFamily="49" charset="-122"/>
              </a:rPr>
              <a:t>石</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马</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Thạch 石 (đá) + 马</a:t>
            </a:r>
          </a:p>
        </p:txBody>
      </p:sp>
      <p:sp>
        <p:nvSpPr>
          <p:cNvPr id="3078" name="Nhớ lại 3078"/>
          <p:cNvSpPr txBox="1"/>
          <p:nvPr/>
        </p:nvSpPr>
        <p:spPr>
          <a:xfrm>
            <a:off x="2700000" y="4350000"/>
            <a:ext cx="8900000" cy="1516478"/>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号</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hào</a:t>
            </a:r>
            <a:r>
              <a:rPr lang="vi-VN" sz="2400" dirty="0">
                <a:latin typeface="Times New Roman" panose="02020603050405020304" pitchFamily="18" charset="0"/>
                <a:ea typeface="KaiTi" panose="02010609060101010101" pitchFamily="49" charset="-122"/>
                <a:cs typeface="Times New Roman" panose="02020603050405020304" pitchFamily="18" charset="0"/>
              </a:rPr>
              <a:t> – ngày, số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今天几号？</a:t>
            </a:r>
          </a:p>
          <a:p>
            <a:pPr>
              <a:spcBef>
                <a:spcPts val="200"/>
              </a:spcBef>
            </a:pPr>
            <a:r>
              <a:rPr lang="zh-CN" sz="2800" dirty="0">
                <a:solidFill>
                  <a:srgbClr val="C00000"/>
                </a:solidFill>
                <a:latin typeface="KaiTi" panose="02010609060101010101" pitchFamily="49" charset="-122"/>
                <a:ea typeface="KaiTi" panose="02010609060101010101" pitchFamily="49" charset="-122"/>
              </a:rPr>
              <a:t>马丁</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Mǎdīng</a:t>
            </a:r>
            <a:r>
              <a:rPr lang="vi-VN" sz="2400" dirty="0">
                <a:latin typeface="Times New Roman" panose="02020603050405020304" pitchFamily="18" charset="0"/>
                <a:ea typeface="KaiTi" panose="02010609060101010101" pitchFamily="49" charset="-122"/>
                <a:cs typeface="Times New Roman" panose="02020603050405020304" pitchFamily="18" charset="0"/>
              </a:rPr>
              <a:t> – Martin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马</a:t>
            </a:r>
          </a:p>
        </p:txBody>
      </p:sp>
    </p:spTree>
    <p:extLst>
      <p:ext uri="{BB962C8B-B14F-4D97-AF65-F5344CB8AC3E}">
        <p14:creationId xmlns:p14="http://schemas.microsoft.com/office/powerpoint/2010/main" val="3447656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dissolve">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wipe(left)">
                                      <p:cBhvr>
                                        <p:cTn id="17"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B04E-2504-BF34-E59F-0FE0D6193BD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3AB518D-C6CF-40C0-F1C6-C1AC7AA4F55F}"/>
              </a:ext>
            </a:extLst>
          </p:cNvPr>
          <p:cNvGraphicFramePr>
            <a:graphicFrameLocks noGrp="1"/>
          </p:cNvGraphicFramePr>
          <p:nvPr>
            <p:extLst>
              <p:ext uri="{D42A27DB-BD31-4B8C-83A1-F6EECF244321}">
                <p14:modId xmlns:p14="http://schemas.microsoft.com/office/powerpoint/2010/main" val="4214052104"/>
              </p:ext>
            </p:extLst>
          </p:nvPr>
        </p:nvGraphicFramePr>
        <p:xfrm>
          <a:off x="144380" y="34246"/>
          <a:ext cx="5951620" cy="1934528"/>
        </p:xfrm>
        <a:graphic>
          <a:graphicData uri="http://schemas.openxmlformats.org/drawingml/2006/table">
            <a:tbl>
              <a:tblPr>
                <a:tableStyleId>{69C7853C-536D-4A76-A0AE-DD22124D55A5}</a:tableStyleId>
              </a:tblPr>
              <a:tblGrid>
                <a:gridCol w="5951620">
                  <a:extLst>
                    <a:ext uri="{9D8B030D-6E8A-4147-A177-3AD203B41FA5}">
                      <a16:colId xmlns:a16="http://schemas.microsoft.com/office/drawing/2014/main" val="831683374"/>
                    </a:ext>
                  </a:extLst>
                </a:gridCol>
              </a:tblGrid>
              <a:tr h="1718354">
                <a:tc>
                  <a:txBody>
                    <a:bodyPr/>
                    <a:lstStyle/>
                    <a:p>
                      <a:pPr marL="0" indent="0" algn="ctr">
                        <a:lnSpc>
                          <a:spcPct val="150000"/>
                        </a:lnSpc>
                        <a:buFont typeface="+mj-lt"/>
                        <a:buNone/>
                      </a:pPr>
                      <a:r>
                        <a:rPr lang="en-US" sz="2800" b="0" kern="1200" baseline="0" dirty="0">
                          <a:solidFill>
                            <a:schemeClr val="dk1"/>
                          </a:solidFill>
                          <a:latin typeface="Times New Roman" panose="02020603050405020304" pitchFamily="18" charset="0"/>
                          <a:ea typeface="+mn-ea"/>
                          <a:cs typeface="Times New Roman" panose="02020603050405020304" pitchFamily="18" charset="0"/>
                        </a:rPr>
                        <a:t>Trong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Tiếng</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Trung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khi</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đọc</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số</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điện</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thoại</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số</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phòng</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sẽ</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đọc</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từng</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số</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br>
                        <a:rPr lang="en-US" sz="2800" b="0" kern="1200" baseline="0" dirty="0">
                          <a:solidFill>
                            <a:schemeClr val="dk1"/>
                          </a:solidFill>
                          <a:latin typeface="Times New Roman" panose="02020603050405020304" pitchFamily="18" charset="0"/>
                          <a:ea typeface="+mn-ea"/>
                          <a:cs typeface="Times New Roman" panose="02020603050405020304" pitchFamily="18" charset="0"/>
                        </a:rPr>
                      </a:br>
                      <a:r>
                        <a:rPr lang="en-US" sz="2800" b="1" kern="1200" baseline="0" dirty="0" err="1">
                          <a:solidFill>
                            <a:schemeClr val="dk1"/>
                          </a:solidFill>
                          <a:latin typeface="Times New Roman" panose="02020603050405020304" pitchFamily="18" charset="0"/>
                          <a:ea typeface="+mn-ea"/>
                          <a:cs typeface="Times New Roman" panose="02020603050405020304" pitchFamily="18" charset="0"/>
                        </a:rPr>
                        <a:t>số</a:t>
                      </a:r>
                      <a:r>
                        <a:rPr lang="en-US" sz="2800" b="1" kern="1200" baseline="0" dirty="0">
                          <a:solidFill>
                            <a:schemeClr val="dk1"/>
                          </a:solidFill>
                          <a:latin typeface="Times New Roman" panose="02020603050405020304" pitchFamily="18" charset="0"/>
                          <a:ea typeface="+mn-ea"/>
                          <a:cs typeface="Times New Roman" panose="02020603050405020304" pitchFamily="18" charset="0"/>
                        </a:rPr>
                        <a:t> 1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khi</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đó</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thường</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đọc</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0" kern="1200" baseline="0" dirty="0" err="1">
                          <a:solidFill>
                            <a:schemeClr val="dk1"/>
                          </a:solidFill>
                          <a:latin typeface="Times New Roman" panose="02020603050405020304" pitchFamily="18" charset="0"/>
                          <a:ea typeface="+mn-ea"/>
                          <a:cs typeface="Times New Roman" panose="02020603050405020304" pitchFamily="18" charset="0"/>
                        </a:rPr>
                        <a:t>là</a:t>
                      </a:r>
                      <a:r>
                        <a:rPr lang="en-US" sz="2800" b="0" kern="1200" baseline="0" dirty="0">
                          <a:solidFill>
                            <a:schemeClr val="dk1"/>
                          </a:solidFill>
                          <a:latin typeface="Times New Roman" panose="02020603050405020304" pitchFamily="18" charset="0"/>
                          <a:ea typeface="+mn-ea"/>
                          <a:cs typeface="Times New Roman" panose="02020603050405020304" pitchFamily="18" charset="0"/>
                        </a:rPr>
                        <a:t>  </a:t>
                      </a:r>
                      <a:r>
                        <a:rPr lang="en-US" sz="2800" b="1" kern="1200" baseline="0" dirty="0">
                          <a:solidFill>
                            <a:schemeClr val="dk1"/>
                          </a:solidFill>
                          <a:latin typeface="Times New Roman" panose="02020603050405020304" pitchFamily="18" charset="0"/>
                          <a:ea typeface="+mn-ea"/>
                          <a:cs typeface="Times New Roman" panose="02020603050405020304" pitchFamily="18" charset="0"/>
                        </a:rPr>
                        <a:t>“</a:t>
                      </a:r>
                      <a:r>
                        <a:rPr lang="en-US" altLang="zh-CN" sz="2800" b="1" kern="1200" baseline="0" dirty="0" err="1">
                          <a:solidFill>
                            <a:schemeClr val="dk1"/>
                          </a:solidFill>
                          <a:latin typeface="Times New Roman" panose="02020603050405020304" pitchFamily="18" charset="0"/>
                          <a:ea typeface="+mn-ea"/>
                          <a:cs typeface="Times New Roman" panose="02020603050405020304" pitchFamily="18" charset="0"/>
                        </a:rPr>
                        <a:t>yāo</a:t>
                      </a:r>
                      <a:r>
                        <a:rPr lang="en-US" sz="2800" b="1" kern="1200" baseline="0" dirty="0">
                          <a:solidFill>
                            <a:schemeClr val="dk1"/>
                          </a:solidFill>
                          <a:latin typeface="Times New Roman" panose="02020603050405020304" pitchFamily="18" charset="0"/>
                          <a:ea typeface="+mn-ea"/>
                          <a:cs typeface="Times New Roman" panose="02020603050405020304" pitchFamily="18" charset="0"/>
                        </a:rPr>
                        <a:t>”</a:t>
                      </a:r>
                      <a:r>
                        <a:rPr lang="vi-VN" sz="2800" b="0" kern="1200" baseline="0" dirty="0">
                          <a:solidFill>
                            <a:schemeClr val="dk1"/>
                          </a:solidFill>
                          <a:latin typeface="Times New Roman" panose="02020603050405020304" pitchFamily="18" charset="0"/>
                          <a:ea typeface="+mn-ea"/>
                          <a:cs typeface="Times New Roman" panose="02020603050405020304" pitchFamily="18" charset="0"/>
                        </a:rPr>
                        <a:t>. </a:t>
                      </a:r>
                      <a:endParaRPr lang="vi-VN" sz="2600" kern="1200" baseline="0" dirty="0">
                        <a:solidFill>
                          <a:schemeClr val="dk1"/>
                        </a:solidFill>
                        <a:latin typeface="+mn-lt"/>
                        <a:ea typeface="+mn-ea"/>
                        <a:cs typeface="+mn-cs"/>
                      </a:endParaRPr>
                    </a:p>
                  </a:txBody>
                  <a:tcPr anchor="ctr"/>
                </a:tc>
                <a:extLst>
                  <a:ext uri="{0D108BD9-81ED-4DB2-BD59-A6C34878D82A}">
                    <a16:rowId xmlns:a16="http://schemas.microsoft.com/office/drawing/2014/main" val="446413534"/>
                  </a:ext>
                </a:extLst>
              </a:tr>
            </a:tbl>
          </a:graphicData>
        </a:graphic>
      </p:graphicFrame>
      <p:graphicFrame>
        <p:nvGraphicFramePr>
          <p:cNvPr id="3" name="Table 2">
            <a:extLst>
              <a:ext uri="{FF2B5EF4-FFF2-40B4-BE49-F238E27FC236}">
                <a16:creationId xmlns:a16="http://schemas.microsoft.com/office/drawing/2014/main" id="{9315254E-DE54-CD4D-BCED-4CAE4EC85210}"/>
              </a:ext>
            </a:extLst>
          </p:cNvPr>
          <p:cNvGraphicFramePr>
            <a:graphicFrameLocks noGrp="1"/>
          </p:cNvGraphicFramePr>
          <p:nvPr>
            <p:extLst>
              <p:ext uri="{D42A27DB-BD31-4B8C-83A1-F6EECF244321}">
                <p14:modId xmlns:p14="http://schemas.microsoft.com/office/powerpoint/2010/main" val="2096102109"/>
              </p:ext>
            </p:extLst>
          </p:nvPr>
        </p:nvGraphicFramePr>
        <p:xfrm>
          <a:off x="6743413" y="1013552"/>
          <a:ext cx="4844716" cy="1910443"/>
        </p:xfrm>
        <a:graphic>
          <a:graphicData uri="http://schemas.openxmlformats.org/drawingml/2006/table">
            <a:tbl>
              <a:tblPr>
                <a:tableStyleId>{775DCB02-9BB8-47FD-8907-85C794F793BA}</a:tableStyleId>
              </a:tblPr>
              <a:tblGrid>
                <a:gridCol w="4844716">
                  <a:extLst>
                    <a:ext uri="{9D8B030D-6E8A-4147-A177-3AD203B41FA5}">
                      <a16:colId xmlns:a16="http://schemas.microsoft.com/office/drawing/2014/main" val="3345600335"/>
                    </a:ext>
                  </a:extLst>
                </a:gridCol>
              </a:tblGrid>
              <a:tr h="1910443">
                <a:tc>
                  <a:txBody>
                    <a:bodyPr/>
                    <a:lstStyle/>
                    <a:p>
                      <a:pPr algn="ctr">
                        <a:lnSpc>
                          <a:spcPct val="150000"/>
                        </a:lnSpc>
                      </a:pPr>
                      <a:r>
                        <a:rPr lang="vi-VN" sz="2600" b="1" kern="1200" baseline="0" dirty="0">
                          <a:solidFill>
                            <a:srgbClr val="FF0000"/>
                          </a:solidFill>
                          <a:latin typeface="+mn-lt"/>
                          <a:ea typeface="+mn-ea"/>
                          <a:cs typeface="+mn-cs"/>
                        </a:rPr>
                        <a:t>Hỏi số điện thoại </a:t>
                      </a:r>
                      <a:r>
                        <a:rPr lang="zh-CN" altLang="en-US" sz="2600" b="1" kern="1200" baseline="0" dirty="0">
                          <a:solidFill>
                            <a:srgbClr val="FF0000"/>
                          </a:solidFill>
                          <a:latin typeface="+mn-lt"/>
                          <a:ea typeface="+mn-ea"/>
                          <a:cs typeface="+mn-cs"/>
                        </a:rPr>
                        <a:t>：</a:t>
                      </a:r>
                      <a:endParaRPr lang="vi-VN" sz="2600" b="1" kern="1200" baseline="0" dirty="0">
                        <a:solidFill>
                          <a:srgbClr val="FF0000"/>
                        </a:solidFill>
                        <a:latin typeface="+mn-lt"/>
                        <a:ea typeface="+mn-ea"/>
                        <a:cs typeface="+mn-cs"/>
                      </a:endParaRPr>
                    </a:p>
                    <a:p>
                      <a:pPr marL="0" algn="ctr" defTabSz="914400" rtl="0" eaLnBrk="1" latinLnBrk="0" hangingPunct="1">
                        <a:lnSpc>
                          <a:spcPct val="150000"/>
                        </a:lnSpc>
                      </a:pPr>
                      <a:r>
                        <a:rPr lang="zh-CN" altLang="en-US" dirty="0"/>
                        <a:t>（</a:t>
                      </a:r>
                      <a:r>
                        <a:rPr lang="en-US" altLang="zh-CN" sz="2800" kern="1200" dirty="0">
                          <a:solidFill>
                            <a:schemeClr val="dk1"/>
                          </a:solidFill>
                          <a:latin typeface="KaiTi" panose="02010609060101010101" pitchFamily="49" charset="-122"/>
                          <a:ea typeface="KaiTi" panose="02010609060101010101" pitchFamily="49" charset="-122"/>
                          <a:cs typeface="+mn-cs"/>
                        </a:rPr>
                        <a:t>1</a:t>
                      </a:r>
                      <a:r>
                        <a:rPr lang="zh-CN" altLang="en-US" sz="2800" kern="1200" dirty="0">
                          <a:solidFill>
                            <a:schemeClr val="dk1"/>
                          </a:solidFill>
                          <a:latin typeface="KaiTi" panose="02010609060101010101" pitchFamily="49" charset="-122"/>
                          <a:ea typeface="KaiTi" panose="02010609060101010101" pitchFamily="49" charset="-122"/>
                          <a:cs typeface="+mn-cs"/>
                        </a:rPr>
                        <a:t>）你的电话号码</a:t>
                      </a:r>
                      <a:r>
                        <a:rPr lang="zh-CN" altLang="en-US" sz="2800" b="1" u="sng" kern="1200" dirty="0">
                          <a:solidFill>
                            <a:srgbClr val="C00000"/>
                          </a:solidFill>
                          <a:latin typeface="KaiTi" panose="02010609060101010101" pitchFamily="49" charset="-122"/>
                          <a:ea typeface="KaiTi" panose="02010609060101010101" pitchFamily="49" charset="-122"/>
                          <a:cs typeface="+mn-cs"/>
                        </a:rPr>
                        <a:t>是多少</a:t>
                      </a:r>
                      <a:r>
                        <a:rPr lang="zh-CN" altLang="en-US" sz="2800" kern="1200" dirty="0">
                          <a:solidFill>
                            <a:schemeClr val="dk1"/>
                          </a:solidFill>
                          <a:latin typeface="KaiTi" panose="02010609060101010101" pitchFamily="49" charset="-122"/>
                          <a:ea typeface="KaiTi" panose="02010609060101010101" pitchFamily="49" charset="-122"/>
                          <a:cs typeface="+mn-cs"/>
                        </a:rPr>
                        <a:t>？</a:t>
                      </a:r>
                      <a:endParaRPr lang="en-US" altLang="zh-CN" sz="2800" kern="1200" dirty="0">
                        <a:solidFill>
                          <a:schemeClr val="dk1"/>
                        </a:solidFill>
                        <a:latin typeface="KaiTi" panose="02010609060101010101" pitchFamily="49" charset="-122"/>
                        <a:ea typeface="KaiTi" panose="02010609060101010101" pitchFamily="49" charset="-122"/>
                        <a:cs typeface="+mn-cs"/>
                      </a:endParaRPr>
                    </a:p>
                    <a:p>
                      <a:pPr marL="0" algn="ctr" defTabSz="914400" rtl="0" eaLnBrk="1" latinLnBrk="0" hangingPunct="1">
                        <a:lnSpc>
                          <a:spcPct val="150000"/>
                        </a:lnSpc>
                      </a:pPr>
                      <a:r>
                        <a:rPr lang="zh-CN" altLang="en-US" sz="2800" kern="1200" dirty="0">
                          <a:solidFill>
                            <a:schemeClr val="dk1"/>
                          </a:solidFill>
                          <a:latin typeface="KaiTi" panose="02010609060101010101" pitchFamily="49" charset="-122"/>
                          <a:ea typeface="KaiTi" panose="02010609060101010101" pitchFamily="49" charset="-122"/>
                          <a:cs typeface="+mn-cs"/>
                        </a:rPr>
                        <a:t>（</a:t>
                      </a:r>
                      <a:r>
                        <a:rPr lang="en-US" altLang="zh-CN" sz="2800" kern="1200" dirty="0">
                          <a:solidFill>
                            <a:schemeClr val="dk1"/>
                          </a:solidFill>
                          <a:latin typeface="KaiTi" panose="02010609060101010101" pitchFamily="49" charset="-122"/>
                          <a:ea typeface="KaiTi" panose="02010609060101010101" pitchFamily="49" charset="-122"/>
                          <a:cs typeface="+mn-cs"/>
                        </a:rPr>
                        <a:t>2</a:t>
                      </a:r>
                      <a:r>
                        <a:rPr lang="zh-CN" altLang="en-US" sz="2800" kern="1200" dirty="0">
                          <a:solidFill>
                            <a:schemeClr val="dk1"/>
                          </a:solidFill>
                          <a:latin typeface="KaiTi" panose="02010609060101010101" pitchFamily="49" charset="-122"/>
                          <a:ea typeface="KaiTi" panose="02010609060101010101" pitchFamily="49" charset="-122"/>
                          <a:cs typeface="+mn-cs"/>
                        </a:rPr>
                        <a:t>）你的手机号码</a:t>
                      </a:r>
                      <a:r>
                        <a:rPr lang="zh-CN" altLang="en-US" sz="2800" b="1" u="sng" kern="1200" dirty="0">
                          <a:solidFill>
                            <a:srgbClr val="C00000"/>
                          </a:solidFill>
                          <a:latin typeface="KaiTi" panose="02010609060101010101" pitchFamily="49" charset="-122"/>
                          <a:ea typeface="KaiTi" panose="02010609060101010101" pitchFamily="49" charset="-122"/>
                          <a:cs typeface="+mn-cs"/>
                        </a:rPr>
                        <a:t>是多少</a:t>
                      </a:r>
                      <a:r>
                        <a:rPr lang="zh-CN" altLang="en-US" sz="2800" kern="1200" dirty="0">
                          <a:solidFill>
                            <a:schemeClr val="dk1"/>
                          </a:solidFill>
                          <a:latin typeface="KaiTi" panose="02010609060101010101" pitchFamily="49" charset="-122"/>
                          <a:ea typeface="KaiTi" panose="02010609060101010101" pitchFamily="49" charset="-122"/>
                          <a:cs typeface="+mn-cs"/>
                        </a:rPr>
                        <a:t>？</a:t>
                      </a:r>
                      <a:endParaRPr lang="en-US" sz="2800" kern="1200" dirty="0">
                        <a:solidFill>
                          <a:schemeClr val="dk1"/>
                        </a:solidFill>
                        <a:latin typeface="KaiTi" panose="02010609060101010101" pitchFamily="49" charset="-122"/>
                        <a:ea typeface="KaiTi" panose="02010609060101010101" pitchFamily="49" charset="-122"/>
                        <a:cs typeface="+mn-cs"/>
                      </a:endParaRPr>
                    </a:p>
                  </a:txBody>
                  <a:tcPr anchor="ctr"/>
                </a:tc>
                <a:extLst>
                  <a:ext uri="{0D108BD9-81ED-4DB2-BD59-A6C34878D82A}">
                    <a16:rowId xmlns:a16="http://schemas.microsoft.com/office/drawing/2014/main" val="2504245937"/>
                  </a:ext>
                </a:extLst>
              </a:tr>
            </a:tbl>
          </a:graphicData>
        </a:graphic>
      </p:graphicFrame>
      <p:graphicFrame>
        <p:nvGraphicFramePr>
          <p:cNvPr id="8" name="Table 7">
            <a:extLst>
              <a:ext uri="{FF2B5EF4-FFF2-40B4-BE49-F238E27FC236}">
                <a16:creationId xmlns:a16="http://schemas.microsoft.com/office/drawing/2014/main" id="{7944DCD1-F856-0DA8-AF26-920CE13BB871}"/>
              </a:ext>
            </a:extLst>
          </p:cNvPr>
          <p:cNvGraphicFramePr>
            <a:graphicFrameLocks noGrp="1"/>
          </p:cNvGraphicFramePr>
          <p:nvPr>
            <p:extLst>
              <p:ext uri="{D42A27DB-BD31-4B8C-83A1-F6EECF244321}">
                <p14:modId xmlns:p14="http://schemas.microsoft.com/office/powerpoint/2010/main" val="1091850105"/>
              </p:ext>
            </p:extLst>
          </p:nvPr>
        </p:nvGraphicFramePr>
        <p:xfrm>
          <a:off x="6743413" y="3219334"/>
          <a:ext cx="4844716" cy="2525014"/>
        </p:xfrm>
        <a:graphic>
          <a:graphicData uri="http://schemas.openxmlformats.org/drawingml/2006/table">
            <a:tbl>
              <a:tblPr>
                <a:tableStyleId>{284E427A-3D55-4303-BF80-6455036E1DE7}</a:tableStyleId>
              </a:tblPr>
              <a:tblGrid>
                <a:gridCol w="4844716">
                  <a:extLst>
                    <a:ext uri="{9D8B030D-6E8A-4147-A177-3AD203B41FA5}">
                      <a16:colId xmlns:a16="http://schemas.microsoft.com/office/drawing/2014/main" val="252329334"/>
                    </a:ext>
                  </a:extLst>
                </a:gridCol>
              </a:tblGrid>
              <a:tr h="2500847">
                <a:tc>
                  <a:txBody>
                    <a:bodyPr/>
                    <a:lstStyle/>
                    <a:p>
                      <a:pPr marL="457200" lvl="1" algn="ctr" defTabSz="914400" rtl="0" eaLnBrk="1" latinLnBrk="0" hangingPunct="1">
                        <a:lnSpc>
                          <a:spcPct val="150000"/>
                        </a:lnSpc>
                      </a:pPr>
                      <a:r>
                        <a:rPr lang="vi-VN" sz="2600" b="1" kern="1200" baseline="0" dirty="0">
                          <a:solidFill>
                            <a:srgbClr val="FF0000"/>
                          </a:solidFill>
                          <a:latin typeface="+mn-lt"/>
                          <a:ea typeface="+mn-ea"/>
                          <a:cs typeface="+mn-cs"/>
                        </a:rPr>
                        <a:t>Hỏi số phòng :</a:t>
                      </a:r>
                      <a:endParaRPr lang="en-US" sz="2600" b="1" kern="1200" baseline="0" dirty="0">
                        <a:solidFill>
                          <a:srgbClr val="FF0000"/>
                        </a:solidFill>
                        <a:latin typeface="+mn-lt"/>
                        <a:ea typeface="+mn-ea"/>
                        <a:cs typeface="+mn-cs"/>
                      </a:endParaRPr>
                    </a:p>
                    <a:p>
                      <a:pPr marL="457200" lvl="1" algn="l" defTabSz="914400" rtl="0" eaLnBrk="1" latinLnBrk="0" hangingPunct="1">
                        <a:lnSpc>
                          <a:spcPct val="150000"/>
                        </a:lnSpc>
                      </a:pPr>
                      <a:r>
                        <a:rPr lang="zh-CN" altLang="en-US" sz="26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26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）你的房间是</a:t>
                      </a:r>
                      <a:r>
                        <a:rPr lang="zh-CN" altLang="en-US" sz="2800" b="1" kern="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多少号</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457200" lvl="1" algn="l" defTabSz="914400" rtl="0" eaLnBrk="1" latinLnBrk="0" hangingPunct="1">
                        <a:lnSpc>
                          <a:spcPct val="150000"/>
                        </a:lnSpc>
                      </a:pP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）你的房间号码是</a:t>
                      </a:r>
                      <a:r>
                        <a:rPr lang="zh-CN" altLang="en-US" sz="2800" kern="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多少</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457200" lvl="1" algn="l" defTabSz="914400" rtl="0" eaLnBrk="1" latinLnBrk="0" hangingPunct="1">
                        <a:lnSpc>
                          <a:spcPct val="150000"/>
                        </a:lnSpc>
                      </a:pP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）你住</a:t>
                      </a:r>
                      <a:r>
                        <a:rPr lang="zh-CN" altLang="en-US" sz="2800" kern="1200"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多少</a:t>
                      </a:r>
                      <a:r>
                        <a:rPr lang="zh-CN" alt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号房间？</a:t>
                      </a:r>
                      <a:endParaRPr lang="en-US" sz="2800" kern="12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1321045432"/>
                  </a:ext>
                </a:extLst>
              </a:tr>
            </a:tbl>
          </a:graphicData>
        </a:graphic>
      </p:graphicFrame>
      <p:sp>
        <p:nvSpPr>
          <p:cNvPr id="5" name="TextBox 4">
            <a:extLst>
              <a:ext uri="{FF2B5EF4-FFF2-40B4-BE49-F238E27FC236}">
                <a16:creationId xmlns:a16="http://schemas.microsoft.com/office/drawing/2014/main" id="{BE118134-389D-299D-ABC7-DC3307DAF42B}"/>
              </a:ext>
            </a:extLst>
          </p:cNvPr>
          <p:cNvSpPr txBox="1"/>
          <p:nvPr/>
        </p:nvSpPr>
        <p:spPr>
          <a:xfrm>
            <a:off x="9386424" y="22213"/>
            <a:ext cx="2805576" cy="523220"/>
          </a:xfrm>
          <a:prstGeom prst="rect">
            <a:avLst/>
          </a:prstGeom>
          <a:solidFill>
            <a:srgbClr val="FFC000"/>
          </a:solidFill>
        </p:spPr>
        <p:txBody>
          <a:bodyPr wrap="none" rtlCol="0">
            <a:spAutoFit/>
          </a:bodyPr>
          <a:lstStyle/>
          <a:p>
            <a:r>
              <a:rPr lang="en-VN" sz="2800" dirty="0">
                <a:latin typeface="Times New Roman" panose="02020603050405020304" pitchFamily="18" charset="0"/>
                <a:cs typeface="Times New Roman" panose="02020603050405020304" pitchFamily="18" charset="0"/>
              </a:rPr>
              <a:t>Chú thích bổ sung</a:t>
            </a:r>
          </a:p>
        </p:txBody>
      </p:sp>
      <p:graphicFrame>
        <p:nvGraphicFramePr>
          <p:cNvPr id="10" name="Table 9">
            <a:extLst>
              <a:ext uri="{FF2B5EF4-FFF2-40B4-BE49-F238E27FC236}">
                <a16:creationId xmlns:a16="http://schemas.microsoft.com/office/drawing/2014/main" id="{29BE5CC6-80C1-7703-FC0E-9B87D9AA800D}"/>
              </a:ext>
            </a:extLst>
          </p:cNvPr>
          <p:cNvGraphicFramePr>
            <a:graphicFrameLocks noGrp="1"/>
          </p:cNvGraphicFramePr>
          <p:nvPr>
            <p:extLst>
              <p:ext uri="{D42A27DB-BD31-4B8C-83A1-F6EECF244321}">
                <p14:modId xmlns:p14="http://schemas.microsoft.com/office/powerpoint/2010/main" val="1186251195"/>
              </p:ext>
            </p:extLst>
          </p:nvPr>
        </p:nvGraphicFramePr>
        <p:xfrm>
          <a:off x="144380" y="2228313"/>
          <a:ext cx="5951620" cy="2826682"/>
        </p:xfrm>
        <a:graphic>
          <a:graphicData uri="http://schemas.openxmlformats.org/drawingml/2006/table">
            <a:tbl>
              <a:tblPr>
                <a:tableStyleId>{69C7853C-536D-4A76-A0AE-DD22124D55A5}</a:tableStyleId>
              </a:tblPr>
              <a:tblGrid>
                <a:gridCol w="5951620">
                  <a:extLst>
                    <a:ext uri="{9D8B030D-6E8A-4147-A177-3AD203B41FA5}">
                      <a16:colId xmlns:a16="http://schemas.microsoft.com/office/drawing/2014/main" val="831683374"/>
                    </a:ext>
                  </a:extLst>
                </a:gridCol>
              </a:tblGrid>
              <a:tr h="2826682">
                <a:tc>
                  <a:txBody>
                    <a:bodyPr/>
                    <a:lstStyle/>
                    <a:p>
                      <a:pPr marL="0" indent="0" algn="l">
                        <a:lnSpc>
                          <a:spcPct val="150000"/>
                        </a:lnSpc>
                        <a:buFont typeface="+mj-lt"/>
                        <a:buNone/>
                      </a:pPr>
                      <a:r>
                        <a:rPr lang="vi-VN" sz="2600" b="1" kern="1200" baseline="0" dirty="0">
                          <a:latin typeface="Times New Roman" panose="02020603050405020304" pitchFamily="18" charset="0"/>
                          <a:cs typeface="Times New Roman" panose="02020603050405020304" pitchFamily="18" charset="0"/>
                        </a:rPr>
                        <a:t>Ví dụ:</a:t>
                      </a:r>
                    </a:p>
                    <a:p>
                      <a:pPr algn="l">
                        <a:lnSpc>
                          <a:spcPct val="150000"/>
                        </a:lnSpc>
                      </a:pPr>
                      <a:r>
                        <a:rPr lang="zh-CN" altLang="en-US" sz="2600" kern="1200" dirty="0"/>
                        <a:t>（</a:t>
                      </a:r>
                      <a:r>
                        <a:rPr lang="en-US" altLang="zh-CN" sz="2600" kern="1200" dirty="0"/>
                        <a:t>1</a:t>
                      </a:r>
                      <a:r>
                        <a:rPr lang="zh-CN" altLang="en-US" sz="2600" kern="1200" dirty="0"/>
                        <a:t>）</a:t>
                      </a:r>
                      <a:r>
                        <a:rPr lang="zh-CN" altLang="en-US" sz="3200" kern="1200" dirty="0">
                          <a:latin typeface="KaiTi" panose="02010609060101010101" pitchFamily="49" charset="-122"/>
                          <a:ea typeface="KaiTi" panose="02010609060101010101" pitchFamily="49" charset="-122"/>
                        </a:rPr>
                        <a:t>我的电话号码是</a:t>
                      </a:r>
                      <a:r>
                        <a:rPr lang="en-US" altLang="zh-CN" sz="3200" kern="1200" baseline="0" dirty="0">
                          <a:latin typeface="KaiTi" panose="02010609060101010101" pitchFamily="49" charset="-122"/>
                          <a:ea typeface="KaiTi" panose="02010609060101010101" pitchFamily="49" charset="-122"/>
                        </a:rPr>
                        <a:t>86563428</a:t>
                      </a:r>
                      <a:br>
                        <a:rPr lang="en-US" altLang="zh-CN" sz="2600" kern="1200" baseline="0" dirty="0">
                          <a:latin typeface="KaiTi" panose="02010609060101010101" pitchFamily="49" charset="-122"/>
                          <a:ea typeface="KaiTi" panose="02010609060101010101" pitchFamily="49" charset="-122"/>
                        </a:rPr>
                      </a:br>
                      <a:r>
                        <a:rPr lang="zh-CN" altLang="en-US" sz="2600" kern="1200" baseline="0" dirty="0">
                          <a:latin typeface="KaiTi" panose="02010609060101010101" pitchFamily="49" charset="-122"/>
                          <a:ea typeface="KaiTi" panose="02010609060101010101" pitchFamily="49" charset="-122"/>
                        </a:rPr>
                        <a:t>             </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(b</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ā</a:t>
                      </a:r>
                      <a:r>
                        <a:rPr lang="en-US"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liù</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wǔ</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liù</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sān</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sì</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èr</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bā</a:t>
                      </a:r>
                      <a:r>
                        <a:rPr lang="vi-VN" altLang="zh-CN" sz="2600" kern="1200" baseline="0" dirty="0">
                          <a:solidFill>
                            <a:schemeClr val="dk1"/>
                          </a:solidFill>
                          <a:latin typeface="Times New Roman" panose="02020603050405020304" pitchFamily="18" charset="0"/>
                          <a:ea typeface="+mn-ea"/>
                          <a:cs typeface="Times New Roman" panose="02020603050405020304" pitchFamily="18" charset="0"/>
                        </a:rPr>
                        <a:t>)</a:t>
                      </a:r>
                      <a:endParaRPr lang="en-US" altLang="zh-CN" sz="2600" kern="1200" baseline="0" dirty="0">
                        <a:solidFill>
                          <a:schemeClr val="dk1"/>
                        </a:solidFill>
                        <a:latin typeface="Times New Roman" panose="02020603050405020304" pitchFamily="18" charset="0"/>
                        <a:ea typeface="+mn-ea"/>
                        <a:cs typeface="Times New Roman" panose="02020603050405020304" pitchFamily="18" charset="0"/>
                      </a:endParaRPr>
                    </a:p>
                    <a:p>
                      <a:pPr marL="0" algn="l" defTabSz="914400" rtl="0" eaLnBrk="1" latinLnBrk="0" hangingPunct="1">
                        <a:lnSpc>
                          <a:spcPct val="150000"/>
                        </a:lnSpc>
                      </a:pPr>
                      <a:r>
                        <a:rPr lang="zh-CN" altLang="en-US" sz="2600" kern="1200" baseline="0" dirty="0">
                          <a:latin typeface="KaiTi" panose="02010609060101010101" pitchFamily="49" charset="-122"/>
                          <a:ea typeface="KaiTi" panose="02010609060101010101" pitchFamily="49" charset="-122"/>
                        </a:rPr>
                        <a:t>（</a:t>
                      </a:r>
                      <a:r>
                        <a:rPr lang="en-US" altLang="zh-CN" sz="2600" kern="1200" baseline="0" dirty="0">
                          <a:latin typeface="KaiTi" panose="02010609060101010101" pitchFamily="49" charset="-122"/>
                          <a:ea typeface="KaiTi" panose="02010609060101010101" pitchFamily="49" charset="-122"/>
                        </a:rPr>
                        <a:t>2</a:t>
                      </a:r>
                      <a:r>
                        <a:rPr lang="zh-CN" altLang="en-US" sz="2600" kern="1200" baseline="0" dirty="0">
                          <a:latin typeface="KaiTi" panose="02010609060101010101" pitchFamily="49" charset="-122"/>
                          <a:ea typeface="KaiTi" panose="02010609060101010101" pitchFamily="49" charset="-122"/>
                        </a:rPr>
                        <a:t>）</a:t>
                      </a:r>
                      <a:r>
                        <a:rPr lang="zh-CN" altLang="en-US" sz="3200" kern="1200" baseline="0" dirty="0">
                          <a:latin typeface="KaiTi" panose="02010609060101010101" pitchFamily="49" charset="-122"/>
                          <a:ea typeface="KaiTi" panose="02010609060101010101" pitchFamily="49" charset="-122"/>
                        </a:rPr>
                        <a:t>我的房间是</a:t>
                      </a:r>
                      <a:r>
                        <a:rPr lang="en-US" altLang="zh-CN" sz="3200" kern="1200" baseline="0" dirty="0">
                          <a:latin typeface="KaiTi" panose="02010609060101010101" pitchFamily="49" charset="-122"/>
                          <a:ea typeface="KaiTi" panose="02010609060101010101" pitchFamily="49" charset="-122"/>
                        </a:rPr>
                        <a:t>103</a:t>
                      </a:r>
                      <a:r>
                        <a:rPr lang="zh-CN" altLang="en-US" sz="2600" kern="1200" baseline="0" dirty="0">
                          <a:latin typeface="Times New Roman" panose="02020603050405020304" pitchFamily="18" charset="0"/>
                          <a:ea typeface="KaiTi" panose="02010609060101010101" pitchFamily="49" charset="-122"/>
                          <a:cs typeface="Times New Roman" panose="02020603050405020304" pitchFamily="18" charset="0"/>
                        </a:rPr>
                        <a:t>（</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yāo</a:t>
                      </a:r>
                      <a:r>
                        <a:rPr lang="en-US" altLang="zh-CN" sz="2600" kern="1200" baseline="0" dirty="0">
                          <a:solidFill>
                            <a:schemeClr val="dk1"/>
                          </a:solidFill>
                          <a:latin typeface="Times New Roman" panose="02020603050405020304" pitchFamily="18" charset="0"/>
                          <a:ea typeface="+mn-ea"/>
                          <a:cs typeface="Times New Roman" panose="02020603050405020304" pitchFamily="18" charset="0"/>
                        </a:rPr>
                        <a:t> </a:t>
                      </a:r>
                      <a:r>
                        <a:rPr lang="en-US" altLang="zh-CN" sz="2600" kern="1200" baseline="0" dirty="0" err="1">
                          <a:solidFill>
                            <a:schemeClr val="dk1"/>
                          </a:solidFill>
                          <a:latin typeface="Times New Roman" panose="02020603050405020304" pitchFamily="18" charset="0"/>
                          <a:ea typeface="+mn-ea"/>
                          <a:cs typeface="Times New Roman" panose="02020603050405020304" pitchFamily="18" charset="0"/>
                        </a:rPr>
                        <a:t>língsān</a:t>
                      </a:r>
                      <a:r>
                        <a:rPr lang="zh-CN" altLang="en-US" sz="2600" kern="1200" baseline="0" dirty="0">
                          <a:solidFill>
                            <a:schemeClr val="dk1"/>
                          </a:solidFill>
                          <a:latin typeface="Times New Roman" panose="02020603050405020304" pitchFamily="18" charset="0"/>
                          <a:ea typeface="+mn-ea"/>
                          <a:cs typeface="Times New Roman" panose="02020603050405020304" pitchFamily="18" charset="0"/>
                        </a:rPr>
                        <a:t>）</a:t>
                      </a:r>
                      <a:endParaRPr lang="vi-VN" sz="2600"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46413534"/>
                  </a:ext>
                </a:extLst>
              </a:tr>
            </a:tbl>
          </a:graphicData>
        </a:graphic>
      </p:graphicFrame>
    </p:spTree>
    <p:extLst>
      <p:ext uri="{BB962C8B-B14F-4D97-AF65-F5344CB8AC3E}">
        <p14:creationId xmlns:p14="http://schemas.microsoft.com/office/powerpoint/2010/main" val="3022262816"/>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776697500"/>
              </p:ext>
            </p:extLst>
          </p:nvPr>
        </p:nvGraphicFramePr>
        <p:xfrm>
          <a:off x="433953" y="352925"/>
          <a:ext cx="11356264" cy="1640416"/>
        </p:xfrm>
        <a:graphic>
          <a:graphicData uri="http://schemas.openxmlformats.org/drawingml/2006/table">
            <a:tbl>
              <a:tblPr firstRow="1">
                <a:tableStyleId>{5C22544A-7EE6-4342-B048-85BDC9FD1C3A}</a:tableStyleId>
              </a:tblPr>
              <a:tblGrid>
                <a:gridCol w="1267496">
                  <a:extLst>
                    <a:ext uri="{9D8B030D-6E8A-4147-A177-3AD203B41FA5}">
                      <a16:colId xmlns:a16="http://schemas.microsoft.com/office/drawing/2014/main" val="2897192029"/>
                    </a:ext>
                  </a:extLst>
                </a:gridCol>
                <a:gridCol w="2511405">
                  <a:extLst>
                    <a:ext uri="{9D8B030D-6E8A-4147-A177-3AD203B41FA5}">
                      <a16:colId xmlns:a16="http://schemas.microsoft.com/office/drawing/2014/main" val="2090168382"/>
                    </a:ext>
                  </a:extLst>
                </a:gridCol>
                <a:gridCol w="2488425">
                  <a:extLst>
                    <a:ext uri="{9D8B030D-6E8A-4147-A177-3AD203B41FA5}">
                      <a16:colId xmlns:a16="http://schemas.microsoft.com/office/drawing/2014/main" val="964787021"/>
                    </a:ext>
                  </a:extLst>
                </a:gridCol>
                <a:gridCol w="1457186">
                  <a:extLst>
                    <a:ext uri="{9D8B030D-6E8A-4147-A177-3AD203B41FA5}">
                      <a16:colId xmlns:a16="http://schemas.microsoft.com/office/drawing/2014/main" val="934390766"/>
                    </a:ext>
                  </a:extLst>
                </a:gridCol>
                <a:gridCol w="3631752">
                  <a:extLst>
                    <a:ext uri="{9D8B030D-6E8A-4147-A177-3AD203B41FA5}">
                      <a16:colId xmlns:a16="http://schemas.microsoft.com/office/drawing/2014/main" val="1958298950"/>
                    </a:ext>
                  </a:extLst>
                </a:gridCol>
              </a:tblGrid>
              <a:tr h="677363">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963053">
                <a:tc>
                  <a:txBody>
                    <a:bodyPr/>
                    <a:lstStyle/>
                    <a:p>
                      <a:pPr marL="0" indent="0" algn="ctr" defTabSz="914400" rtl="0" eaLnBrk="1" fontAlgn="b" latinLnBrk="0" hangingPunct="1">
                        <a:buFontTx/>
                        <a:buNone/>
                      </a:pPr>
                      <a:r>
                        <a:rPr lang="en-US" sz="20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用</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i="1" kern="1200">
                          <a:solidFill>
                            <a:schemeClr val="dk1"/>
                          </a:solidFill>
                          <a:latin typeface="Times New Roman" panose="02020603050405020304" pitchFamily="18" charset="0"/>
                          <a:ea typeface="+mn-ea"/>
                          <a:cs typeface="Times New Roman" panose="02020603050405020304" pitchFamily="18" charset="0"/>
                        </a:rPr>
                        <a:t>yòng</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动</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Cần</a:t>
                      </a:r>
                      <a:br>
                        <a:rPr lang="vi-VN" sz="3200" i="0" kern="1200" dirty="0">
                          <a:solidFill>
                            <a:schemeClr val="dk1"/>
                          </a:solidFill>
                          <a:latin typeface="Times New Roman" panose="02020603050405020304" pitchFamily="18" charset="0"/>
                          <a:ea typeface="+mn-ea"/>
                          <a:cs typeface="Times New Roman" panose="02020603050405020304" pitchFamily="18" charset="0"/>
                        </a:rPr>
                      </a:br>
                      <a:r>
                        <a:rPr lang="en-US" sz="2400" i="0" kern="1200" dirty="0">
                          <a:solidFill>
                            <a:schemeClr val="dk1"/>
                          </a:solidFill>
                          <a:latin typeface="Times New Roman" panose="02020603050405020304" pitchFamily="18" charset="0"/>
                          <a:ea typeface="+mn-ea"/>
                          <a:cs typeface="Times New Roman" panose="02020603050405020304" pitchFamily="18" charset="0"/>
                        </a:rPr>
                        <a:t>( </a:t>
                      </a:r>
                      <a:r>
                        <a:rPr lang="en-US" sz="2400" i="0" kern="1200" dirty="0" err="1">
                          <a:solidFill>
                            <a:schemeClr val="dk1"/>
                          </a:solidFill>
                          <a:latin typeface="Times New Roman" panose="02020603050405020304" pitchFamily="18" charset="0"/>
                          <a:ea typeface="+mn-ea"/>
                          <a:cs typeface="Times New Roman" panose="02020603050405020304" pitchFamily="18" charset="0"/>
                        </a:rPr>
                        <a:t>đa</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số</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dùng</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ở</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thể</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phủ</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2400" i="0" kern="1200" baseline="0" dirty="0" err="1">
                          <a:solidFill>
                            <a:schemeClr val="dk1"/>
                          </a:solidFill>
                          <a:latin typeface="Times New Roman" panose="02020603050405020304" pitchFamily="18" charset="0"/>
                          <a:ea typeface="+mn-ea"/>
                          <a:cs typeface="Times New Roman" panose="02020603050405020304" pitchFamily="18" charset="0"/>
                        </a:rPr>
                        <a:t>định</a:t>
                      </a:r>
                      <a:r>
                        <a:rPr lang="en-US" sz="2400" i="0" kern="1200" baseline="0" dirty="0">
                          <a:solidFill>
                            <a:schemeClr val="dk1"/>
                          </a:solidFill>
                          <a:latin typeface="Times New Roman" panose="02020603050405020304" pitchFamily="18" charset="0"/>
                          <a:ea typeface="+mn-ea"/>
                          <a:cs typeface="Times New Roman" panose="02020603050405020304" pitchFamily="18" charset="0"/>
                        </a:rPr>
                        <a:t>)</a:t>
                      </a:r>
                      <a:endParaRPr lang="en-US" sz="24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pic>
        <p:nvPicPr>
          <p:cNvPr id="4100" name="Picture 4" descr="用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8148" y="2178183"/>
            <a:ext cx="2132600" cy="2063390"/>
          </a:xfrm>
          <a:prstGeom prst="rect">
            <a:avLst/>
          </a:prstGeom>
          <a:noFill/>
          <a:extLst>
            <a:ext uri="{909E8E84-426E-40DD-AFC4-6F175D3DCCD1}">
              <a14:hiddenFill xmlns:a14="http://schemas.microsoft.com/office/drawing/2010/main">
                <a:solidFill>
                  <a:srgbClr val="FFFFFF"/>
                </a:solidFill>
              </a14:hiddenFill>
            </a:ext>
          </a:extLst>
        </p:spPr>
      </p:pic>
      <p:sp>
        <p:nvSpPr>
          <p:cNvPr id="4101" name="Nhớ lại 4101"/>
          <p:cNvSpPr txBox="1"/>
          <p:nvPr/>
        </p:nvSpPr>
        <p:spPr>
          <a:xfrm>
            <a:off x="2700000" y="2113341"/>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不</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bù</a:t>
            </a:r>
            <a:r>
              <a:rPr lang="vi-VN" sz="2400" dirty="0">
                <a:latin typeface="Times New Roman" panose="02020603050405020304" pitchFamily="18" charset="0"/>
                <a:ea typeface="KaiTi" panose="02010609060101010101" pitchFamily="49" charset="-122"/>
                <a:cs typeface="Times New Roman" panose="02020603050405020304" pitchFamily="18" charset="0"/>
              </a:rPr>
              <a:t> – không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不 + 用 = 不用</a:t>
            </a:r>
          </a:p>
          <a:p>
            <a:pPr>
              <a:spcBef>
                <a:spcPts val="200"/>
              </a:spcBef>
            </a:pPr>
            <a:r>
              <a:rPr lang="zh-CN" sz="2800" dirty="0">
                <a:solidFill>
                  <a:srgbClr val="C00000"/>
                </a:solidFill>
                <a:latin typeface="KaiTi" panose="02010609060101010101" pitchFamily="49" charset="-122"/>
                <a:ea typeface="KaiTi" panose="02010609060101010101" pitchFamily="49" charset="-122"/>
              </a:rPr>
              <a:t>客气</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kèqi</a:t>
            </a:r>
            <a:r>
              <a:rPr lang="vi-VN" sz="2400" dirty="0">
                <a:latin typeface="Times New Roman" panose="02020603050405020304" pitchFamily="18" charset="0"/>
                <a:ea typeface="KaiTi" panose="02010609060101010101" pitchFamily="49" charset="-122"/>
                <a:cs typeface="Times New Roman" panose="02020603050405020304" pitchFamily="18" charset="0"/>
              </a:rPr>
              <a:t> – khách sáo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不客气 ≈ 不用谢</a:t>
            </a:r>
          </a:p>
        </p:txBody>
      </p:sp>
    </p:spTree>
    <p:extLst>
      <p:ext uri="{BB962C8B-B14F-4D97-AF65-F5344CB8AC3E}">
        <p14:creationId xmlns:p14="http://schemas.microsoft.com/office/powerpoint/2010/main" val="38614262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left)">
                                      <p:cBhvr>
                                        <p:cTn id="7"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DB226-C409-C10D-1590-7DC922501A0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C9D411C-1821-6DDE-809B-E90E166B5562}"/>
              </a:ext>
            </a:extLst>
          </p:cNvPr>
          <p:cNvGraphicFramePr>
            <a:graphicFrameLocks noGrp="1"/>
          </p:cNvGraphicFramePr>
          <p:nvPr>
            <p:extLst>
              <p:ext uri="{D42A27DB-BD31-4B8C-83A1-F6EECF244321}">
                <p14:modId xmlns:p14="http://schemas.microsoft.com/office/powerpoint/2010/main" val="1032962440"/>
              </p:ext>
            </p:extLst>
          </p:nvPr>
        </p:nvGraphicFramePr>
        <p:xfrm>
          <a:off x="433953" y="352925"/>
          <a:ext cx="11356264" cy="1346282"/>
        </p:xfrm>
        <a:graphic>
          <a:graphicData uri="http://schemas.openxmlformats.org/drawingml/2006/table">
            <a:tbl>
              <a:tblPr firstRow="1">
                <a:tableStyleId>{5C22544A-7EE6-4342-B048-85BDC9FD1C3A}</a:tableStyleId>
              </a:tblPr>
              <a:tblGrid>
                <a:gridCol w="1267496">
                  <a:extLst>
                    <a:ext uri="{9D8B030D-6E8A-4147-A177-3AD203B41FA5}">
                      <a16:colId xmlns:a16="http://schemas.microsoft.com/office/drawing/2014/main" val="2897192029"/>
                    </a:ext>
                  </a:extLst>
                </a:gridCol>
                <a:gridCol w="2511405">
                  <a:extLst>
                    <a:ext uri="{9D8B030D-6E8A-4147-A177-3AD203B41FA5}">
                      <a16:colId xmlns:a16="http://schemas.microsoft.com/office/drawing/2014/main" val="2090168382"/>
                    </a:ext>
                  </a:extLst>
                </a:gridCol>
                <a:gridCol w="2488425">
                  <a:extLst>
                    <a:ext uri="{9D8B030D-6E8A-4147-A177-3AD203B41FA5}">
                      <a16:colId xmlns:a16="http://schemas.microsoft.com/office/drawing/2014/main" val="964787021"/>
                    </a:ext>
                  </a:extLst>
                </a:gridCol>
                <a:gridCol w="1457186">
                  <a:extLst>
                    <a:ext uri="{9D8B030D-6E8A-4147-A177-3AD203B41FA5}">
                      <a16:colId xmlns:a16="http://schemas.microsoft.com/office/drawing/2014/main" val="934390766"/>
                    </a:ext>
                  </a:extLst>
                </a:gridCol>
                <a:gridCol w="3631752">
                  <a:extLst>
                    <a:ext uri="{9D8B030D-6E8A-4147-A177-3AD203B41FA5}">
                      <a16:colId xmlns:a16="http://schemas.microsoft.com/office/drawing/2014/main" val="1958298950"/>
                    </a:ext>
                  </a:extLst>
                </a:gridCol>
              </a:tblGrid>
              <a:tr h="677363">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68919">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不用</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3200" i="1" kern="1200">
                          <a:solidFill>
                            <a:schemeClr val="dk1"/>
                          </a:solidFill>
                          <a:latin typeface="Times New Roman" panose="02020603050405020304" pitchFamily="18" charset="0"/>
                          <a:ea typeface="+mn-ea"/>
                          <a:cs typeface="Times New Roman" panose="02020603050405020304" pitchFamily="18" charset="0"/>
                        </a:rPr>
                        <a:t>bú</a:t>
                      </a:r>
                      <a:r>
                        <a:rPr lang="en-US" sz="3200" i="1" kern="1200">
                          <a:solidFill>
                            <a:schemeClr val="dk1"/>
                          </a:solidFill>
                          <a:latin typeface="Times New Roman" panose="02020603050405020304" pitchFamily="18" charset="0"/>
                          <a:ea typeface="+mn-ea"/>
                          <a:cs typeface="Times New Roman" panose="02020603050405020304" pitchFamily="18" charset="0"/>
                        </a:rPr>
                        <a:t>yòn</a:t>
                      </a:r>
                      <a:r>
                        <a:rPr lang="en-US" altLang="zh-CN" sz="3200" i="1" kern="1200">
                          <a:solidFill>
                            <a:schemeClr val="dk1"/>
                          </a:solidFill>
                          <a:latin typeface="Times New Roman" panose="02020603050405020304" pitchFamily="18" charset="0"/>
                          <a:ea typeface="+mn-ea"/>
                          <a:cs typeface="Times New Roman" panose="02020603050405020304" pitchFamily="18" charset="0"/>
                        </a:rPr>
                        <a:t>g</a:t>
                      </a:r>
                      <a:endParaRPr lang="en-US" sz="32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副</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i="0" kern="1200" dirty="0" err="1">
                          <a:solidFill>
                            <a:schemeClr val="dk1"/>
                          </a:solidFill>
                          <a:latin typeface="Times New Roman" panose="02020603050405020304" pitchFamily="18" charset="0"/>
                          <a:ea typeface="+mn-ea"/>
                          <a:cs typeface="Times New Roman" panose="02020603050405020304" pitchFamily="18" charset="0"/>
                        </a:rPr>
                        <a:t>Không</a:t>
                      </a:r>
                      <a:r>
                        <a:rPr lang="en-US" sz="3200" i="0" kern="1200" baseline="0" dirty="0">
                          <a:solidFill>
                            <a:schemeClr val="dk1"/>
                          </a:solidFill>
                          <a:latin typeface="Times New Roman" panose="02020603050405020304" pitchFamily="18" charset="0"/>
                          <a:ea typeface="+mn-ea"/>
                          <a:cs typeface="Times New Roman" panose="02020603050405020304" pitchFamily="18" charset="0"/>
                        </a:rPr>
                        <a:t> </a:t>
                      </a:r>
                      <a:r>
                        <a:rPr lang="en-US" sz="3200" i="0" kern="1200" baseline="0" dirty="0" err="1">
                          <a:solidFill>
                            <a:schemeClr val="dk1"/>
                          </a:solidFill>
                          <a:latin typeface="Times New Roman" panose="02020603050405020304" pitchFamily="18" charset="0"/>
                          <a:ea typeface="+mn-ea"/>
                          <a:cs typeface="Times New Roman" panose="02020603050405020304" pitchFamily="18" charset="0"/>
                        </a:rPr>
                        <a:t>cần</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graphicFrame>
        <p:nvGraphicFramePr>
          <p:cNvPr id="2" name="Table 1">
            <a:extLst>
              <a:ext uri="{FF2B5EF4-FFF2-40B4-BE49-F238E27FC236}">
                <a16:creationId xmlns:a16="http://schemas.microsoft.com/office/drawing/2014/main" id="{12D2F41B-598A-219D-F37E-A62845168127}"/>
              </a:ext>
            </a:extLst>
          </p:cNvPr>
          <p:cNvGraphicFramePr>
            <a:graphicFrameLocks noGrp="1"/>
          </p:cNvGraphicFramePr>
          <p:nvPr>
            <p:extLst>
              <p:ext uri="{D42A27DB-BD31-4B8C-83A1-F6EECF244321}">
                <p14:modId xmlns:p14="http://schemas.microsoft.com/office/powerpoint/2010/main" val="2908743354"/>
              </p:ext>
            </p:extLst>
          </p:nvPr>
        </p:nvGraphicFramePr>
        <p:xfrm>
          <a:off x="6788727" y="1968271"/>
          <a:ext cx="5403273" cy="1615440"/>
        </p:xfrm>
        <a:graphic>
          <a:graphicData uri="http://schemas.openxmlformats.org/drawingml/2006/table">
            <a:tbl>
              <a:tblPr>
                <a:tableStyleId>{2D5ABB26-0587-4C30-8999-92F81FD0307C}</a:tableStyleId>
              </a:tblPr>
              <a:tblGrid>
                <a:gridCol w="5403273">
                  <a:extLst>
                    <a:ext uri="{9D8B030D-6E8A-4147-A177-3AD203B41FA5}">
                      <a16:colId xmlns:a16="http://schemas.microsoft.com/office/drawing/2014/main" val="1081336613"/>
                    </a:ext>
                  </a:extLst>
                </a:gridCol>
              </a:tblGrid>
              <a:tr h="1227177">
                <a:tc>
                  <a:txBody>
                    <a:bodyPr/>
                    <a:lstStyle/>
                    <a:p>
                      <a:pPr marL="0" algn="ctr" defTabSz="914400" rtl="0" eaLnBrk="1" latinLnBrk="0" hangingPunct="1"/>
                      <a: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1.</a:t>
                      </a:r>
                      <a:r>
                        <a:rPr kumimoji="0" lang="zh-CN" altLang="en-US"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不用谢！</a:t>
                      </a:r>
                      <a:b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b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búyòng</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xiè</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endParaRPr>
                    </a:p>
                    <a:p>
                      <a:pPr marL="0" algn="ctr" defTabSz="914400" rtl="0" eaLnBrk="1" latinLnBrk="0" hangingPunct="1"/>
                      <a: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2.</a:t>
                      </a:r>
                      <a:r>
                        <a:rPr kumimoji="0" lang="zh-CN" altLang="en-US"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不用去中国。</a:t>
                      </a:r>
                      <a:br>
                        <a:rPr kumimoji="0" lang="vi-VN"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br>
                      <a:r>
                        <a:rPr kumimoji="0" lang="en-US" altLang="zh-CN"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bú</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yòng</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qù</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hōngguó</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32063741"/>
                  </a:ext>
                </a:extLst>
              </a:tr>
            </a:tbl>
          </a:graphicData>
        </a:graphic>
      </p:graphicFrame>
      <p:sp>
        <p:nvSpPr>
          <p:cNvPr id="6" name="Nhớ lại 6"/>
          <p:cNvSpPr txBox="1"/>
          <p:nvPr/>
        </p:nvSpPr>
        <p:spPr>
          <a:xfrm>
            <a:off x="2700000" y="3679207"/>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谢谢</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xièxie</a:t>
            </a:r>
            <a:r>
              <a:rPr lang="vi-VN" sz="2400" dirty="0">
                <a:latin typeface="Times New Roman" panose="02020603050405020304" pitchFamily="18" charset="0"/>
                <a:ea typeface="KaiTi" panose="02010609060101010101" pitchFamily="49" charset="-122"/>
                <a:cs typeface="Times New Roman" panose="02020603050405020304" pitchFamily="18" charset="0"/>
              </a:rPr>
              <a:t> – cảm ơn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不用谢 – đáp lại 谢谢</a:t>
            </a:r>
          </a:p>
          <a:p>
            <a:pPr>
              <a:spcBef>
                <a:spcPts val="200"/>
              </a:spcBef>
            </a:pPr>
            <a:r>
              <a:rPr lang="zh-CN" sz="2800" dirty="0">
                <a:solidFill>
                  <a:srgbClr val="C00000"/>
                </a:solidFill>
                <a:latin typeface="KaiTi" panose="02010609060101010101" pitchFamily="49" charset="-122"/>
                <a:ea typeface="KaiTi" panose="02010609060101010101" pitchFamily="49" charset="-122"/>
              </a:rPr>
              <a:t>不客气</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bú kèqi</a:t>
            </a:r>
            <a:r>
              <a:rPr lang="vi-VN" sz="2400" dirty="0">
                <a:latin typeface="Times New Roman" panose="02020603050405020304" pitchFamily="18" charset="0"/>
                <a:ea typeface="KaiTi" panose="02010609060101010101" pitchFamily="49" charset="-122"/>
                <a:cs typeface="Times New Roman" panose="02020603050405020304" pitchFamily="18" charset="0"/>
              </a:rPr>
              <a:t> – đừng khách sáo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cùng nghĩa với 不用谢</a:t>
            </a:r>
          </a:p>
        </p:txBody>
      </p:sp>
    </p:spTree>
    <p:extLst>
      <p:ext uri="{BB962C8B-B14F-4D97-AF65-F5344CB8AC3E}">
        <p14:creationId xmlns:p14="http://schemas.microsoft.com/office/powerpoint/2010/main" val="39028375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BBA7-355E-5A36-5908-96BED6820DA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4293C17-5F64-4249-197A-C17D08EEFA54}"/>
              </a:ext>
            </a:extLst>
          </p:cNvPr>
          <p:cNvGraphicFramePr>
            <a:graphicFrameLocks noGrp="1"/>
          </p:cNvGraphicFramePr>
          <p:nvPr>
            <p:extLst>
              <p:ext uri="{D42A27DB-BD31-4B8C-83A1-F6EECF244321}">
                <p14:modId xmlns:p14="http://schemas.microsoft.com/office/powerpoint/2010/main" val="935376881"/>
              </p:ext>
            </p:extLst>
          </p:nvPr>
        </p:nvGraphicFramePr>
        <p:xfrm>
          <a:off x="3131083" y="773155"/>
          <a:ext cx="3169218" cy="5105132"/>
        </p:xfrm>
        <a:graphic>
          <a:graphicData uri="http://schemas.openxmlformats.org/drawingml/2006/table">
            <a:tbl>
              <a:tblPr firstRow="1">
                <a:tableStyleId>{5C22544A-7EE6-4342-B048-85BDC9FD1C3A}</a:tableStyleId>
              </a:tblPr>
              <a:tblGrid>
                <a:gridCol w="1063000">
                  <a:extLst>
                    <a:ext uri="{9D8B030D-6E8A-4147-A177-3AD203B41FA5}">
                      <a16:colId xmlns:a16="http://schemas.microsoft.com/office/drawing/2014/main" val="2897192029"/>
                    </a:ext>
                  </a:extLst>
                </a:gridCol>
                <a:gridCol w="2106218">
                  <a:extLst>
                    <a:ext uri="{9D8B030D-6E8A-4147-A177-3AD203B41FA5}">
                      <a16:colId xmlns:a16="http://schemas.microsoft.com/office/drawing/2014/main" val="2090168382"/>
                    </a:ext>
                  </a:extLst>
                </a:gridCol>
              </a:tblGrid>
              <a:tr h="919331">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62071">
                <a:tc>
                  <a:txBody>
                    <a:bodyPr/>
                    <a:lstStyle/>
                    <a:p>
                      <a:pPr marL="0" indent="0" algn="ctr" defTabSz="914400" rtl="0" eaLnBrk="1" fontAlgn="b" latinLnBrk="0" hangingPunct="1">
                        <a:buFontTx/>
                        <a:buNone/>
                      </a:pPr>
                      <a:r>
                        <a:rPr lang="en-US" sz="2500" b="0" i="0" u="none" strike="noStrike" kern="1200" dirty="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晚饭</a:t>
                      </a:r>
                      <a:endParaRPr 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719726">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手机</a:t>
                      </a:r>
                      <a:endParaRPr 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753513">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号码</a:t>
                      </a:r>
                      <a:endParaRPr 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828554">
                <a:tc rowSpan="2">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不用</a:t>
                      </a:r>
                      <a:endParaRPr 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1021937">
                <a:tc vMerge="1">
                  <a:txBody>
                    <a:bodyPr/>
                    <a:lstStyle/>
                    <a:p>
                      <a:pPr marL="0" indent="0" algn="ctr" defTabSz="914400" rtl="0" eaLnBrk="1" fontAlgn="b" latinLnBrk="0" hangingPunct="1">
                        <a:buFontTx/>
                        <a:buNone/>
                      </a:pPr>
                      <a:endPar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用</a:t>
                      </a:r>
                      <a:endParaRPr lang="en-US" sz="36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sp>
        <p:nvSpPr>
          <p:cNvPr id="6" name="Title 1">
            <a:extLst>
              <a:ext uri="{FF2B5EF4-FFF2-40B4-BE49-F238E27FC236}">
                <a16:creationId xmlns:a16="http://schemas.microsoft.com/office/drawing/2014/main" id="{2B13BD3A-7E0E-9BFD-6AAD-98D7E25B79B4}"/>
              </a:ext>
            </a:extLst>
          </p:cNvPr>
          <p:cNvSpPr txBox="1">
            <a:spLocks/>
          </p:cNvSpPr>
          <p:nvPr/>
        </p:nvSpPr>
        <p:spPr>
          <a:xfrm>
            <a:off x="864813" y="52251"/>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文二 </a:t>
            </a:r>
            <a:r>
              <a:rPr lang="en-US" altLang="zh-CN" sz="2000" b="1">
                <a:solidFill>
                  <a:srgbClr val="FF0000"/>
                </a:solidFill>
                <a:latin typeface="KaiTi" panose="02010609060101010101" pitchFamily="49" charset="-122"/>
                <a:ea typeface="KaiTi" panose="02010609060101010101" pitchFamily="49" charset="-122"/>
              </a:rPr>
              <a:t>Bài khóa 2</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9060541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78614306"/>
              </p:ext>
            </p:extLst>
          </p:nvPr>
        </p:nvGraphicFramePr>
        <p:xfrm>
          <a:off x="-141122" y="413071"/>
          <a:ext cx="7884827" cy="552880"/>
        </p:xfrm>
        <a:graphic>
          <a:graphicData uri="http://schemas.openxmlformats.org/drawingml/2006/table">
            <a:tbl>
              <a:tblPr>
                <a:tableStyleId>{2D5ABB26-0587-4C30-8999-92F81FD0307C}</a:tableStyleId>
              </a:tblPr>
              <a:tblGrid>
                <a:gridCol w="7884827">
                  <a:extLst>
                    <a:ext uri="{9D8B030D-6E8A-4147-A177-3AD203B41FA5}">
                      <a16:colId xmlns:a16="http://schemas.microsoft.com/office/drawing/2014/main" val="2803610259"/>
                    </a:ext>
                  </a:extLst>
                </a:gridCol>
              </a:tblGrid>
              <a:tr h="552880">
                <a:tc>
                  <a:txBody>
                    <a:bodyPr/>
                    <a:lstStyle/>
                    <a:p>
                      <a:pPr algn="l">
                        <a:lnSpc>
                          <a:spcPct val="100000"/>
                        </a:lnSpc>
                      </a:pPr>
                      <a:r>
                        <a:rPr lang="zh-CN" altLang="en-US" sz="28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（山田给崔浩打电话，崔浩的同屋王朋接电话）</a:t>
                      </a:r>
                      <a:endParaRPr lang="en-US" altLang="zh-CN" sz="28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endParaRPr>
                    </a:p>
                  </a:txBody>
                  <a:tcPr/>
                </a:tc>
                <a:extLst>
                  <a:ext uri="{0D108BD9-81ED-4DB2-BD59-A6C34878D82A}">
                    <a16:rowId xmlns:a16="http://schemas.microsoft.com/office/drawing/2014/main" val="1001144329"/>
                  </a:ext>
                </a:extLst>
              </a:tr>
            </a:tbl>
          </a:graphicData>
        </a:graphic>
      </p:graphicFrame>
      <p:sp>
        <p:nvSpPr>
          <p:cNvPr id="5" name="Title 1"/>
          <p:cNvSpPr txBox="1">
            <a:spLocks/>
          </p:cNvSpPr>
          <p:nvPr/>
        </p:nvSpPr>
        <p:spPr>
          <a:xfrm>
            <a:off x="864813" y="94939"/>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文二 </a:t>
            </a:r>
            <a:r>
              <a:rPr lang="en-US" altLang="zh-CN" sz="2000" b="1">
                <a:solidFill>
                  <a:srgbClr val="FF0000"/>
                </a:solidFill>
                <a:latin typeface="KaiTi" panose="02010609060101010101" pitchFamily="49" charset="-122"/>
                <a:ea typeface="KaiTi" panose="02010609060101010101" pitchFamily="49" charset="-122"/>
              </a:rPr>
              <a:t>Bài khóa 2</a:t>
            </a:r>
            <a:endParaRPr lang="en-US" sz="2000">
              <a:solidFill>
                <a:srgbClr val="FF0000"/>
              </a:solidFill>
              <a:latin typeface="KaiTi" panose="02010609060101010101" pitchFamily="49" charset="-122"/>
              <a:ea typeface="KaiTi" panose="02010609060101010101" pitchFamily="49" charset="-122"/>
            </a:endParaRPr>
          </a:p>
        </p:txBody>
      </p:sp>
      <p:sp>
        <p:nvSpPr>
          <p:cNvPr id="4" name="TextBox 3">
            <a:extLst>
              <a:ext uri="{FF2B5EF4-FFF2-40B4-BE49-F238E27FC236}">
                <a16:creationId xmlns:a16="http://schemas.microsoft.com/office/drawing/2014/main" id="{D7BC5ADD-F868-4CDC-B8D9-0AB159DA9E4E}"/>
              </a:ext>
            </a:extLst>
          </p:cNvPr>
          <p:cNvSpPr txBox="1"/>
          <p:nvPr/>
        </p:nvSpPr>
        <p:spPr>
          <a:xfrm>
            <a:off x="388042" y="1820359"/>
            <a:ext cx="5662127" cy="4442498"/>
          </a:xfrm>
          <a:prstGeom prst="rect">
            <a:avLst/>
          </a:prstGeom>
          <a:solidFill>
            <a:schemeClr val="bg1"/>
          </a:solidFill>
        </p:spPr>
        <p:txBody>
          <a:bodyPr wrap="none" rtlCol="0">
            <a:spAutoFit/>
          </a:bodyPr>
          <a:lstStyle/>
          <a:p>
            <a:pPr marL="457200" indent="-457200">
              <a:lnSpc>
                <a:spcPct val="150000"/>
              </a:lnSpc>
              <a:buAutoNum type="arabicPeriod"/>
            </a:pPr>
            <a:r>
              <a:rPr lang="zh-CN" altLang="en-US" sz="36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崔浩在家吗？</a:t>
            </a:r>
            <a:br>
              <a:rPr lang="en-US" altLang="zh-CN"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Cuīhào</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zàijiā</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ma?</a:t>
            </a:r>
            <a:endParaRPr lang="en-US" altLang="zh-CN"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457200" indent="-457200">
              <a:lnSpc>
                <a:spcPct val="150000"/>
              </a:lnSpc>
              <a:buAutoNum type="arabicPeriod"/>
            </a:pPr>
            <a:r>
              <a:rPr lang="zh-CN" altLang="en-US" sz="36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他在哪儿？</a:t>
            </a:r>
            <a:br>
              <a:rPr lang="en-US" altLang="zh-CN"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Tā</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zài</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nǎr</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p>
          <a:p>
            <a:pPr marL="457200" indent="-457200">
              <a:lnSpc>
                <a:spcPct val="150000"/>
              </a:lnSpc>
              <a:buAutoNum type="arabicPeriod"/>
            </a:pPr>
            <a:r>
              <a:rPr lang="zh-CN" altLang="en-US" sz="36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他的手机号码是多少？</a:t>
            </a:r>
            <a:br>
              <a:rPr lang="en-US" altLang="zh-CN"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Tā</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de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shǒujī</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hàomǎ</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shì</a:t>
            </a:r>
            <a:r>
              <a:rPr 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duōsh</a:t>
            </a:r>
            <a:r>
              <a:rPr lang="en-US" altLang="zh-CN"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a</a:t>
            </a:r>
            <a:r>
              <a:rPr lang="en-US" sz="28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o</a:t>
            </a:r>
            <a:r>
              <a:rPr lang="zh-CN" altLang="en-US"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32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TextBox 6">
            <a:extLst>
              <a:ext uri="{FF2B5EF4-FFF2-40B4-BE49-F238E27FC236}">
                <a16:creationId xmlns:a16="http://schemas.microsoft.com/office/drawing/2014/main" id="{A2110FEB-A893-7330-7A6E-D3BBF8234BBE}"/>
              </a:ext>
            </a:extLst>
          </p:cNvPr>
          <p:cNvSpPr txBox="1"/>
          <p:nvPr/>
        </p:nvSpPr>
        <p:spPr>
          <a:xfrm>
            <a:off x="388042" y="1082849"/>
            <a:ext cx="2101510" cy="737510"/>
          </a:xfrm>
          <a:prstGeom prst="rect">
            <a:avLst/>
          </a:prstGeom>
          <a:solidFill>
            <a:srgbClr val="FFFF00"/>
          </a:solidFill>
          <a:ln>
            <a:solidFill>
              <a:schemeClr val="accent1"/>
            </a:solidFill>
          </a:ln>
        </p:spPr>
        <p:style>
          <a:lnRef idx="0">
            <a:scrgbClr r="0" g="0" b="0"/>
          </a:lnRef>
          <a:fillRef idx="0">
            <a:scrgbClr r="0" g="0" b="0"/>
          </a:fillRef>
          <a:effectRef idx="0">
            <a:scrgbClr r="0" g="0" b="0"/>
          </a:effectRef>
          <a:fontRef idx="minor">
            <a:schemeClr val="accent2"/>
          </a:fontRef>
        </p:style>
        <p:txBody>
          <a:bodyPr wrap="square" rtlCol="0">
            <a:spAutoFit/>
          </a:bodyPr>
          <a:lstStyle/>
          <a:p>
            <a:pPr algn="ctr">
              <a:lnSpc>
                <a:spcPct val="150000"/>
              </a:lnSpc>
            </a:pPr>
            <a:r>
              <a:rPr lang="zh-CN" alt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问题 </a:t>
            </a:r>
            <a:r>
              <a:rPr lang="en-US" altLang="zh-CN" sz="320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w</a:t>
            </a:r>
            <a:r>
              <a:rPr lang="en-US" sz="320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èntí</a:t>
            </a: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KaiTi" panose="02010609060101010101" pitchFamily="49" charset="-122"/>
                <a:cs typeface="Times New Roman" panose="02020603050405020304" pitchFamily="18" charset="0"/>
              </a:rPr>
              <a:t> </a:t>
            </a:r>
          </a:p>
        </p:txBody>
      </p:sp>
      <p:pic>
        <p:nvPicPr>
          <p:cNvPr id="13" name="Picture 12">
            <a:extLst>
              <a:ext uri="{FF2B5EF4-FFF2-40B4-BE49-F238E27FC236}">
                <a16:creationId xmlns:a16="http://schemas.microsoft.com/office/drawing/2014/main" id="{A6684319-0590-F02B-6057-266257DA3C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6575" y="1284083"/>
            <a:ext cx="5076705" cy="5076705"/>
          </a:xfrm>
          <a:prstGeom prst="rect">
            <a:avLst/>
          </a:prstGeom>
        </p:spPr>
      </p:pic>
      <p:pic>
        <p:nvPicPr>
          <p:cNvPr id="14" name="11-4.mp3">
            <a:hlinkClick r:id="" action="ppaction://media"/>
            <a:extLst>
              <a:ext uri="{FF2B5EF4-FFF2-40B4-BE49-F238E27FC236}">
                <a16:creationId xmlns:a16="http://schemas.microsoft.com/office/drawing/2014/main" id="{8432810F-984B-A645-4140-90AB12A3965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902111" y="153151"/>
            <a:ext cx="812800" cy="812800"/>
          </a:xfrm>
          <a:prstGeom prst="rect">
            <a:avLst/>
          </a:prstGeom>
        </p:spPr>
      </p:pic>
    </p:spTree>
    <p:extLst>
      <p:ext uri="{BB962C8B-B14F-4D97-AF65-F5344CB8AC3E}">
        <p14:creationId xmlns:p14="http://schemas.microsoft.com/office/powerpoint/2010/main" val="29811224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14"/>
                </p:tgtEl>
              </p:cMediaNode>
            </p:audio>
          </p:childTnLst>
        </p:cTn>
      </p:par>
    </p:tnLst>
    <p:bldLst>
      <p:bldP spid="4" grpId="0" animBg="1"/>
      <p:bldP spid="7"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18586711"/>
              </p:ext>
            </p:extLst>
          </p:nvPr>
        </p:nvGraphicFramePr>
        <p:xfrm>
          <a:off x="1122642" y="240631"/>
          <a:ext cx="9946715" cy="6376738"/>
        </p:xfrm>
        <a:graphic>
          <a:graphicData uri="http://schemas.openxmlformats.org/drawingml/2006/table">
            <a:tbl>
              <a:tblPr>
                <a:tableStyleId>{2D5ABB26-0587-4C30-8999-92F81FD0307C}</a:tableStyleId>
              </a:tblPr>
              <a:tblGrid>
                <a:gridCol w="9946715">
                  <a:extLst>
                    <a:ext uri="{9D8B030D-6E8A-4147-A177-3AD203B41FA5}">
                      <a16:colId xmlns:a16="http://schemas.microsoft.com/office/drawing/2014/main" val="2803610259"/>
                    </a:ext>
                  </a:extLst>
                </a:gridCol>
              </a:tblGrid>
              <a:tr h="6376738">
                <a:tc>
                  <a:txBody>
                    <a:bodyPr/>
                    <a:lstStyle/>
                    <a:p>
                      <a:pPr algn="ctr">
                        <a:lnSpc>
                          <a:spcPct val="100000"/>
                        </a:lnSpc>
                      </a:pPr>
                      <a:r>
                        <a:rPr lang="zh-CN" alt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（山田给崔浩打电话，崔浩的同屋王朋接电话）</a:t>
                      </a:r>
                      <a:endParaRPr lang="vi-VN" altLang="zh-C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endParaRPr>
                    </a:p>
                    <a:p>
                      <a:pPr algn="l">
                        <a:lnSpc>
                          <a:spcPct val="100000"/>
                        </a:lnSpc>
                      </a:pPr>
                      <a:endParaRPr lang="vi-VN" altLang="zh-CN" sz="1000" i="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endParaRPr>
                    </a:p>
                    <a:p>
                      <a:pPr algn="l">
                        <a:lnSpc>
                          <a:spcPct val="100000"/>
                        </a:lnSpc>
                      </a:pPr>
                      <a:r>
                        <a:rPr lang="zh-CN" altLang="en-US" sz="3200" i="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王朋：你好！请问，你找谁？</a:t>
                      </a:r>
                      <a:br>
                        <a:rPr lang="en-US" altLang="zh-CN" sz="3600" i="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Wáng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péng</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hǎo</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Qǐngwèn</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zhǎo</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shéi</a:t>
                      </a:r>
                      <a:r>
                        <a:rPr kumimoji="0" lang="en-US" sz="2000" b="0" i="1" u="none" strike="noStrike" kern="1200" cap="none" spc="0" normalizeH="0" baseline="0" noProof="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endParaRPr lang="en-US" altLang="zh-CN" sz="2000" i="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0" algn="l" defTabSz="914400" rtl="0" eaLnBrk="1" latinLnBrk="0" hangingPunct="1">
                        <a:lnSpc>
                          <a:spcPct val="100000"/>
                        </a:lnSpc>
                      </a:pPr>
                      <a:r>
                        <a:rPr lang="zh-CN" altLang="en-US"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a:t>
                      </a:r>
                      <a:r>
                        <a:rPr lang="en-US" altLang="zh-CN"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   </a:t>
                      </a:r>
                      <a:r>
                        <a:rPr lang="zh-CN" altLang="en-US"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你好！我是崔浩的同学</a:t>
                      </a:r>
                      <a:r>
                        <a:rPr lang="zh-CN" altLang="en-US"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山田。崔浩在吗？</a:t>
                      </a:r>
                      <a:br>
                        <a:rPr lang="vi-VN" altLang="zh-CN" sz="36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Shāntián</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hǎo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shì</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Cuīhào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tóngxué</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Shāntián</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Cuīhào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zài</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ma? </a:t>
                      </a:r>
                      <a:endParaRPr kumimoji="0" lang="en-US" altLang="zh-C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algn="l" defTabSz="914400" rtl="0" eaLnBrk="1" latinLnBrk="0" hangingPunct="1">
                        <a:lnSpc>
                          <a:spcPct val="100000"/>
                        </a:lnSpc>
                      </a:pPr>
                      <a:r>
                        <a:rPr lang="zh-CN" altLang="en-US" sz="32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王朋：他不在。现在他在朋友家吃晚饭。</a:t>
                      </a:r>
                      <a:br>
                        <a:rPr lang="vi-VN" altLang="zh-CN" sz="36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Wáng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péng</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Tā</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bú</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z</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ài</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Xiànzài</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tā</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zài</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péngyǒu</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jiā</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chī</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wǎnfàn</a:t>
                      </a:r>
                      <a:r>
                        <a:rPr kumimoji="0" lang="vi-V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altLang="zh-C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l">
                        <a:lnSpc>
                          <a:spcPct val="100000"/>
                        </a:lnSpc>
                      </a:pPr>
                      <a:r>
                        <a:rPr lang="zh-CN" altLang="en-US"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山田：他的手机号码是多少，你知道吗？</a:t>
                      </a:r>
                      <a:br>
                        <a:rPr lang="vi-VN" altLang="zh-CN" sz="36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Shāntián</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Tā</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shǒujī</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hàomǎ</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shì</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duōshǎo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zhīdào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ma?</a:t>
                      </a:r>
                      <a:r>
                        <a:rPr kumimoji="0" lang="zh-CN" alt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lang="vi-VN" altLang="zh-CN" sz="36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2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王朋：知道，号码是：</a:t>
                      </a:r>
                      <a:r>
                        <a:rPr lang="en-US" altLang="zh-CN" sz="32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13261231948.</a:t>
                      </a:r>
                      <a:br>
                        <a:rPr lang="vi-VN" altLang="zh-CN" sz="36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Wán</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péng</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Zhīdào</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hàomǎ</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shì</a:t>
                      </a:r>
                      <a:r>
                        <a:rPr kumimoji="0" lang="vi-V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yāo</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sān</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èr</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liù</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yāo</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èr</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sān</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yāo</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jiǔ</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sì</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bā</a:t>
                      </a:r>
                      <a:r>
                        <a:rPr kumimoji="0" lang="vi-VN"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zh-CN" altLang="en-US"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山田：谢谢你！</a:t>
                      </a:r>
                      <a:br>
                        <a:rPr lang="vi-VN" altLang="zh-CN" sz="32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Shāntián</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Xièxi</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e</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nǐ</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altLang="zh-C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algn="l" defTabSz="914400" rtl="0" eaLnBrk="1" latinLnBrk="0" hangingPunct="1">
                        <a:lnSpc>
                          <a:spcPct val="100000"/>
                        </a:lnSpc>
                      </a:pPr>
                      <a:r>
                        <a:rPr lang="zh-CN" altLang="en-US" sz="32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王朋：不用谢！</a:t>
                      </a:r>
                      <a:br>
                        <a:rPr lang="en-US" altLang="zh-CN" sz="3600" i="0" baseline="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br>
                      <a:r>
                        <a:rPr kumimoji="0" lang="en-US" sz="2000" b="0" i="1" u="none" strike="noStrike" kern="1200" cap="none" spc="0" normalizeH="0" baseline="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Wáng </a:t>
                      </a:r>
                      <a:r>
                        <a:rPr kumimoji="0" lang="en-US" sz="2000" b="0" i="1" u="none" strike="noStrike" kern="1200" cap="none" spc="0" normalizeH="0" baseline="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péng</a:t>
                      </a:r>
                      <a:r>
                        <a:rPr kumimoji="0" lang="en-US" sz="2000" b="0" i="1" u="none" strike="noStrike" kern="1200" cap="none" spc="0" normalizeH="0" baseline="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bú</a:t>
                      </a:r>
                      <a:r>
                        <a:rPr kumimoji="0" lang="en-US" sz="2000" b="0" i="1" u="none" strike="noStrike" kern="1200" cap="none" spc="0" normalizeH="0" baseline="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yòng</a:t>
                      </a:r>
                      <a:r>
                        <a:rPr kumimoji="0" lang="en-US" sz="2000" b="0" i="1" u="none" strike="noStrike" kern="1200" cap="none" spc="0" normalizeH="0" baseline="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xiè</a:t>
                      </a:r>
                      <a:r>
                        <a:rPr kumimoji="0" lang="en-US" sz="2000" b="0" i="1" u="none" strike="noStrike" kern="1200" cap="none" spc="0" normalizeH="0" baseline="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rPr>
                        <a:t>!</a:t>
                      </a:r>
                    </a:p>
                  </a:txBody>
                  <a:tcPr>
                    <a:solidFill>
                      <a:schemeClr val="bg1"/>
                    </a:solidFill>
                  </a:tcPr>
                </a:tc>
                <a:extLst>
                  <a:ext uri="{0D108BD9-81ED-4DB2-BD59-A6C34878D82A}">
                    <a16:rowId xmlns:a16="http://schemas.microsoft.com/office/drawing/2014/main" val="1001144329"/>
                  </a:ext>
                </a:extLst>
              </a:tr>
            </a:tbl>
          </a:graphicData>
        </a:graphic>
      </p:graphicFrame>
    </p:spTree>
    <p:extLst>
      <p:ext uri="{BB962C8B-B14F-4D97-AF65-F5344CB8AC3E}">
        <p14:creationId xmlns:p14="http://schemas.microsoft.com/office/powerpoint/2010/main" val="35643138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89184-9449-1C5E-98C0-1A6E379C3FA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4EE3CAF-952A-9A2E-D0D1-96C191B954D9}"/>
              </a:ext>
            </a:extLst>
          </p:cNvPr>
          <p:cNvGraphicFramePr>
            <a:graphicFrameLocks noGrp="1"/>
          </p:cNvGraphicFramePr>
          <p:nvPr>
            <p:extLst>
              <p:ext uri="{D42A27DB-BD31-4B8C-83A1-F6EECF244321}">
                <p14:modId xmlns:p14="http://schemas.microsoft.com/office/powerpoint/2010/main" val="2189571781"/>
              </p:ext>
            </p:extLst>
          </p:nvPr>
        </p:nvGraphicFramePr>
        <p:xfrm>
          <a:off x="719164" y="342956"/>
          <a:ext cx="10753672" cy="4815840"/>
        </p:xfrm>
        <a:graphic>
          <a:graphicData uri="http://schemas.openxmlformats.org/drawingml/2006/table">
            <a:tbl>
              <a:tblPr>
                <a:tableStyleId>{2D5ABB26-0587-4C30-8999-92F81FD0307C}</a:tableStyleId>
              </a:tblPr>
              <a:tblGrid>
                <a:gridCol w="10753672">
                  <a:extLst>
                    <a:ext uri="{9D8B030D-6E8A-4147-A177-3AD203B41FA5}">
                      <a16:colId xmlns:a16="http://schemas.microsoft.com/office/drawing/2014/main" val="2803610259"/>
                    </a:ext>
                  </a:extLst>
                </a:gridCol>
              </a:tblGrid>
              <a:tr h="4615543">
                <a:tc>
                  <a:txBody>
                    <a:bodyPr/>
                    <a:lstStyle/>
                    <a:p>
                      <a:pPr algn="ctr">
                        <a:lnSpc>
                          <a:spcPct val="100000"/>
                        </a:lnSpc>
                      </a:pPr>
                      <a:r>
                        <a:rPr lang="zh-CN" alt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（山田给崔浩打电话，崔浩的同屋王朋接电话）</a:t>
                      </a:r>
                      <a:endParaRPr lang="vi-VN" altLang="zh-C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endParaRPr>
                    </a:p>
                    <a:p>
                      <a:pPr algn="l">
                        <a:lnSpc>
                          <a:spcPct val="100000"/>
                        </a:lnSpc>
                      </a:pPr>
                      <a:endParaRPr lang="vi-VN" altLang="zh-CN" sz="1000" i="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endParaRPr>
                    </a:p>
                    <a:p>
                      <a:pPr algn="l">
                        <a:lnSpc>
                          <a:spcPct val="100000"/>
                        </a:lnSpc>
                      </a:pPr>
                      <a:r>
                        <a:rPr lang="zh-CN" altLang="en-US" sz="3600" i="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王朋：你好！请问，你找谁？</a:t>
                      </a:r>
                      <a:br>
                        <a:rPr lang="en-US" altLang="zh-CN" sz="4000" i="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a:t>
                      </a:r>
                      <a:r>
                        <a:rPr lang="en-US" altLang="zh-CN"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   </a:t>
                      </a:r>
                      <a:r>
                        <a:rPr lang="zh-CN" altLang="en-US"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你好！我是崔浩的同学</a:t>
                      </a:r>
                      <a:r>
                        <a:rPr lang="zh-CN" altLang="en-US" sz="40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山田。崔浩在吗？</a:t>
                      </a:r>
                      <a:br>
                        <a:rPr lang="vi-VN" altLang="zh-CN" sz="40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6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王朋：他不在。现在他在朋友家吃晚饭。</a:t>
                      </a:r>
                      <a:br>
                        <a:rPr lang="vi-VN" altLang="zh-CN" sz="40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山田：他的手机号码是多少，你知道吗？</a:t>
                      </a:r>
                      <a:br>
                        <a:rPr lang="vi-VN" altLang="zh-CN" sz="4000" i="0" baseline="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6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王朋：知道，号码是：</a:t>
                      </a:r>
                      <a:r>
                        <a:rPr lang="en-US" altLang="zh-CN" sz="36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13261231948.</a:t>
                      </a:r>
                      <a:br>
                        <a:rPr kumimoji="0" lang="en-US" sz="24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zh-CN" altLang="en-US"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t>山田：谢谢你！</a:t>
                      </a:r>
                      <a:br>
                        <a:rPr lang="vi-VN" altLang="zh-CN" sz="3600" i="0" kern="1200" dirty="0">
                          <a:solidFill>
                            <a:srgbClr val="00B050"/>
                          </a:solidFill>
                          <a:latin typeface="Times New Roman" panose="02020603050405020304" pitchFamily="18" charset="0"/>
                          <a:ea typeface="KaiTi" panose="02010609060101010101" pitchFamily="49" charset="-122"/>
                          <a:cs typeface="Times New Roman" panose="02020603050405020304" pitchFamily="18" charset="0"/>
                        </a:rPr>
                      </a:br>
                      <a:r>
                        <a:rPr lang="zh-CN" altLang="en-US" sz="3600" i="0" kern="120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t>王朋：不用谢！</a:t>
                      </a:r>
                      <a:br>
                        <a:rPr lang="en-US" altLang="zh-CN" sz="3600" i="0" baseline="0" dirty="0">
                          <a:solidFill>
                            <a:schemeClr val="accent5">
                              <a:lumMod val="75000"/>
                            </a:schemeClr>
                          </a:solidFill>
                          <a:latin typeface="Times New Roman" panose="02020603050405020304" pitchFamily="18" charset="0"/>
                          <a:ea typeface="KaiTi" panose="02010609060101010101" pitchFamily="49" charset="-122"/>
                          <a:cs typeface="Times New Roman" panose="02020603050405020304" pitchFamily="18" charset="0"/>
                        </a:rPr>
                      </a:br>
                      <a:endParaRPr kumimoji="0" lang="en-US" sz="2000" b="0" i="1" u="none" strike="noStrike" kern="1200" cap="none" spc="0" normalizeH="0" baseline="0" dirty="0">
                        <a:ln>
                          <a:noFill/>
                        </a:ln>
                        <a:solidFill>
                          <a:schemeClr val="accent5">
                            <a:lumMod val="75000"/>
                          </a:schemeClr>
                        </a:solidFill>
                        <a:effectLst/>
                        <a:uLnTx/>
                        <a:uFillTx/>
                        <a:latin typeface="Times New Roman" panose="02020603050405020304" pitchFamily="18" charset="0"/>
                        <a:ea typeface="+mn-ea"/>
                        <a:cs typeface="Times New Roman" panose="02020603050405020304" pitchFamily="18" charset="0"/>
                      </a:endParaRPr>
                    </a:p>
                  </a:txBody>
                  <a:tcPr>
                    <a:solidFill>
                      <a:schemeClr val="bg1"/>
                    </a:solidFill>
                  </a:tcPr>
                </a:tc>
                <a:extLst>
                  <a:ext uri="{0D108BD9-81ED-4DB2-BD59-A6C34878D82A}">
                    <a16:rowId xmlns:a16="http://schemas.microsoft.com/office/drawing/2014/main" val="1001144329"/>
                  </a:ext>
                </a:extLst>
              </a:tr>
            </a:tbl>
          </a:graphicData>
        </a:graphic>
      </p:graphicFrame>
    </p:spTree>
    <p:extLst>
      <p:ext uri="{BB962C8B-B14F-4D97-AF65-F5344CB8AC3E}">
        <p14:creationId xmlns:p14="http://schemas.microsoft.com/office/powerpoint/2010/main" val="17216037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62433865"/>
              </p:ext>
            </p:extLst>
          </p:nvPr>
        </p:nvGraphicFramePr>
        <p:xfrm>
          <a:off x="239238" y="445830"/>
          <a:ext cx="5856762" cy="6092870"/>
        </p:xfrm>
        <a:graphic>
          <a:graphicData uri="http://schemas.openxmlformats.org/drawingml/2006/table">
            <a:tbl>
              <a:tblPr firstRow="1">
                <a:tableStyleId>{5C22544A-7EE6-4342-B048-85BDC9FD1C3A}</a:tableStyleId>
              </a:tblPr>
              <a:tblGrid>
                <a:gridCol w="766304">
                  <a:extLst>
                    <a:ext uri="{9D8B030D-6E8A-4147-A177-3AD203B41FA5}">
                      <a16:colId xmlns:a16="http://schemas.microsoft.com/office/drawing/2014/main" val="2897192029"/>
                    </a:ext>
                  </a:extLst>
                </a:gridCol>
                <a:gridCol w="1385511">
                  <a:extLst>
                    <a:ext uri="{9D8B030D-6E8A-4147-A177-3AD203B41FA5}">
                      <a16:colId xmlns:a16="http://schemas.microsoft.com/office/drawing/2014/main" val="2090168382"/>
                    </a:ext>
                  </a:extLst>
                </a:gridCol>
                <a:gridCol w="1356418">
                  <a:extLst>
                    <a:ext uri="{9D8B030D-6E8A-4147-A177-3AD203B41FA5}">
                      <a16:colId xmlns:a16="http://schemas.microsoft.com/office/drawing/2014/main" val="964787021"/>
                    </a:ext>
                  </a:extLst>
                </a:gridCol>
                <a:gridCol w="748329">
                  <a:extLst>
                    <a:ext uri="{9D8B030D-6E8A-4147-A177-3AD203B41FA5}">
                      <a16:colId xmlns:a16="http://schemas.microsoft.com/office/drawing/2014/main" val="934390766"/>
                    </a:ext>
                  </a:extLst>
                </a:gridCol>
                <a:gridCol w="1600200">
                  <a:extLst>
                    <a:ext uri="{9D8B030D-6E8A-4147-A177-3AD203B41FA5}">
                      <a16:colId xmlns:a16="http://schemas.microsoft.com/office/drawing/2014/main" val="1958298950"/>
                    </a:ext>
                  </a:extLst>
                </a:gridCol>
              </a:tblGrid>
              <a:tr h="794034">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干</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1800" b="0" i="1" kern="1200">
                          <a:solidFill>
                            <a:schemeClr val="dk1"/>
                          </a:solidFill>
                          <a:effectLst/>
                          <a:latin typeface="Times New Roman" panose="02020603050405020304" pitchFamily="18" charset="0"/>
                          <a:ea typeface="+mn-ea"/>
                          <a:cs typeface="Times New Roman" panose="02020603050405020304" pitchFamily="18" charset="0"/>
                        </a:rPr>
                        <a:t>g</a:t>
                      </a:r>
                      <a:r>
                        <a:rPr lang="en-US" sz="1800" b="0" i="1" kern="1200">
                          <a:solidFill>
                            <a:schemeClr val="dk1"/>
                          </a:solidFill>
                          <a:effectLst/>
                          <a:latin typeface="Times New Roman" panose="02020603050405020304" pitchFamily="18" charset="0"/>
                          <a:ea typeface="+mn-ea"/>
                          <a:cs typeface="Times New Roman" panose="02020603050405020304" pitchFamily="18" charset="0"/>
                        </a:rPr>
                        <a:t>àn</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动</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0" kern="1200">
                          <a:solidFill>
                            <a:schemeClr val="dk1"/>
                          </a:solidFill>
                          <a:effectLst/>
                          <a:latin typeface="Times New Roman" panose="02020603050405020304" pitchFamily="18" charset="0"/>
                          <a:ea typeface="+mn-ea"/>
                          <a:cs typeface="Times New Roman" panose="02020603050405020304" pitchFamily="18" charset="0"/>
                        </a:rPr>
                        <a:t>Làm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宿舍</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sùshè </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名</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Kí</a:t>
                      </a:r>
                      <a:r>
                        <a:rPr lang="en-US" baseline="0">
                          <a:latin typeface="Times New Roman" panose="02020603050405020304" pitchFamily="18" charset="0"/>
                          <a:cs typeface="Times New Roman" panose="02020603050405020304" pitchFamily="18" charset="0"/>
                        </a:rPr>
                        <a:t> túc xá</a:t>
                      </a:r>
                      <a:endParaRPr lang="en-US">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huà</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动</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Vẽ</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画儿</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huàr</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名</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Bức tranh</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701858">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喜欢</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xǐhu</a:t>
                      </a:r>
                      <a:r>
                        <a:rPr lang="vi-VN" sz="1800" b="0" i="1" kern="1200">
                          <a:solidFill>
                            <a:schemeClr val="dk1"/>
                          </a:solidFill>
                          <a:effectLst/>
                          <a:latin typeface="Times New Roman" panose="02020603050405020304" pitchFamily="18" charset="0"/>
                          <a:ea typeface="+mn-ea"/>
                          <a:cs typeface="Times New Roman" panose="02020603050405020304" pitchFamily="18" charset="0"/>
                        </a:rPr>
                        <a:t>a</a:t>
                      </a:r>
                      <a:r>
                        <a:rPr lang="en-US" sz="1800" b="0" i="1" kern="1200">
                          <a:solidFill>
                            <a:schemeClr val="dk1"/>
                          </a:solidFill>
                          <a:effectLst/>
                          <a:latin typeface="Times New Roman" panose="02020603050405020304" pitchFamily="18" charset="0"/>
                          <a:ea typeface="+mn-ea"/>
                          <a:cs typeface="Times New Roman" panose="02020603050405020304" pitchFamily="18" charset="0"/>
                        </a:rPr>
                        <a:t>n </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动</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Thích, yêu</a:t>
                      </a:r>
                      <a:r>
                        <a:rPr lang="en-US" baseline="0">
                          <a:latin typeface="Times New Roman" panose="02020603050405020304" pitchFamily="18" charset="0"/>
                          <a:cs typeface="Times New Roman" panose="02020603050405020304" pitchFamily="18" charset="0"/>
                        </a:rPr>
                        <a:t> thích</a:t>
                      </a:r>
                      <a:endParaRPr lang="en-US">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中国画</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Zhōngguóhuà </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名</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Tranh thủy</a:t>
                      </a:r>
                      <a:r>
                        <a:rPr lang="en-US" baseline="0">
                          <a:latin typeface="Times New Roman" panose="02020603050405020304" pitchFamily="18" charset="0"/>
                          <a:cs typeface="Times New Roman" panose="02020603050405020304" pitchFamily="18" charset="0"/>
                        </a:rPr>
                        <a:t> mặcTrung Quốc</a:t>
                      </a:r>
                      <a:endParaRPr lang="en-US">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一般</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1800" b="0" i="1" kern="1200">
                          <a:solidFill>
                            <a:schemeClr val="dk1"/>
                          </a:solidFill>
                          <a:effectLst/>
                          <a:latin typeface="Times New Roman" panose="02020603050405020304" pitchFamily="18" charset="0"/>
                          <a:ea typeface="+mn-ea"/>
                          <a:cs typeface="Times New Roman" panose="02020603050405020304" pitchFamily="18" charset="0"/>
                        </a:rPr>
                        <a:t>yìbān</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形</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Bình</a:t>
                      </a:r>
                      <a:r>
                        <a:rPr lang="en-US" baseline="0">
                          <a:latin typeface="Times New Roman" panose="02020603050405020304" pitchFamily="18" charset="0"/>
                          <a:cs typeface="Times New Roman" panose="02020603050405020304" pitchFamily="18" charset="0"/>
                        </a:rPr>
                        <a:t> thường, thông thường</a:t>
                      </a:r>
                      <a:endParaRPr lang="en-US">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r h="608514">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听</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1800" b="0" i="1" kern="1200">
                          <a:solidFill>
                            <a:schemeClr val="dk1"/>
                          </a:solidFill>
                          <a:effectLst/>
                          <a:latin typeface="Times New Roman" panose="02020603050405020304" pitchFamily="18" charset="0"/>
                          <a:ea typeface="+mn-ea"/>
                          <a:cs typeface="Times New Roman" panose="02020603050405020304" pitchFamily="18" charset="0"/>
                        </a:rPr>
                        <a:t>tīng </a:t>
                      </a:r>
                      <a:endParaRPr lang="en-US"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a:latin typeface="宋体" panose="02010600030101010101" pitchFamily="2" charset="-122"/>
                          <a:ea typeface="宋体" panose="02010600030101010101" pitchFamily="2" charset="-122"/>
                        </a:rPr>
                        <a:t>动</a:t>
                      </a:r>
                      <a:endParaRPr lang="en-US">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atin typeface="Times New Roman" panose="02020603050405020304" pitchFamily="18" charset="0"/>
                          <a:cs typeface="Times New Roman" panose="02020603050405020304" pitchFamily="18" charset="0"/>
                        </a:rPr>
                        <a:t>nghe</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29677859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129797560"/>
              </p:ext>
            </p:extLst>
          </p:nvPr>
        </p:nvGraphicFramePr>
        <p:xfrm>
          <a:off x="6245817" y="445829"/>
          <a:ext cx="5827363" cy="4168123"/>
        </p:xfrm>
        <a:graphic>
          <a:graphicData uri="http://schemas.openxmlformats.org/drawingml/2006/table">
            <a:tbl>
              <a:tblPr firstRow="1">
                <a:tableStyleId>{5C22544A-7EE6-4342-B048-85BDC9FD1C3A}</a:tableStyleId>
              </a:tblPr>
              <a:tblGrid>
                <a:gridCol w="759417">
                  <a:extLst>
                    <a:ext uri="{9D8B030D-6E8A-4147-A177-3AD203B41FA5}">
                      <a16:colId xmlns:a16="http://schemas.microsoft.com/office/drawing/2014/main" val="2897192029"/>
                    </a:ext>
                  </a:extLst>
                </a:gridCol>
                <a:gridCol w="1262341">
                  <a:extLst>
                    <a:ext uri="{9D8B030D-6E8A-4147-A177-3AD203B41FA5}">
                      <a16:colId xmlns:a16="http://schemas.microsoft.com/office/drawing/2014/main" val="2090168382"/>
                    </a:ext>
                  </a:extLst>
                </a:gridCol>
                <a:gridCol w="1377425">
                  <a:extLst>
                    <a:ext uri="{9D8B030D-6E8A-4147-A177-3AD203B41FA5}">
                      <a16:colId xmlns:a16="http://schemas.microsoft.com/office/drawing/2014/main" val="964787021"/>
                    </a:ext>
                  </a:extLst>
                </a:gridCol>
                <a:gridCol w="784812">
                  <a:extLst>
                    <a:ext uri="{9D8B030D-6E8A-4147-A177-3AD203B41FA5}">
                      <a16:colId xmlns:a16="http://schemas.microsoft.com/office/drawing/2014/main" val="934390766"/>
                    </a:ext>
                  </a:extLst>
                </a:gridCol>
                <a:gridCol w="1643368">
                  <a:extLst>
                    <a:ext uri="{9D8B030D-6E8A-4147-A177-3AD203B41FA5}">
                      <a16:colId xmlns:a16="http://schemas.microsoft.com/office/drawing/2014/main" val="1958298950"/>
                    </a:ext>
                  </a:extLst>
                </a:gridCol>
              </a:tblGrid>
              <a:tr h="1071394">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05547">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音乐</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b="0" i="1" kern="1200">
                          <a:solidFill>
                            <a:schemeClr val="dk1"/>
                          </a:solidFill>
                          <a:effectLst/>
                          <a:latin typeface="Times New Roman" panose="02020603050405020304" pitchFamily="18" charset="0"/>
                          <a:ea typeface="+mn-ea"/>
                          <a:cs typeface="Times New Roman" panose="02020603050405020304" pitchFamily="18" charset="0"/>
                        </a:rPr>
                        <a:t>yīnyuè</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1800" kern="1200">
                          <a:solidFill>
                            <a:schemeClr val="dk1"/>
                          </a:solidFill>
                          <a:latin typeface="宋体" panose="02010600030101010101" pitchFamily="2" charset="-122"/>
                          <a:ea typeface="宋体" panose="02010600030101010101" pitchFamily="2" charset="-122"/>
                          <a:cs typeface="+mn-cs"/>
                        </a:rPr>
                        <a:t>名</a:t>
                      </a:r>
                      <a:endParaRPr lang="en-US" sz="18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kern="1200">
                          <a:solidFill>
                            <a:schemeClr val="dk1"/>
                          </a:solidFill>
                          <a:latin typeface="Times New Roman" panose="02020603050405020304" pitchFamily="18" charset="0"/>
                          <a:ea typeface="+mn-ea"/>
                          <a:cs typeface="Times New Roman" panose="02020603050405020304" pitchFamily="18" charset="0"/>
                        </a:rPr>
                        <a:t>Âm nhạc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605547">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东西</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b="0" i="1" kern="1200">
                          <a:solidFill>
                            <a:schemeClr val="dk1"/>
                          </a:solidFill>
                          <a:effectLst/>
                          <a:latin typeface="Times New Roman" panose="02020603050405020304" pitchFamily="18" charset="0"/>
                          <a:ea typeface="+mn-ea"/>
                          <a:cs typeface="Times New Roman" panose="02020603050405020304" pitchFamily="18" charset="0"/>
                        </a:rPr>
                        <a:t>dōngx</a:t>
                      </a:r>
                      <a:r>
                        <a:rPr lang="vi-VN" sz="1800" b="0" i="1" kern="1200">
                          <a:solidFill>
                            <a:schemeClr val="dk1"/>
                          </a:solidFill>
                          <a:effectLst/>
                          <a:latin typeface="Times New Roman" panose="02020603050405020304" pitchFamily="18" charset="0"/>
                          <a:ea typeface="+mn-ea"/>
                          <a:cs typeface="Times New Roman" panose="02020603050405020304" pitchFamily="18" charset="0"/>
                        </a:rPr>
                        <a:t>i</a:t>
                      </a:r>
                      <a:endParaRPr lang="en-US" sz="1800" b="0" i="1" kern="1200">
                        <a:solidFill>
                          <a:schemeClr val="dk1"/>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1800" kern="1200">
                          <a:solidFill>
                            <a:schemeClr val="dk1"/>
                          </a:solidFill>
                          <a:latin typeface="宋体" panose="02010600030101010101" pitchFamily="2" charset="-122"/>
                          <a:ea typeface="宋体" panose="02010600030101010101" pitchFamily="2" charset="-122"/>
                          <a:cs typeface="+mn-cs"/>
                        </a:rPr>
                        <a:t>名</a:t>
                      </a:r>
                      <a:endParaRPr lang="en-US" sz="18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kern="1200">
                          <a:solidFill>
                            <a:schemeClr val="dk1"/>
                          </a:solidFill>
                          <a:latin typeface="Times New Roman" panose="02020603050405020304" pitchFamily="18" charset="0"/>
                          <a:ea typeface="+mn-ea"/>
                          <a:cs typeface="Times New Roman" panose="02020603050405020304" pitchFamily="18" charset="0"/>
                        </a:rPr>
                        <a:t>Đồ, đồ vật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61815694"/>
                  </a:ext>
                </a:extLst>
              </a:tr>
              <a:tr h="605547">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一块儿</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i="1" kern="1200">
                          <a:solidFill>
                            <a:schemeClr val="dk1"/>
                          </a:solidFill>
                          <a:effectLst/>
                          <a:latin typeface="Times New Roman" panose="02020603050405020304" pitchFamily="18" charset="0"/>
                          <a:ea typeface="+mn-ea"/>
                          <a:cs typeface="Times New Roman" panose="02020603050405020304" pitchFamily="18" charset="0"/>
                        </a:rPr>
                        <a:t>yík</a:t>
                      </a:r>
                      <a:r>
                        <a:rPr lang="en-US" sz="1800" b="0" i="1" kern="1200">
                          <a:solidFill>
                            <a:schemeClr val="dk1"/>
                          </a:solidFill>
                          <a:effectLst/>
                          <a:latin typeface="Times New Roman" panose="02020603050405020304" pitchFamily="18" charset="0"/>
                          <a:ea typeface="+mn-ea"/>
                          <a:cs typeface="Times New Roman" panose="02020603050405020304" pitchFamily="18" charset="0"/>
                        </a:rPr>
                        <a:t>uài</a:t>
                      </a:r>
                      <a:r>
                        <a:rPr lang="en-US" altLang="zh-CN" sz="1800" b="0" i="1" kern="1200">
                          <a:solidFill>
                            <a:schemeClr val="dk1"/>
                          </a:solidFill>
                          <a:effectLst/>
                          <a:latin typeface="Times New Roman" panose="02020603050405020304" pitchFamily="18" charset="0"/>
                          <a:ea typeface="+mn-ea"/>
                          <a:cs typeface="Times New Roman" panose="02020603050405020304" pitchFamily="18" charset="0"/>
                        </a:rPr>
                        <a:t>r</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1800" kern="1200">
                          <a:solidFill>
                            <a:schemeClr val="dk1"/>
                          </a:solidFill>
                          <a:latin typeface="宋体" panose="02010600030101010101" pitchFamily="2" charset="-122"/>
                          <a:ea typeface="宋体" panose="02010600030101010101" pitchFamily="2" charset="-122"/>
                          <a:cs typeface="+mn-cs"/>
                        </a:rPr>
                        <a:t>副</a:t>
                      </a:r>
                      <a:endParaRPr lang="en-US" sz="18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kern="1200">
                          <a:solidFill>
                            <a:schemeClr val="dk1"/>
                          </a:solidFill>
                          <a:latin typeface="Times New Roman" panose="02020603050405020304" pitchFamily="18" charset="0"/>
                          <a:ea typeface="+mn-ea"/>
                          <a:cs typeface="Times New Roman" panose="02020603050405020304" pitchFamily="18" charset="0"/>
                        </a:rPr>
                        <a:t>Cùng nhau</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043244981"/>
                  </a:ext>
                </a:extLst>
              </a:tr>
              <a:tr h="619890">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收拾</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b="0" i="1" kern="1200">
                          <a:solidFill>
                            <a:schemeClr val="dk1"/>
                          </a:solidFill>
                          <a:effectLst/>
                          <a:latin typeface="Times New Roman" panose="02020603050405020304" pitchFamily="18" charset="0"/>
                          <a:ea typeface="+mn-ea"/>
                          <a:cs typeface="Times New Roman" panose="02020603050405020304" pitchFamily="18" charset="0"/>
                        </a:rPr>
                        <a:t>shōush</a:t>
                      </a:r>
                      <a:r>
                        <a:rPr lang="vi-VN" sz="1800" b="0" i="1" kern="1200">
                          <a:solidFill>
                            <a:schemeClr val="dk1"/>
                          </a:solidFill>
                          <a:effectLst/>
                          <a:latin typeface="Times New Roman" panose="02020603050405020304" pitchFamily="18" charset="0"/>
                          <a:ea typeface="+mn-ea"/>
                          <a:cs typeface="Times New Roman" panose="02020603050405020304" pitchFamily="18" charset="0"/>
                        </a:rPr>
                        <a:t>i</a:t>
                      </a:r>
                      <a:endParaRPr lang="en-US" sz="1800" b="0" i="1" kern="1200">
                        <a:solidFill>
                          <a:schemeClr val="dk1"/>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1800" kern="1200">
                          <a:solidFill>
                            <a:schemeClr val="dk1"/>
                          </a:solidFill>
                          <a:latin typeface="宋体" panose="02010600030101010101" pitchFamily="2" charset="-122"/>
                          <a:ea typeface="宋体" panose="02010600030101010101" pitchFamily="2" charset="-122"/>
                          <a:cs typeface="+mn-cs"/>
                        </a:rPr>
                        <a:t>动</a:t>
                      </a:r>
                      <a:endParaRPr lang="en-US" sz="18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kern="1200">
                          <a:solidFill>
                            <a:schemeClr val="dk1"/>
                          </a:solidFill>
                          <a:latin typeface="Times New Roman" panose="02020603050405020304" pitchFamily="18" charset="0"/>
                          <a:ea typeface="+mn-ea"/>
                          <a:cs typeface="Times New Roman" panose="02020603050405020304" pitchFamily="18" charset="0"/>
                        </a:rPr>
                        <a:t>Dọn dẹp, </a:t>
                      </a:r>
                      <a:br>
                        <a:rPr lang="en-US" sz="1800" kern="1200">
                          <a:solidFill>
                            <a:schemeClr val="dk1"/>
                          </a:solidFill>
                          <a:latin typeface="Times New Roman" panose="02020603050405020304" pitchFamily="18" charset="0"/>
                          <a:ea typeface="+mn-ea"/>
                          <a:cs typeface="Times New Roman" panose="02020603050405020304" pitchFamily="18" charset="0"/>
                        </a:rPr>
                      </a:br>
                      <a:r>
                        <a:rPr lang="en-US" sz="1800" kern="1200">
                          <a:solidFill>
                            <a:schemeClr val="dk1"/>
                          </a:solidFill>
                          <a:latin typeface="Times New Roman" panose="02020603050405020304" pitchFamily="18" charset="0"/>
                          <a:ea typeface="+mn-ea"/>
                          <a:cs typeface="Times New Roman" panose="02020603050405020304" pitchFamily="18" charset="0"/>
                        </a:rPr>
                        <a:t>thu gọn</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605547">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房间</a:t>
                      </a:r>
                      <a:endParaRPr lang="en-US" sz="1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i="1" kern="1200">
                          <a:solidFill>
                            <a:schemeClr val="dk1"/>
                          </a:solidFill>
                          <a:effectLst/>
                          <a:latin typeface="Times New Roman" panose="02020603050405020304" pitchFamily="18" charset="0"/>
                          <a:ea typeface="+mn-ea"/>
                          <a:cs typeface="Times New Roman" panose="02020603050405020304" pitchFamily="18" charset="0"/>
                        </a:rPr>
                        <a:t>fángjiān</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1800" kern="1200">
                          <a:solidFill>
                            <a:schemeClr val="dk1"/>
                          </a:solidFill>
                          <a:latin typeface="宋体" panose="02010600030101010101" pitchFamily="2" charset="-122"/>
                          <a:ea typeface="宋体" panose="02010600030101010101" pitchFamily="2" charset="-122"/>
                          <a:cs typeface="+mn-cs"/>
                        </a:rPr>
                        <a:t>名</a:t>
                      </a:r>
                      <a:endParaRPr lang="en-US" sz="18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1800" kern="1200">
                          <a:solidFill>
                            <a:schemeClr val="dk1"/>
                          </a:solidFill>
                          <a:latin typeface="Times New Roman" panose="02020603050405020304" pitchFamily="18" charset="0"/>
                          <a:ea typeface="+mn-ea"/>
                          <a:cs typeface="Times New Roman" panose="02020603050405020304" pitchFamily="18" charset="0"/>
                        </a:rPr>
                        <a:t>Phòng, căn phòng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597462639"/>
                  </a:ext>
                </a:extLst>
              </a:tr>
            </a:tbl>
          </a:graphicData>
        </a:graphic>
      </p:graphicFrame>
      <p:sp>
        <p:nvSpPr>
          <p:cNvPr id="7" name="Title 1"/>
          <p:cNvSpPr txBox="1">
            <a:spLocks/>
          </p:cNvSpPr>
          <p:nvPr/>
        </p:nvSpPr>
        <p:spPr>
          <a:xfrm>
            <a:off x="864813" y="52251"/>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文三 </a:t>
            </a:r>
            <a:r>
              <a:rPr lang="en-US" altLang="zh-CN" sz="2000" b="1">
                <a:solidFill>
                  <a:srgbClr val="FF0000"/>
                </a:solidFill>
                <a:latin typeface="KaiTi" panose="02010609060101010101" pitchFamily="49" charset="-122"/>
                <a:ea typeface="KaiTi" panose="02010609060101010101" pitchFamily="49" charset="-122"/>
              </a:rPr>
              <a:t>Bài khóa 3</a:t>
            </a:r>
            <a:endParaRPr lang="en-US" sz="200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8496627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78859272"/>
              </p:ext>
            </p:extLst>
          </p:nvPr>
        </p:nvGraphicFramePr>
        <p:xfrm>
          <a:off x="239237" y="207821"/>
          <a:ext cx="11564835" cy="1460548"/>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干</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g</a:t>
                      </a:r>
                      <a:r>
                        <a:rPr lang="en-US" sz="3200" b="0" i="1" kern="1200">
                          <a:solidFill>
                            <a:schemeClr val="dk1"/>
                          </a:solidFill>
                          <a:effectLst/>
                          <a:latin typeface="Times New Roman" panose="02020603050405020304" pitchFamily="18" charset="0"/>
                          <a:ea typeface="+mn-ea"/>
                          <a:cs typeface="Times New Roman" panose="02020603050405020304" pitchFamily="18" charset="0"/>
                        </a:rPr>
                        <a:t>àn</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动</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0" kern="1200">
                          <a:solidFill>
                            <a:schemeClr val="dk1"/>
                          </a:solidFill>
                          <a:effectLst/>
                          <a:latin typeface="Times New Roman" panose="02020603050405020304" pitchFamily="18" charset="0"/>
                          <a:ea typeface="+mn-ea"/>
                          <a:cs typeface="Times New Roman" panose="02020603050405020304" pitchFamily="18" charset="0"/>
                        </a:rPr>
                        <a:t>Làm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bl>
          </a:graphicData>
        </a:graphic>
      </p:graphicFrame>
      <p:pic>
        <p:nvPicPr>
          <p:cNvPr id="5122" name="Picture 2" descr="干的笔顺动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31" y="2003569"/>
            <a:ext cx="2850861" cy="2850861"/>
          </a:xfrm>
          <a:prstGeom prst="rect">
            <a:avLst/>
          </a:prstGeom>
          <a:noFill/>
          <a:extLst>
            <a:ext uri="{909E8E84-426E-40DD-AFC4-6F175D3DCCD1}">
              <a14:hiddenFill xmlns:a14="http://schemas.microsoft.com/office/drawing/2010/main">
                <a:solidFill>
                  <a:srgbClr val="FFFFFF"/>
                </a:solidFill>
              </a14:hiddenFill>
            </a:ext>
          </a:extLst>
        </p:spPr>
      </p:pic>
      <p:sp>
        <p:nvSpPr>
          <p:cNvPr id="5123" name="Chiết tự 5123"/>
          <p:cNvSpPr txBox="1"/>
          <p:nvPr/>
        </p:nvSpPr>
        <p:spPr>
          <a:xfrm>
            <a:off x="3400000" y="1788369"/>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干 = </a:t>
            </a:r>
            <a:r>
              <a:rPr lang="zh-CN" sz="3600" dirty="0">
                <a:latin typeface="KaiTi" panose="02010609060101010101" pitchFamily="49" charset="-122"/>
                <a:ea typeface="KaiTi" panose="02010609060101010101" pitchFamily="49" charset="-122"/>
              </a:rPr>
              <a:t>一</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十</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一 + 十</a:t>
            </a:r>
          </a:p>
        </p:txBody>
      </p:sp>
      <p:sp>
        <p:nvSpPr>
          <p:cNvPr id="5124" name="Nhớ lại 5124"/>
          <p:cNvSpPr txBox="1"/>
          <p:nvPr/>
        </p:nvSpPr>
        <p:spPr>
          <a:xfrm>
            <a:off x="3400000" y="3468369"/>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千</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qiān</a:t>
            </a:r>
            <a:r>
              <a:rPr lang="vi-VN" sz="2400" dirty="0">
                <a:latin typeface="Times New Roman" panose="02020603050405020304" pitchFamily="18" charset="0"/>
                <a:ea typeface="KaiTi" panose="02010609060101010101" pitchFamily="49" charset="-122"/>
                <a:cs typeface="Times New Roman" panose="02020603050405020304" pitchFamily="18" charset="0"/>
              </a:rPr>
              <a:t> – nghìn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千 và 干 chỉ khác nét phẩy</a:t>
            </a:r>
          </a:p>
          <a:p>
            <a:pPr>
              <a:spcBef>
                <a:spcPts val="200"/>
              </a:spcBef>
            </a:pPr>
            <a:r>
              <a:rPr lang="zh-CN" sz="2800" dirty="0">
                <a:solidFill>
                  <a:srgbClr val="C00000"/>
                </a:solidFill>
                <a:latin typeface="KaiTi" panose="02010609060101010101" pitchFamily="49" charset="-122"/>
                <a:ea typeface="KaiTi" panose="02010609060101010101" pitchFamily="49" charset="-122"/>
              </a:rPr>
              <a:t>做</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zuò</a:t>
            </a:r>
            <a:r>
              <a:rPr lang="vi-VN" sz="2400" dirty="0">
                <a:latin typeface="Times New Roman" panose="02020603050405020304" pitchFamily="18" charset="0"/>
                <a:ea typeface="KaiTi" panose="02010609060101010101" pitchFamily="49" charset="-122"/>
                <a:cs typeface="Times New Roman" panose="02020603050405020304" pitchFamily="18" charset="0"/>
              </a:rPr>
              <a:t> – làm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干 = 做 (khẩu ngữ)</a:t>
            </a:r>
          </a:p>
        </p:txBody>
      </p:sp>
      <p:sp>
        <p:nvSpPr>
          <p:cNvPr id="5125" name="Ví dụ thêm 5125"/>
          <p:cNvSpPr txBox="1"/>
          <p:nvPr/>
        </p:nvSpPr>
        <p:spPr>
          <a:xfrm>
            <a:off x="7900000" y="1788369"/>
            <a:ext cx="39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你周末干什么？</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zhōumò gàn shénme?</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Cuối tuần bạn làm gì?</a:t>
            </a:r>
          </a:p>
        </p:txBody>
      </p:sp>
    </p:spTree>
    <p:extLst>
      <p:ext uri="{BB962C8B-B14F-4D97-AF65-F5344CB8AC3E}">
        <p14:creationId xmlns:p14="http://schemas.microsoft.com/office/powerpoint/2010/main" val="36539465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dissolve">
                                      <p:cBhvr>
                                        <p:cTn id="7" dur="500"/>
                                        <p:tgtEl>
                                          <p:spTgt spid="5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25"/>
                                        </p:tgtEl>
                                        <p:attrNameLst>
                                          <p:attrName>style.visibility</p:attrName>
                                        </p:attrNameLst>
                                      </p:cBhvr>
                                      <p:to>
                                        <p:strVal val="visible"/>
                                      </p:to>
                                    </p:set>
                                    <p:animEffect transition="in" filter="wipe(left)">
                                      <p:cBhvr>
                                        <p:cTn id="12" dur="500"/>
                                        <p:tgtEl>
                                          <p:spTgt spid="51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4"/>
                                        </p:tgtEl>
                                        <p:attrNameLst>
                                          <p:attrName>style.visibility</p:attrName>
                                        </p:attrNameLst>
                                      </p:cBhvr>
                                      <p:to>
                                        <p:strVal val="visible"/>
                                      </p:to>
                                    </p:set>
                                    <p:animEffect transition="in" filter="wipe(left)">
                                      <p:cBhvr>
                                        <p:cTn id="17"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7B4A9-C0D8-EC43-2E14-DC64973C2A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6F0712-1D6D-D984-BCF1-35ED4954B9A9}"/>
              </a:ext>
            </a:extLst>
          </p:cNvPr>
          <p:cNvSpPr txBox="1"/>
          <p:nvPr/>
        </p:nvSpPr>
        <p:spPr>
          <a:xfrm>
            <a:off x="3352217" y="393633"/>
            <a:ext cx="595035" cy="584775"/>
          </a:xfrm>
          <a:prstGeom prst="rect">
            <a:avLst/>
          </a:prstGeom>
          <a:solidFill>
            <a:schemeClr val="accent6">
              <a:lumMod val="20000"/>
              <a:lumOff val="80000"/>
            </a:schemeClr>
          </a:solidFill>
        </p:spPr>
        <p:txBody>
          <a:bodyPr wrap="none" rtlCol="0">
            <a:spAutoFit/>
          </a:bodyPr>
          <a:lstStyle/>
          <a:p>
            <a:r>
              <a:rPr lang="en-VN" sz="3200" dirty="0">
                <a:latin typeface="Times New Roman" panose="02020603050405020304" pitchFamily="18" charset="0"/>
                <a:ea typeface="KaiTi" panose="02010609060101010101" pitchFamily="49" charset="-122"/>
                <a:cs typeface="Times New Roman" panose="02020603050405020304" pitchFamily="18" charset="0"/>
              </a:rPr>
              <a:t>干</a:t>
            </a:r>
            <a:endParaRPr lang="en-VN" i="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TextBox 4">
            <a:extLst>
              <a:ext uri="{FF2B5EF4-FFF2-40B4-BE49-F238E27FC236}">
                <a16:creationId xmlns:a16="http://schemas.microsoft.com/office/drawing/2014/main" id="{3D7CE8C3-5518-5FCA-5705-2DADECAD1E56}"/>
              </a:ext>
            </a:extLst>
          </p:cNvPr>
          <p:cNvSpPr txBox="1"/>
          <p:nvPr/>
        </p:nvSpPr>
        <p:spPr>
          <a:xfrm>
            <a:off x="8244750" y="395380"/>
            <a:ext cx="595035" cy="584775"/>
          </a:xfrm>
          <a:prstGeom prst="rect">
            <a:avLst/>
          </a:prstGeom>
          <a:solidFill>
            <a:schemeClr val="accent2">
              <a:lumMod val="20000"/>
              <a:lumOff val="80000"/>
            </a:schemeClr>
          </a:solidFill>
        </p:spPr>
        <p:txBody>
          <a:bodyPr wrap="none" rtlCol="0">
            <a:spAutoFit/>
          </a:bodyPr>
          <a:lstStyle/>
          <a:p>
            <a:pPr algn="ctr"/>
            <a:r>
              <a:rPr lang="en-VN" sz="3200" dirty="0">
                <a:latin typeface="Times New Roman" panose="02020603050405020304" pitchFamily="18" charset="0"/>
                <a:ea typeface="KaiTi" panose="02010609060101010101" pitchFamily="49" charset="-122"/>
                <a:cs typeface="Times New Roman" panose="02020603050405020304" pitchFamily="18" charset="0"/>
              </a:rPr>
              <a:t>做</a:t>
            </a:r>
            <a:endParaRPr lang="en-VN" i="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So sánh 干"/>
          <p:cNvSpPr txBox="1"/>
          <p:nvPr/>
        </p:nvSpPr>
        <p:spPr>
          <a:xfrm>
            <a:off x="600000" y="1500000"/>
            <a:ext cx="5300000" cy="3107665"/>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Khẩu ngữ, thân mật</a:t>
            </a:r>
          </a:p>
          <a:p>
            <a:pPr/>
            <a:r>
              <a:rPr lang="zh-CN" sz="2800" dirty="0">
                <a:solidFill>
                  <a:srgbClr val="00B050"/>
                </a:solidFill>
                <a:latin typeface="KaiTi" panose="02010609060101010101" pitchFamily="49" charset="-122"/>
                <a:ea typeface="KaiTi" panose="02010609060101010101" pitchFamily="49" charset="-122"/>
              </a:rPr>
              <a:t>你周末干什么？</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zhōumò gàn shénme?</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Cuối tuần bạn làm gì?</a:t>
            </a:r>
          </a:p>
          <a:p>
            <a:pPr>
              <a:spcBef>
                <a:spcPts val="600"/>
              </a:spcBef>
            </a:pPr>
            <a:r>
              <a:rPr lang="zh-CN" sz="2800" dirty="0">
                <a:solidFill>
                  <a:srgbClr val="00B050"/>
                </a:solidFill>
                <a:latin typeface="KaiTi" panose="02010609060101010101" pitchFamily="49" charset="-122"/>
                <a:ea typeface="KaiTi" panose="02010609060101010101" pitchFamily="49" charset="-122"/>
              </a:rPr>
              <a:t>你在这儿干什么？</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zài zhèr gàn shénme?</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Bạn làm gì ở đây?</a:t>
            </a:r>
          </a:p>
        </p:txBody>
      </p:sp>
      <p:sp>
        <p:nvSpPr>
          <p:cNvPr id="7" name="So sánh 做"/>
          <p:cNvSpPr txBox="1"/>
          <p:nvPr/>
        </p:nvSpPr>
        <p:spPr>
          <a:xfrm>
            <a:off x="6200000" y="1500000"/>
            <a:ext cx="5500000" cy="3107665"/>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Trung tính, dùng được cả nói và viết</a:t>
            </a:r>
          </a:p>
          <a:p>
            <a:pPr/>
            <a:r>
              <a:rPr lang="zh-CN" sz="2800" dirty="0">
                <a:solidFill>
                  <a:srgbClr val="00B050"/>
                </a:solidFill>
                <a:latin typeface="KaiTi" panose="02010609060101010101" pitchFamily="49" charset="-122"/>
                <a:ea typeface="KaiTi" panose="02010609060101010101" pitchFamily="49" charset="-122"/>
              </a:rPr>
              <a:t>你周末做什么？</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zhōumò zuò shénme?</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Cuối tuần bạn làm gì?</a:t>
            </a:r>
          </a:p>
          <a:p>
            <a:pPr>
              <a:spcBef>
                <a:spcPts val="600"/>
              </a:spcBef>
            </a:pPr>
            <a:r>
              <a:rPr lang="zh-CN" sz="2800" dirty="0">
                <a:solidFill>
                  <a:srgbClr val="00B050"/>
                </a:solidFill>
                <a:latin typeface="KaiTi" panose="02010609060101010101" pitchFamily="49" charset="-122"/>
                <a:ea typeface="KaiTi" panose="02010609060101010101" pitchFamily="49" charset="-122"/>
              </a:rPr>
              <a:t>你爸爸做什么工作？</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Nǐ bàba zuò shénme gōngzuò?</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Bố bạn làm nghề gì? (Bài 5)</a:t>
            </a:r>
          </a:p>
        </p:txBody>
      </p:sp>
      <p:sp>
        <p:nvSpPr>
          <p:cNvPr id="8" name="Nhớ lại"/>
          <p:cNvSpPr txBox="1"/>
          <p:nvPr/>
        </p:nvSpPr>
        <p:spPr>
          <a:xfrm>
            <a:off x="600000" y="4600000"/>
            <a:ext cx="11100000" cy="957137"/>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r>
              <a:rPr lang="zh-CN" sz="2800" dirty="0">
                <a:solidFill>
                  <a:srgbClr val="C00000"/>
                </a:solidFill>
                <a:latin typeface="KaiTi" panose="02010609060101010101" pitchFamily="49" charset="-122"/>
                <a:ea typeface="KaiTi" panose="02010609060101010101" pitchFamily="49" charset="-122"/>
              </a:rPr>
              <a:t>干什么</a:t>
            </a:r>
            <a:r>
              <a:rPr lang="vi-VN" sz="2400" dirty="0">
                <a:latin typeface="Times New Roman" panose="02020603050405020304" pitchFamily="18" charset="0"/>
                <a:ea typeface="KaiTi" panose="02010609060101010101" pitchFamily="49" charset="-122"/>
                <a:cs typeface="Times New Roman" panose="02020603050405020304" pitchFamily="18" charset="0"/>
              </a:rPr>
              <a:t>  ≈  </a:t>
            </a:r>
            <a:r>
              <a:rPr lang="zh-CN" sz="2800" dirty="0">
                <a:solidFill>
                  <a:srgbClr val="C00000"/>
                </a:solidFill>
                <a:latin typeface="KaiTi" panose="02010609060101010101" pitchFamily="49" charset="-122"/>
                <a:ea typeface="KaiTi" panose="02010609060101010101" pitchFamily="49" charset="-122"/>
              </a:rPr>
              <a:t>做什么</a:t>
            </a:r>
            <a:r>
              <a:rPr lang="vi-VN" sz="2400" dirty="0">
                <a:latin typeface="Times New Roman" panose="02020603050405020304" pitchFamily="18" charset="0"/>
                <a:ea typeface="KaiTi" panose="02010609060101010101" pitchFamily="49" charset="-122"/>
                <a:cs typeface="Times New Roman" panose="02020603050405020304" pitchFamily="18" charset="0"/>
              </a:rPr>
              <a:t> : cùng nghĩa "làm gì"; 做 đã học ở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p>
        </p:txBody>
      </p:sp>
    </p:spTree>
    <p:extLst>
      <p:ext uri="{BB962C8B-B14F-4D97-AF65-F5344CB8AC3E}">
        <p14:creationId xmlns:p14="http://schemas.microsoft.com/office/powerpoint/2010/main" val="17878413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31027994"/>
              </p:ext>
            </p:extLst>
          </p:nvPr>
        </p:nvGraphicFramePr>
        <p:xfrm>
          <a:off x="239237" y="207821"/>
          <a:ext cx="11564835" cy="1460548"/>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宿舍</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sùshè </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a:latin typeface="Times New Roman" panose="02020603050405020304" pitchFamily="18" charset="0"/>
                          <a:cs typeface="Times New Roman" panose="02020603050405020304" pitchFamily="18" charset="0"/>
                        </a:rPr>
                        <a:t>Kí</a:t>
                      </a:r>
                      <a:r>
                        <a:rPr lang="en-US" sz="3200" baseline="0">
                          <a:latin typeface="Times New Roman" panose="02020603050405020304" pitchFamily="18" charset="0"/>
                          <a:cs typeface="Times New Roman" panose="02020603050405020304" pitchFamily="18" charset="0"/>
                        </a:rPr>
                        <a:t> túc xá</a:t>
                      </a:r>
                      <a:endParaRPr lang="en-US" sz="320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bl>
          </a:graphicData>
        </a:graphic>
      </p:graphicFrame>
      <p:pic>
        <p:nvPicPr>
          <p:cNvPr id="6146" name="Picture 2" descr="宿的笔顺动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37" y="1968452"/>
            <a:ext cx="1587077" cy="158707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舍的笔顺动画"/>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090" y="4145596"/>
            <a:ext cx="1668224" cy="1668224"/>
          </a:xfrm>
          <a:prstGeom prst="rect">
            <a:avLst/>
          </a:prstGeom>
          <a:noFill/>
          <a:extLst>
            <a:ext uri="{909E8E84-426E-40DD-AFC4-6F175D3DCCD1}">
              <a14:hiddenFill xmlns:a14="http://schemas.microsoft.com/office/drawing/2010/main">
                <a:solidFill>
                  <a:srgbClr val="FFFFFF"/>
                </a:solidFill>
              </a14:hiddenFill>
            </a:ext>
          </a:extLst>
        </p:spPr>
      </p:pic>
      <p:sp>
        <p:nvSpPr>
          <p:cNvPr id="6149" name="Chiết tự 6149"/>
          <p:cNvSpPr txBox="1"/>
          <p:nvPr/>
        </p:nvSpPr>
        <p:spPr>
          <a:xfrm>
            <a:off x="2700000" y="1788369"/>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宿 = </a:t>
            </a:r>
            <a:r>
              <a:rPr lang="zh-CN" sz="3600" dirty="0">
                <a:solidFill>
                  <a:srgbClr val="C00000"/>
                </a:solidFill>
                <a:latin typeface="KaiTi" panose="02010609060101010101" pitchFamily="49" charset="-122"/>
                <a:ea typeface="KaiTi" panose="02010609060101010101" pitchFamily="49" charset="-122"/>
              </a:rPr>
              <a:t>宀</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亻</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百</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Miên 宀 (mái nhà) + 亻 + 百</a:t>
            </a:r>
          </a:p>
        </p:txBody>
      </p:sp>
      <p:sp>
        <p:nvSpPr>
          <p:cNvPr id="6150" name="Nhớ lại 6150"/>
          <p:cNvSpPr txBox="1"/>
          <p:nvPr/>
        </p:nvSpPr>
        <p:spPr>
          <a:xfrm>
            <a:off x="2700000" y="3468369"/>
            <a:ext cx="4700000" cy="2915848"/>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家</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jiā</a:t>
            </a:r>
            <a:r>
              <a:rPr lang="vi-VN" sz="2400" dirty="0">
                <a:latin typeface="Times New Roman" panose="02020603050405020304" pitchFamily="18" charset="0"/>
                <a:ea typeface="KaiTi" panose="02010609060101010101" pitchFamily="49" charset="-122"/>
                <a:cs typeface="Times New Roman" panose="02020603050405020304" pitchFamily="18" charset="0"/>
              </a:rPr>
              <a:t> – nhà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5)</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宀</a:t>
            </a:r>
          </a:p>
          <a:p>
            <a:pPr>
              <a:spcBef>
                <a:spcPts val="200"/>
              </a:spcBef>
            </a:pPr>
            <a:r>
              <a:rPr lang="zh-CN" sz="2800" dirty="0">
                <a:solidFill>
                  <a:srgbClr val="C00000"/>
                </a:solidFill>
                <a:latin typeface="KaiTi" panose="02010609060101010101" pitchFamily="49" charset="-122"/>
                <a:ea typeface="KaiTi" panose="02010609060101010101" pitchFamily="49" charset="-122"/>
              </a:rPr>
              <a:t>安排</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ānpái</a:t>
            </a:r>
            <a:r>
              <a:rPr lang="vi-VN" sz="2400" dirty="0">
                <a:latin typeface="Times New Roman" panose="02020603050405020304" pitchFamily="18" charset="0"/>
                <a:ea typeface="KaiTi" panose="02010609060101010101" pitchFamily="49" charset="-122"/>
                <a:cs typeface="Times New Roman" panose="02020603050405020304" pitchFamily="18" charset="0"/>
              </a:rPr>
              <a:t> – kế hoạch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宀</a:t>
            </a:r>
          </a:p>
          <a:p>
            <a:pPr>
              <a:spcBef>
                <a:spcPts val="200"/>
              </a:spcBef>
            </a:pPr>
            <a:r>
              <a:rPr lang="zh-CN" sz="2800" dirty="0">
                <a:solidFill>
                  <a:srgbClr val="C00000"/>
                </a:solidFill>
                <a:latin typeface="KaiTi" panose="02010609060101010101" pitchFamily="49" charset="-122"/>
                <a:ea typeface="KaiTi" panose="02010609060101010101" pitchFamily="49" charset="-122"/>
              </a:rPr>
              <a:t>百</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bǎi</a:t>
            </a:r>
            <a:r>
              <a:rPr lang="vi-VN" sz="2400" dirty="0">
                <a:latin typeface="Times New Roman" panose="02020603050405020304" pitchFamily="18" charset="0"/>
                <a:ea typeface="KaiTi" panose="02010609060101010101" pitchFamily="49" charset="-122"/>
                <a:cs typeface="Times New Roman" panose="02020603050405020304" pitchFamily="18" charset="0"/>
              </a:rPr>
              <a:t> – trăm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百</a:t>
            </a:r>
          </a:p>
        </p:txBody>
      </p:sp>
      <p:sp>
        <p:nvSpPr>
          <p:cNvPr id="6151" name="Ví dụ thêm 6151"/>
          <p:cNvSpPr txBox="1"/>
          <p:nvPr/>
        </p:nvSpPr>
        <p:spPr>
          <a:xfrm>
            <a:off x="7200000" y="1788369"/>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我的宿舍很大。</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de sùshè hěn dà.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Ký túc xá của tôi rất lớn.</a:t>
            </a:r>
          </a:p>
        </p:txBody>
      </p:sp>
    </p:spTree>
    <p:extLst>
      <p:ext uri="{BB962C8B-B14F-4D97-AF65-F5344CB8AC3E}">
        <p14:creationId xmlns:p14="http://schemas.microsoft.com/office/powerpoint/2010/main" val="20648125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dissolve">
                                      <p:cBhvr>
                                        <p:cTn id="7" dur="500"/>
                                        <p:tgtEl>
                                          <p:spTgt spid="61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1"/>
                                        </p:tgtEl>
                                        <p:attrNameLst>
                                          <p:attrName>style.visibility</p:attrName>
                                        </p:attrNameLst>
                                      </p:cBhvr>
                                      <p:to>
                                        <p:strVal val="visible"/>
                                      </p:to>
                                    </p:set>
                                    <p:animEffect transition="in" filter="wipe(left)">
                                      <p:cBhvr>
                                        <p:cTn id="12" dur="500"/>
                                        <p:tgtEl>
                                          <p:spTgt spid="61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0"/>
                                        </p:tgtEl>
                                        <p:attrNameLst>
                                          <p:attrName>style.visibility</p:attrName>
                                        </p:attrNameLst>
                                      </p:cBhvr>
                                      <p:to>
                                        <p:strVal val="visible"/>
                                      </p:to>
                                    </p:set>
                                    <p:animEffect transition="in" filter="wipe(left)">
                                      <p:cBhvr>
                                        <p:cTn id="17"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03988002"/>
              </p:ext>
            </p:extLst>
          </p:nvPr>
        </p:nvGraphicFramePr>
        <p:xfrm>
          <a:off x="239237" y="207821"/>
          <a:ext cx="11564835" cy="1460548"/>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huà</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动</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dirty="0" err="1">
                          <a:latin typeface="Times New Roman" panose="02020603050405020304" pitchFamily="18" charset="0"/>
                          <a:cs typeface="Times New Roman" panose="02020603050405020304" pitchFamily="18" charset="0"/>
                        </a:rPr>
                        <a:t>Vẽ</a:t>
                      </a:r>
                      <a:endParaRPr lang="en-US" sz="3200" dirty="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bl>
          </a:graphicData>
        </a:graphic>
      </p:graphicFrame>
      <p:pic>
        <p:nvPicPr>
          <p:cNvPr id="6" name="Picture 2" descr="画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9237" y="1841978"/>
            <a:ext cx="2188277" cy="2058856"/>
          </a:xfrm>
          <a:prstGeom prst="rect">
            <a:avLst/>
          </a:prstGeom>
          <a:noFill/>
          <a:extLst>
            <a:ext uri="{909E8E84-426E-40DD-AFC4-6F175D3DCCD1}">
              <a14:hiddenFill xmlns:a14="http://schemas.microsoft.com/office/drawing/2010/main">
                <a:solidFill>
                  <a:srgbClr val="FFFFFF"/>
                </a:solidFill>
              </a14:hiddenFill>
            </a:ext>
          </a:extLst>
        </p:spPr>
      </p:pic>
      <p:sp>
        <p:nvSpPr>
          <p:cNvPr id="7" name="Nhớ lại 7"/>
          <p:cNvSpPr txBox="1"/>
          <p:nvPr/>
        </p:nvSpPr>
        <p:spPr>
          <a:xfrm>
            <a:off x="2700000" y="1788369"/>
            <a:ext cx="4700000" cy="1474078"/>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学习</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xuéxí</a:t>
            </a:r>
            <a:r>
              <a:rPr lang="vi-VN" sz="2400" dirty="0">
                <a:latin typeface="Times New Roman" panose="02020603050405020304" pitchFamily="18" charset="0"/>
                <a:ea typeface="KaiTi" panose="02010609060101010101" pitchFamily="49" charset="-122"/>
                <a:cs typeface="Times New Roman" panose="02020603050405020304" pitchFamily="18" charset="0"/>
              </a:rPr>
              <a:t> – học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学习画画儿</a:t>
            </a:r>
          </a:p>
        </p:txBody>
      </p:sp>
      <p:sp>
        <p:nvSpPr>
          <p:cNvPr id="8" name="Ví dụ thêm 8"/>
          <p:cNvSpPr txBox="1"/>
          <p:nvPr/>
        </p:nvSpPr>
        <p:spPr>
          <a:xfrm>
            <a:off x="2700000" y="3348369"/>
            <a:ext cx="4400000" cy="2550360"/>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我在一个学校学习画画儿。</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zài yí ge xuéxiào xuéxí huà huàr.</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Tôi học vẽ tranh ở một trường.</a:t>
            </a:r>
          </a:p>
        </p:txBody>
      </p:sp>
    </p:spTree>
    <p:extLst>
      <p:ext uri="{BB962C8B-B14F-4D97-AF65-F5344CB8AC3E}">
        <p14:creationId xmlns:p14="http://schemas.microsoft.com/office/powerpoint/2010/main" val="20831800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6B4BE-198A-13FA-EDC6-0ADB21B9A9E8}"/>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1760D84-9F49-1F6D-74E1-E7A85C1ECDA5}"/>
              </a:ext>
            </a:extLst>
          </p:cNvPr>
          <p:cNvGraphicFramePr>
            <a:graphicFrameLocks noGrp="1"/>
          </p:cNvGraphicFramePr>
          <p:nvPr>
            <p:extLst>
              <p:ext uri="{D42A27DB-BD31-4B8C-83A1-F6EECF244321}">
                <p14:modId xmlns:p14="http://schemas.microsoft.com/office/powerpoint/2010/main" val="1871545883"/>
              </p:ext>
            </p:extLst>
          </p:nvPr>
        </p:nvGraphicFramePr>
        <p:xfrm>
          <a:off x="239237" y="207821"/>
          <a:ext cx="11564835" cy="1460548"/>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画儿</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huàr</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dirty="0" err="1">
                          <a:latin typeface="Times New Roman" panose="02020603050405020304" pitchFamily="18" charset="0"/>
                          <a:cs typeface="Times New Roman" panose="02020603050405020304" pitchFamily="18" charset="0"/>
                        </a:rPr>
                        <a:t>Bức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tranh</a:t>
                      </a:r>
                      <a:endParaRPr lang="en-US" sz="3200" dirty="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pic>
        <p:nvPicPr>
          <p:cNvPr id="7170" name="Picture 2" descr="画的笔顺">
            <a:extLst>
              <a:ext uri="{FF2B5EF4-FFF2-40B4-BE49-F238E27FC236}">
                <a16:creationId xmlns:a16="http://schemas.microsoft.com/office/drawing/2014/main" id="{1FE7115F-14F1-00D1-59F1-DEEA8D0B5BE3}"/>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2999" y="2010212"/>
            <a:ext cx="1897758" cy="189775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儿的笔顺">
            <a:extLst>
              <a:ext uri="{FF2B5EF4-FFF2-40B4-BE49-F238E27FC236}">
                <a16:creationId xmlns:a16="http://schemas.microsoft.com/office/drawing/2014/main" id="{94EBF31A-00B8-1C94-F9FD-8C38F0AF91F1}"/>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220757" y="2010212"/>
            <a:ext cx="1897758" cy="189775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FF4B1381-3EED-DBF0-BFFB-A9C01A56A3B2}"/>
              </a:ext>
            </a:extLst>
          </p:cNvPr>
          <p:cNvGraphicFramePr>
            <a:graphicFrameLocks noGrp="1"/>
          </p:cNvGraphicFramePr>
          <p:nvPr/>
        </p:nvGraphicFramePr>
        <p:xfrm>
          <a:off x="7467600" y="5676900"/>
          <a:ext cx="4286250" cy="876300"/>
        </p:xfrm>
        <a:graphic>
          <a:graphicData uri="http://schemas.openxmlformats.org/drawingml/2006/table">
            <a:tbl>
              <a:tblPr>
                <a:tableStyleId>{2D5ABB26-0587-4C30-8999-92F81FD0307C}</a:tableStyleId>
              </a:tblPr>
              <a:tblGrid>
                <a:gridCol w="4286250">
                  <a:extLst>
                    <a:ext uri="{9D8B030D-6E8A-4147-A177-3AD203B41FA5}">
                      <a16:colId xmlns:a16="http://schemas.microsoft.com/office/drawing/2014/main" val="1177179002"/>
                    </a:ext>
                  </a:extLst>
                </a:gridCol>
              </a:tblGrid>
              <a:tr h="876300">
                <a:tc>
                  <a:txBody>
                    <a:bodyPr/>
                    <a:lstStyle/>
                    <a:p>
                      <a:pPr marL="0" algn="ctr" defTabSz="914400" rtl="0" eaLnBrk="1" latinLnBrk="0" hangingPunct="1"/>
                      <a:r>
                        <a:rPr lang="zh-CN" altLang="en-US" sz="2800" kern="1200">
                          <a:solidFill>
                            <a:srgbClr val="00B050"/>
                          </a:solidFill>
                          <a:latin typeface="KaiTi" panose="02010609060101010101" pitchFamily="49" charset="-122"/>
                          <a:ea typeface="KaiTi" panose="02010609060101010101" pitchFamily="49" charset="-122"/>
                          <a:cs typeface="+mn-cs"/>
                        </a:rPr>
                        <a:t>我喜欢画画儿</a:t>
                      </a:r>
                      <a:r>
                        <a:rPr lang="en-US" altLang="zh-CN" sz="2800" kern="1200">
                          <a:solidFill>
                            <a:srgbClr val="00B050"/>
                          </a:solidFill>
                          <a:latin typeface="KaiTi" panose="02010609060101010101" pitchFamily="49" charset="-122"/>
                          <a:ea typeface="KaiTi" panose="02010609060101010101" pitchFamily="49" charset="-122"/>
                          <a:cs typeface="+mn-cs"/>
                        </a:rPr>
                        <a:t>.</a:t>
                      </a:r>
                      <a:br>
                        <a:rPr lang="vi-VN" altLang="zh-CN" sz="2800" kern="120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rPr>
                        <a:t>Wǒ xǐhu</a:t>
                      </a:r>
                      <a:r>
                        <a:rPr kumimoji="0" lang="vi-VN"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rPr>
                        <a:t>a</a:t>
                      </a:r>
                      <a:r>
                        <a:rPr kumimoji="0" lang="en-US" sz="2000" b="0" i="1" u="none" strike="noStrike" kern="1200" cap="none" spc="0" normalizeH="0" baseline="0">
                          <a:ln>
                            <a:noFill/>
                          </a:ln>
                          <a:solidFill>
                            <a:prstClr val="black"/>
                          </a:solidFill>
                          <a:effectLst/>
                          <a:uLnTx/>
                          <a:uFillTx/>
                          <a:latin typeface="Times New Roman" panose="02020603050405020304" pitchFamily="18" charset="0"/>
                          <a:ea typeface="+mn-ea"/>
                          <a:cs typeface="Times New Roman" panose="02020603050405020304" pitchFamily="18" charset="0"/>
                        </a:rPr>
                        <a:t>n huà huàr.</a:t>
                      </a:r>
                    </a:p>
                  </a:txBody>
                  <a:tcPr anchor="ctr"/>
                </a:tc>
                <a:extLst>
                  <a:ext uri="{0D108BD9-81ED-4DB2-BD59-A6C34878D82A}">
                    <a16:rowId xmlns:a16="http://schemas.microsoft.com/office/drawing/2014/main" val="3799098888"/>
                  </a:ext>
                </a:extLst>
              </a:tr>
            </a:tbl>
          </a:graphicData>
        </a:graphic>
      </p:graphicFrame>
      <p:sp>
        <p:nvSpPr>
          <p:cNvPr id="7173" name="Nhớ lại 7173"/>
          <p:cNvSpPr txBox="1"/>
          <p:nvPr/>
        </p:nvSpPr>
        <p:spPr>
          <a:xfrm>
            <a:off x="4200000" y="1788369"/>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哪儿</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nǎr</a:t>
            </a:r>
            <a:r>
              <a:rPr lang="vi-VN" sz="2400" dirty="0">
                <a:latin typeface="Times New Roman" panose="02020603050405020304" pitchFamily="18" charset="0"/>
                <a:ea typeface="KaiTi" panose="02010609060101010101" pitchFamily="49" charset="-122"/>
                <a:cs typeface="Times New Roman" panose="02020603050405020304" pitchFamily="18" charset="0"/>
              </a:rPr>
              <a:t> – ở đâu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儿 – âm uốn lưỡi</a:t>
            </a:r>
          </a:p>
          <a:p>
            <a:pPr>
              <a:spcBef>
                <a:spcPts val="200"/>
              </a:spcBef>
            </a:pPr>
            <a:r>
              <a:rPr lang="zh-CN" sz="2800" dirty="0">
                <a:solidFill>
                  <a:srgbClr val="C00000"/>
                </a:solidFill>
                <a:latin typeface="KaiTi" panose="02010609060101010101" pitchFamily="49" charset="-122"/>
                <a:ea typeface="KaiTi" panose="02010609060101010101" pitchFamily="49" charset="-122"/>
              </a:rPr>
              <a:t>一点儿</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yìdiǎnr</a:t>
            </a:r>
            <a:r>
              <a:rPr lang="vi-VN" sz="2400" dirty="0">
                <a:latin typeface="Times New Roman" panose="02020603050405020304" pitchFamily="18" charset="0"/>
                <a:ea typeface="KaiTi" panose="02010609060101010101" pitchFamily="49" charset="-122"/>
                <a:cs typeface="Times New Roman" panose="02020603050405020304" pitchFamily="18" charset="0"/>
              </a:rPr>
              <a:t> – một chút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画 + 儿 = 画儿</a:t>
            </a:r>
          </a:p>
        </p:txBody>
      </p:sp>
    </p:spTree>
    <p:extLst>
      <p:ext uri="{BB962C8B-B14F-4D97-AF65-F5344CB8AC3E}">
        <p14:creationId xmlns:p14="http://schemas.microsoft.com/office/powerpoint/2010/main" val="36996815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3"/>
                                        </p:tgtEl>
                                        <p:attrNameLst>
                                          <p:attrName>style.visibility</p:attrName>
                                        </p:attrNameLst>
                                      </p:cBhvr>
                                      <p:to>
                                        <p:strVal val="visible"/>
                                      </p:to>
                                    </p:set>
                                    <p:animEffect transition="in" filter="wipe(left)">
                                      <p:cBhvr>
                                        <p:cTn id="12"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44173352"/>
              </p:ext>
            </p:extLst>
          </p:nvPr>
        </p:nvGraphicFramePr>
        <p:xfrm>
          <a:off x="313582" y="120735"/>
          <a:ext cx="11564835" cy="1893634"/>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dirty="0" err="1">
                          <a:solidFill>
                            <a:srgbClr val="07443C"/>
                          </a:solidFill>
                          <a:effectLst/>
                          <a:latin typeface="Times New Roman" panose="02020603050405020304" pitchFamily="18" charset="0"/>
                          <a:ea typeface="+mn-ea"/>
                          <a:cs typeface="Times New Roman" panose="02020603050405020304" pitchFamily="18" charset="0"/>
                        </a:rPr>
                        <a:t>Tiếng</a:t>
                      </a:r>
                      <a:r>
                        <a:rPr lang="en-US" sz="3200" b="1" kern="1200" dirty="0">
                          <a:solidFill>
                            <a:srgbClr val="07443C"/>
                          </a:solidFill>
                          <a:effectLst/>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中国画</a:t>
                      </a:r>
                      <a:endParaRPr lang="en-US" sz="34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Zhōngguóhuà </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名</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dirty="0">
                          <a:latin typeface="Times New Roman" panose="02020603050405020304" pitchFamily="18" charset="0"/>
                          <a:cs typeface="Times New Roman" panose="02020603050405020304" pitchFamily="18" charset="0"/>
                        </a:rPr>
                        <a:t>Tranh </a:t>
                      </a:r>
                      <a:r>
                        <a:rPr lang="en-US" sz="3200" dirty="0" err="1">
                          <a:latin typeface="Times New Roman" panose="02020603050405020304" pitchFamily="18" charset="0"/>
                          <a:cs typeface="Times New Roman" panose="02020603050405020304" pitchFamily="18" charset="0"/>
                        </a:rPr>
                        <a:t>thủy</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mặcTrung</a:t>
                      </a:r>
                      <a:r>
                        <a:rPr lang="en-US" sz="3200" baseline="0" dirty="0">
                          <a:latin typeface="Times New Roman" panose="02020603050405020304" pitchFamily="18" charset="0"/>
                          <a:cs typeface="Times New Roman" panose="02020603050405020304" pitchFamily="18" charset="0"/>
                        </a:rPr>
                        <a:t> Quốc</a:t>
                      </a:r>
                      <a:endParaRPr lang="en-US" sz="3200" dirty="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bl>
          </a:graphicData>
        </a:graphic>
      </p:graphicFrame>
      <p:sp>
        <p:nvSpPr>
          <p:cNvPr id="6" name="Chiết tự 6"/>
          <p:cNvSpPr txBox="1"/>
          <p:nvPr/>
        </p:nvSpPr>
        <p:spPr>
          <a:xfrm>
            <a:off x="2700000" y="2134369"/>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国 = </a:t>
            </a:r>
            <a:r>
              <a:rPr lang="zh-CN" sz="3600" dirty="0">
                <a:solidFill>
                  <a:srgbClr val="C00000"/>
                </a:solidFill>
                <a:latin typeface="KaiTi" panose="02010609060101010101" pitchFamily="49" charset="-122"/>
                <a:ea typeface="KaiTi" panose="02010609060101010101" pitchFamily="49" charset="-122"/>
              </a:rPr>
              <a:t>囗</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玉</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Vi 囗 (khung) + 玉</a:t>
            </a:r>
          </a:p>
        </p:txBody>
      </p:sp>
      <p:sp>
        <p:nvSpPr>
          <p:cNvPr id="7" name="Nhớ lại 7"/>
          <p:cNvSpPr txBox="1"/>
          <p:nvPr/>
        </p:nvSpPr>
        <p:spPr>
          <a:xfrm>
            <a:off x="2700000" y="3814369"/>
            <a:ext cx="47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中国</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Zhōngguó</a:t>
            </a:r>
            <a:r>
              <a:rPr lang="vi-VN" sz="2400" dirty="0">
                <a:latin typeface="Times New Roman" panose="02020603050405020304" pitchFamily="18" charset="0"/>
                <a:ea typeface="KaiTi" panose="02010609060101010101" pitchFamily="49" charset="-122"/>
                <a:cs typeface="Times New Roman" panose="02020603050405020304" pitchFamily="18" charset="0"/>
              </a:rPr>
              <a:t> – Trung Quốc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2)</a:t>
            </a:r>
            <a:r>
              <a:rPr lang="vi-VN" sz="2400" dirty="0">
                <a:latin typeface="Times New Roman" panose="02020603050405020304" pitchFamily="18" charset="0"/>
                <a:ea typeface="KaiTi" panose="02010609060101010101" pitchFamily="49" charset="-122"/>
                <a:cs typeface="Times New Roman" panose="02020603050405020304" pitchFamily="18" charset="0"/>
              </a:rPr>
              <a:t> · 中国 + 画</a:t>
            </a:r>
          </a:p>
          <a:p>
            <a:pPr>
              <a:spcBef>
                <a:spcPts val="200"/>
              </a:spcBef>
            </a:pPr>
            <a:r>
              <a:rPr lang="zh-CN" sz="2800" dirty="0">
                <a:solidFill>
                  <a:srgbClr val="C00000"/>
                </a:solidFill>
                <a:latin typeface="KaiTi" panose="02010609060101010101" pitchFamily="49" charset="-122"/>
                <a:ea typeface="KaiTi" panose="02010609060101010101" pitchFamily="49" charset="-122"/>
              </a:rPr>
              <a:t>美国</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Měiguó</a:t>
            </a:r>
            <a:r>
              <a:rPr lang="vi-VN" sz="2400" dirty="0">
                <a:latin typeface="Times New Roman" panose="02020603050405020304" pitchFamily="18" charset="0"/>
                <a:ea typeface="KaiTi" panose="02010609060101010101" pitchFamily="49" charset="-122"/>
                <a:cs typeface="Times New Roman" panose="02020603050405020304" pitchFamily="18" charset="0"/>
              </a:rPr>
              <a:t> – Mỹ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2)</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国</a:t>
            </a:r>
          </a:p>
        </p:txBody>
      </p:sp>
      <p:sp>
        <p:nvSpPr>
          <p:cNvPr id="8" name="Ví dụ thêm 8"/>
          <p:cNvSpPr txBox="1"/>
          <p:nvPr/>
        </p:nvSpPr>
        <p:spPr>
          <a:xfrm>
            <a:off x="7200000" y="2134369"/>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这是中国画。</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Zhè shì Zhōngguóhuà.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Đây là tranh Trung Quốc.</a:t>
            </a:r>
          </a:p>
        </p:txBody>
      </p:sp>
    </p:spTree>
    <p:extLst>
      <p:ext uri="{BB962C8B-B14F-4D97-AF65-F5344CB8AC3E}">
        <p14:creationId xmlns:p14="http://schemas.microsoft.com/office/powerpoint/2010/main" val="20031705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360936649"/>
              </p:ext>
            </p:extLst>
          </p:nvPr>
        </p:nvGraphicFramePr>
        <p:xfrm>
          <a:off x="239237" y="207821"/>
          <a:ext cx="11564835" cy="1557753"/>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730883">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喜欢</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xǐhu</a:t>
                      </a:r>
                      <a:r>
                        <a:rPr lang="vi-VN" sz="3200" b="0" i="1" kern="1200">
                          <a:solidFill>
                            <a:schemeClr val="dk1"/>
                          </a:solidFill>
                          <a:effectLst/>
                          <a:latin typeface="Times New Roman" panose="02020603050405020304" pitchFamily="18" charset="0"/>
                          <a:ea typeface="+mn-ea"/>
                          <a:cs typeface="Times New Roman" panose="02020603050405020304" pitchFamily="18" charset="0"/>
                        </a:rPr>
                        <a:t>a</a:t>
                      </a:r>
                      <a:r>
                        <a:rPr lang="en-US" sz="3200" b="0" i="1" kern="1200">
                          <a:solidFill>
                            <a:schemeClr val="dk1"/>
                          </a:solidFill>
                          <a:effectLst/>
                          <a:latin typeface="Times New Roman" panose="02020603050405020304" pitchFamily="18" charset="0"/>
                          <a:ea typeface="+mn-ea"/>
                          <a:cs typeface="Times New Roman" panose="02020603050405020304" pitchFamily="18" charset="0"/>
                        </a:rPr>
                        <a:t>n </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动</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a:latin typeface="Times New Roman" panose="02020603050405020304" pitchFamily="18" charset="0"/>
                          <a:cs typeface="Times New Roman" panose="02020603050405020304" pitchFamily="18" charset="0"/>
                        </a:rPr>
                        <a:t>Thích, yêu</a:t>
                      </a:r>
                      <a:r>
                        <a:rPr lang="en-US" sz="3200" baseline="0">
                          <a:latin typeface="Times New Roman" panose="02020603050405020304" pitchFamily="18" charset="0"/>
                          <a:cs typeface="Times New Roman" panose="02020603050405020304" pitchFamily="18" charset="0"/>
                        </a:rPr>
                        <a:t> thích</a:t>
                      </a:r>
                      <a:endParaRPr lang="en-US" sz="320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pic>
        <p:nvPicPr>
          <p:cNvPr id="8194" name="Picture 2" descr="喜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9237" y="2135689"/>
            <a:ext cx="1952453" cy="195245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欢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72747" y="4481004"/>
            <a:ext cx="1987055" cy="19524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802411771"/>
              </p:ext>
            </p:extLst>
          </p:nvPr>
        </p:nvGraphicFramePr>
        <p:xfrm>
          <a:off x="5312229" y="2254327"/>
          <a:ext cx="6153150" cy="1554480"/>
        </p:xfrm>
        <a:graphic>
          <a:graphicData uri="http://schemas.openxmlformats.org/drawingml/2006/table">
            <a:tbl>
              <a:tblPr>
                <a:tableStyleId>{2D5ABB26-0587-4C30-8999-92F81FD0307C}</a:tableStyleId>
              </a:tblPr>
              <a:tblGrid>
                <a:gridCol w="6153150">
                  <a:extLst>
                    <a:ext uri="{9D8B030D-6E8A-4147-A177-3AD203B41FA5}">
                      <a16:colId xmlns:a16="http://schemas.microsoft.com/office/drawing/2014/main" val="1062055634"/>
                    </a:ext>
                  </a:extLst>
                </a:gridCol>
              </a:tblGrid>
              <a:tr h="800100">
                <a:tc>
                  <a:txBody>
                    <a:bodyPr/>
                    <a:lstStyle/>
                    <a:p>
                      <a:pPr algn="ctr"/>
                      <a:r>
                        <a:rPr lang="zh-CN" altLang="en-US" sz="2800" kern="1200" dirty="0">
                          <a:solidFill>
                            <a:srgbClr val="00B050"/>
                          </a:solidFill>
                          <a:latin typeface="KaiTi" panose="02010609060101010101" pitchFamily="49" charset="-122"/>
                          <a:ea typeface="KaiTi" panose="02010609060101010101" pitchFamily="49" charset="-122"/>
                          <a:cs typeface="+mn-cs"/>
                        </a:rPr>
                        <a:t>我喜欢学汉语</a:t>
                      </a:r>
                      <a:r>
                        <a:rPr lang="en-US" altLang="zh-CN" sz="2800" kern="1200" dirty="0">
                          <a:solidFill>
                            <a:srgbClr val="00B050"/>
                          </a:solidFill>
                          <a:latin typeface="KaiTi" panose="02010609060101010101" pitchFamily="49" charset="-122"/>
                          <a:ea typeface="KaiTi" panose="02010609060101010101" pitchFamily="49" charset="-122"/>
                          <a:cs typeface="+mn-cs"/>
                        </a:rPr>
                        <a:t>.</a:t>
                      </a:r>
                      <a:br>
                        <a:rPr lang="vi-VN" altLang="zh-CN" sz="2800" kern="120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xǐhuān</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xué</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a:t>
                      </a:r>
                      <a:r>
                        <a:rPr kumimoji="0" lang="en-US" sz="2000" b="0"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ànyǔ</a:t>
                      </a:r>
                      <a:r>
                        <a:rPr kumimoji="0" lang="en-US"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lang="en-US" altLang="zh-CN" sz="2800" kern="1200" dirty="0">
                        <a:solidFill>
                          <a:srgbClr val="00B050"/>
                        </a:solidFill>
                        <a:latin typeface="KaiTi" panose="02010609060101010101" pitchFamily="49" charset="-122"/>
                        <a:ea typeface="KaiTi" panose="02010609060101010101" pitchFamily="49" charset="-122"/>
                        <a:cs typeface="+mn-cs"/>
                      </a:endParaRPr>
                    </a:p>
                    <a:p>
                      <a:pPr algn="ctr"/>
                      <a:r>
                        <a:rPr lang="zh-CN" altLang="en-US" sz="2800" kern="1200" dirty="0">
                          <a:solidFill>
                            <a:srgbClr val="00B050"/>
                          </a:solidFill>
                          <a:latin typeface="KaiTi" panose="02010609060101010101" pitchFamily="49" charset="-122"/>
                          <a:ea typeface="KaiTi" panose="02010609060101010101" pitchFamily="49" charset="-122"/>
                          <a:cs typeface="+mn-cs"/>
                        </a:rPr>
                        <a:t>我喜欢她</a:t>
                      </a:r>
                      <a:r>
                        <a:rPr lang="en-US" altLang="zh-CN" sz="2800" kern="1200" dirty="0">
                          <a:solidFill>
                            <a:srgbClr val="00B050"/>
                          </a:solidFill>
                          <a:latin typeface="KaiTi" panose="02010609060101010101" pitchFamily="49" charset="-122"/>
                          <a:ea typeface="KaiTi" panose="02010609060101010101" pitchFamily="49" charset="-122"/>
                          <a:cs typeface="+mn-cs"/>
                        </a:rPr>
                        <a:t>.</a:t>
                      </a:r>
                      <a:b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W</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ǒ</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xǐhu</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a</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n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tā</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3938258398"/>
                  </a:ext>
                </a:extLst>
              </a:tr>
            </a:tbl>
          </a:graphicData>
        </a:graphic>
      </p:graphicFrame>
      <p:sp>
        <p:nvSpPr>
          <p:cNvPr id="8197" name="Chiết tự 8197"/>
          <p:cNvSpPr txBox="1"/>
          <p:nvPr/>
        </p:nvSpPr>
        <p:spPr>
          <a:xfrm>
            <a:off x="2700000" y="3925574"/>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欢 = </a:t>
            </a:r>
            <a:r>
              <a:rPr lang="zh-CN" sz="3600" dirty="0">
                <a:solidFill>
                  <a:srgbClr val="C00000"/>
                </a:solidFill>
                <a:latin typeface="KaiTi" panose="02010609060101010101" pitchFamily="49" charset="-122"/>
                <a:ea typeface="KaiTi" panose="02010609060101010101" pitchFamily="49" charset="-122"/>
              </a:rPr>
              <a:t>又</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欠</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Hựu 又 + Bộ Khiếm 欠</a:t>
            </a:r>
          </a:p>
        </p:txBody>
      </p:sp>
      <p:sp>
        <p:nvSpPr>
          <p:cNvPr id="8198" name="Nhớ lại 8198"/>
          <p:cNvSpPr txBox="1"/>
          <p:nvPr/>
        </p:nvSpPr>
        <p:spPr>
          <a:xfrm>
            <a:off x="7200000" y="3925574"/>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duì</a:t>
            </a:r>
            <a:r>
              <a:rPr lang="vi-VN" sz="2400" dirty="0">
                <a:latin typeface="Times New Roman" panose="02020603050405020304" pitchFamily="18" charset="0"/>
                <a:ea typeface="KaiTi" panose="02010609060101010101" pitchFamily="49" charset="-122"/>
                <a:cs typeface="Times New Roman" panose="02020603050405020304" pitchFamily="18" charset="0"/>
              </a:rPr>
              <a:t> – đúng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对 cũng có 又</a:t>
            </a:r>
          </a:p>
          <a:p>
            <a:pPr>
              <a:spcBef>
                <a:spcPts val="200"/>
              </a:spcBef>
            </a:pPr>
            <a:r>
              <a:rPr lang="zh-CN" sz="2800" dirty="0">
                <a:solidFill>
                  <a:srgbClr val="C00000"/>
                </a:solidFill>
                <a:latin typeface="KaiTi" panose="02010609060101010101" pitchFamily="49" charset="-122"/>
                <a:ea typeface="KaiTi" panose="02010609060101010101" pitchFamily="49" charset="-122"/>
              </a:rPr>
              <a:t>快乐</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kuàilè</a:t>
            </a:r>
            <a:r>
              <a:rPr lang="vi-VN" sz="2400" dirty="0">
                <a:latin typeface="Times New Roman" panose="02020603050405020304" pitchFamily="18" charset="0"/>
                <a:ea typeface="KaiTi" panose="02010609060101010101" pitchFamily="49" charset="-122"/>
                <a:cs typeface="Times New Roman" panose="02020603050405020304" pitchFamily="18" charset="0"/>
              </a:rPr>
              <a:t> – vui vẻ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cùng trường nghĩa</a:t>
            </a:r>
          </a:p>
        </p:txBody>
      </p:sp>
    </p:spTree>
    <p:extLst>
      <p:ext uri="{BB962C8B-B14F-4D97-AF65-F5344CB8AC3E}">
        <p14:creationId xmlns:p14="http://schemas.microsoft.com/office/powerpoint/2010/main" val="489801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dissolve">
                                      <p:cBhvr>
                                        <p:cTn id="7" dur="5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198"/>
                                        </p:tgtEl>
                                        <p:attrNameLst>
                                          <p:attrName>style.visibility</p:attrName>
                                        </p:attrNameLst>
                                      </p:cBhvr>
                                      <p:to>
                                        <p:strVal val="visible"/>
                                      </p:to>
                                    </p:set>
                                    <p:animEffect transition="in" filter="wipe(left)">
                                      <p:cBhvr>
                                        <p:cTn id="17"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43442698"/>
              </p:ext>
            </p:extLst>
          </p:nvPr>
        </p:nvGraphicFramePr>
        <p:xfrm>
          <a:off x="239237" y="207821"/>
          <a:ext cx="11564835" cy="1893634"/>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一般</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yìbān</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形</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a:latin typeface="Times New Roman" panose="02020603050405020304" pitchFamily="18" charset="0"/>
                          <a:cs typeface="Times New Roman" panose="02020603050405020304" pitchFamily="18" charset="0"/>
                        </a:rPr>
                        <a:t>Bình</a:t>
                      </a:r>
                      <a:r>
                        <a:rPr lang="en-US" sz="3200" baseline="0">
                          <a:latin typeface="Times New Roman" panose="02020603050405020304" pitchFamily="18" charset="0"/>
                          <a:cs typeface="Times New Roman" panose="02020603050405020304" pitchFamily="18" charset="0"/>
                        </a:rPr>
                        <a:t> thường, thông thường</a:t>
                      </a:r>
                      <a:endParaRPr lang="en-US" sz="3200">
                        <a:latin typeface="Times New Roman" panose="02020603050405020304" pitchFamily="18" charset="0"/>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bl>
          </a:graphicData>
        </a:graphic>
      </p:graphicFrame>
      <p:pic>
        <p:nvPicPr>
          <p:cNvPr id="10242" name="Picture 2" descr="一的笔顺动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38" y="2182090"/>
            <a:ext cx="1633106" cy="1633106"/>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般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39237" y="3993723"/>
            <a:ext cx="1691003" cy="163310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4135613871"/>
              </p:ext>
            </p:extLst>
          </p:nvPr>
        </p:nvGraphicFramePr>
        <p:xfrm>
          <a:off x="4437164" y="2330136"/>
          <a:ext cx="8123959" cy="853440"/>
        </p:xfrm>
        <a:graphic>
          <a:graphicData uri="http://schemas.openxmlformats.org/drawingml/2006/table">
            <a:tbl>
              <a:tblPr>
                <a:tableStyleId>{2D5ABB26-0587-4C30-8999-92F81FD0307C}</a:tableStyleId>
              </a:tblPr>
              <a:tblGrid>
                <a:gridCol w="8123959">
                  <a:extLst>
                    <a:ext uri="{9D8B030D-6E8A-4147-A177-3AD203B41FA5}">
                      <a16:colId xmlns:a16="http://schemas.microsoft.com/office/drawing/2014/main" val="3193915511"/>
                    </a:ext>
                  </a:extLst>
                </a:gridCol>
              </a:tblGrid>
              <a:tr h="750000">
                <a:tc>
                  <a:txBody>
                    <a:bodyPr/>
                    <a:lstStyle/>
                    <a:p>
                      <a:r>
                        <a:rPr kumimoji="0" lang="zh-CN" altLang="en-US" sz="3000" b="0" i="0" u="none" strike="noStrike" kern="1200" cap="none" spc="0" normalizeH="0" baseline="0" noProof="0" dirty="0">
                          <a:ln>
                            <a:noFill/>
                          </a:ln>
                          <a:solidFill>
                            <a:srgbClr val="00B050"/>
                          </a:solidFill>
                          <a:effectLst/>
                          <a:uLnTx/>
                          <a:uFillTx/>
                          <a:latin typeface="KaiTi" panose="02010609060101010101" pitchFamily="49" charset="-122"/>
                          <a:ea typeface="KaiTi" panose="02010609060101010101" pitchFamily="49" charset="-122"/>
                          <a:cs typeface="+mn-cs"/>
                        </a:rPr>
                        <a:t>我</a:t>
                      </a:r>
                      <a:r>
                        <a:rPr lang="zh-CN" altLang="en-US" sz="2800" kern="1200" noProof="0" dirty="0">
                          <a:solidFill>
                            <a:srgbClr val="00B050"/>
                          </a:solidFill>
                          <a:latin typeface="KaiTi" panose="02010609060101010101" pitchFamily="49" charset="-122"/>
                          <a:ea typeface="KaiTi" panose="02010609060101010101" pitchFamily="49" charset="-122"/>
                          <a:cs typeface="+mn-cs"/>
                        </a:rPr>
                        <a:t>一般在家看书，听音乐， 有时候也去超市买东西</a:t>
                      </a:r>
                      <a:br>
                        <a:rPr lang="vi-VN" altLang="zh-CN" sz="2800" kern="1200" noProof="0" dirty="0">
                          <a:solidFill>
                            <a:srgbClr val="00B050"/>
                          </a:solidFill>
                          <a:latin typeface="KaiTi" panose="02010609060101010101" pitchFamily="49" charset="-122"/>
                          <a:ea typeface="KaiTi" panose="02010609060101010101" pitchFamily="49" charset="-122"/>
                          <a:cs typeface="+mn-cs"/>
                        </a:rPr>
                      </a:b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Wǒ</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zh-CN"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yìbān</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zàijiā</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kàn</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tīng</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yīnyuè</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yǒu</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shíhòu</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yě</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qù</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chāoshì</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mǎi</a:t>
                      </a:r>
                      <a:r>
                        <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1" u="none" strike="noStrike" kern="1200" cap="none" spc="0" normalizeH="0" baseline="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dōngx</a:t>
                      </a:r>
                      <a:r>
                        <a:rPr kumimoji="0" lang="vi-VN"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rPr>
                        <a:t>i</a:t>
                      </a:r>
                      <a:endParaRPr kumimoji="0" lang="en-US" sz="2000" b="0" i="1" u="none" strike="noStrike" kern="1200" cap="none" spc="0" normalizeH="0" baseline="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856801750"/>
                  </a:ext>
                </a:extLst>
              </a:tr>
            </a:tbl>
          </a:graphicData>
        </a:graphic>
      </p:graphicFrame>
      <p:sp>
        <p:nvSpPr>
          <p:cNvPr id="10245" name="Chiết tự 10245"/>
          <p:cNvSpPr txBox="1"/>
          <p:nvPr/>
        </p:nvSpPr>
        <p:spPr>
          <a:xfrm>
            <a:off x="2700000" y="3301455"/>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般 = </a:t>
            </a:r>
            <a:r>
              <a:rPr lang="zh-CN" sz="3600" dirty="0">
                <a:solidFill>
                  <a:srgbClr val="C00000"/>
                </a:solidFill>
                <a:latin typeface="KaiTi" panose="02010609060101010101" pitchFamily="49" charset="-122"/>
                <a:ea typeface="KaiTi" panose="02010609060101010101" pitchFamily="49" charset="-122"/>
              </a:rPr>
              <a:t>舟</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殳</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Chu 舟 + 殳</a:t>
            </a:r>
          </a:p>
        </p:txBody>
      </p:sp>
      <p:sp>
        <p:nvSpPr>
          <p:cNvPr id="10246" name="Nhớ lại 10246"/>
          <p:cNvSpPr txBox="1"/>
          <p:nvPr/>
        </p:nvSpPr>
        <p:spPr>
          <a:xfrm>
            <a:off x="7200000" y="3301455"/>
            <a:ext cx="4500000" cy="2915848"/>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一</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yī</a:t>
            </a:r>
            <a:r>
              <a:rPr lang="vi-VN" sz="2400" dirty="0">
                <a:latin typeface="Times New Roman" panose="02020603050405020304" pitchFamily="18" charset="0"/>
                <a:ea typeface="KaiTi" panose="02010609060101010101" pitchFamily="49" charset="-122"/>
                <a:cs typeface="Times New Roman" panose="02020603050405020304" pitchFamily="18" charset="0"/>
              </a:rPr>
              <a:t> – một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a:t>
            </a:r>
            <a:r>
              <a:rPr lang="vi-VN" sz="2400" dirty="0">
                <a:latin typeface="Times New Roman" panose="02020603050405020304" pitchFamily="18" charset="0"/>
                <a:ea typeface="KaiTi" panose="02010609060101010101" pitchFamily="49" charset="-122"/>
                <a:cs typeface="Times New Roman" panose="02020603050405020304" pitchFamily="18" charset="0"/>
              </a:rPr>
              <a:t> · 一 + 般</a:t>
            </a:r>
          </a:p>
          <a:p>
            <a:pPr>
              <a:spcBef>
                <a:spcPts val="200"/>
              </a:spcBef>
            </a:pPr>
            <a:r>
              <a:rPr lang="zh-CN" sz="2800" dirty="0">
                <a:solidFill>
                  <a:srgbClr val="C00000"/>
                </a:solidFill>
                <a:latin typeface="KaiTi" panose="02010609060101010101" pitchFamily="49" charset="-122"/>
                <a:ea typeface="KaiTi" panose="02010609060101010101" pitchFamily="49" charset="-122"/>
              </a:rPr>
              <a:t>常常</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chángcháng</a:t>
            </a:r>
            <a:r>
              <a:rPr lang="vi-VN" sz="2400" dirty="0">
                <a:latin typeface="Times New Roman" panose="02020603050405020304" pitchFamily="18" charset="0"/>
                <a:ea typeface="KaiTi" panose="02010609060101010101" pitchFamily="49" charset="-122"/>
                <a:cs typeface="Times New Roman" panose="02020603050405020304" pitchFamily="18" charset="0"/>
              </a:rPr>
              <a:t> – thường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一般 ≈ 常常</a:t>
            </a:r>
          </a:p>
          <a:p>
            <a:pPr>
              <a:spcBef>
                <a:spcPts val="200"/>
              </a:spcBef>
            </a:pPr>
            <a:r>
              <a:rPr lang="zh-CN" sz="2800" dirty="0">
                <a:solidFill>
                  <a:srgbClr val="C00000"/>
                </a:solidFill>
                <a:latin typeface="KaiTi" panose="02010609060101010101" pitchFamily="49" charset="-122"/>
                <a:ea typeface="KaiTi" panose="02010609060101010101" pitchFamily="49" charset="-122"/>
              </a:rPr>
              <a:t>平时</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píngshí</a:t>
            </a:r>
            <a:r>
              <a:rPr lang="vi-VN" sz="2400" dirty="0">
                <a:latin typeface="Times New Roman" panose="02020603050405020304" pitchFamily="18" charset="0"/>
                <a:ea typeface="KaiTi" panose="02010609060101010101" pitchFamily="49" charset="-122"/>
                <a:cs typeface="Times New Roman" panose="02020603050405020304" pitchFamily="18" charset="0"/>
              </a:rPr>
              <a:t> – bình thường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11)</a:t>
            </a:r>
            <a:r>
              <a:rPr lang="vi-VN" sz="2400" dirty="0">
                <a:latin typeface="Times New Roman" panose="02020603050405020304" pitchFamily="18" charset="0"/>
                <a:ea typeface="KaiTi" panose="02010609060101010101" pitchFamily="49" charset="-122"/>
                <a:cs typeface="Times New Roman" panose="02020603050405020304" pitchFamily="18" charset="0"/>
              </a:rPr>
              <a:t> · cùng ý với 一般</a:t>
            </a:r>
          </a:p>
        </p:txBody>
      </p:sp>
    </p:spTree>
    <p:extLst>
      <p:ext uri="{BB962C8B-B14F-4D97-AF65-F5344CB8AC3E}">
        <p14:creationId xmlns:p14="http://schemas.microsoft.com/office/powerpoint/2010/main" val="3101635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dissolve">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6"/>
                                        </p:tgtEl>
                                        <p:attrNameLst>
                                          <p:attrName>style.visibility</p:attrName>
                                        </p:attrNameLst>
                                      </p:cBhvr>
                                      <p:to>
                                        <p:strVal val="visible"/>
                                      </p:to>
                                    </p:set>
                                    <p:animEffect transition="in" filter="wipe(left)">
                                      <p:cBhvr>
                                        <p:cTn id="17"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50613870"/>
              </p:ext>
            </p:extLst>
          </p:nvPr>
        </p:nvGraphicFramePr>
        <p:xfrm>
          <a:off x="239237" y="207821"/>
          <a:ext cx="11564835" cy="1460548"/>
        </p:xfrm>
        <a:graphic>
          <a:graphicData uri="http://schemas.openxmlformats.org/drawingml/2006/table">
            <a:tbl>
              <a:tblPr firstRow="1">
                <a:tableStyleId>{5C22544A-7EE6-4342-B048-85BDC9FD1C3A}</a:tableStyleId>
              </a:tblPr>
              <a:tblGrid>
                <a:gridCol w="1035381">
                  <a:extLst>
                    <a:ext uri="{9D8B030D-6E8A-4147-A177-3AD203B41FA5}">
                      <a16:colId xmlns:a16="http://schemas.microsoft.com/office/drawing/2014/main" val="2897192029"/>
                    </a:ext>
                  </a:extLst>
                </a:gridCol>
                <a:gridCol w="2729346">
                  <a:extLst>
                    <a:ext uri="{9D8B030D-6E8A-4147-A177-3AD203B41FA5}">
                      <a16:colId xmlns:a16="http://schemas.microsoft.com/office/drawing/2014/main" val="2090168382"/>
                    </a:ext>
                  </a:extLst>
                </a:gridCol>
                <a:gridCol w="2687781">
                  <a:extLst>
                    <a:ext uri="{9D8B030D-6E8A-4147-A177-3AD203B41FA5}">
                      <a16:colId xmlns:a16="http://schemas.microsoft.com/office/drawing/2014/main" val="964787021"/>
                    </a:ext>
                  </a:extLst>
                </a:gridCol>
                <a:gridCol w="1510146">
                  <a:extLst>
                    <a:ext uri="{9D8B030D-6E8A-4147-A177-3AD203B41FA5}">
                      <a16:colId xmlns:a16="http://schemas.microsoft.com/office/drawing/2014/main" val="934390766"/>
                    </a:ext>
                  </a:extLst>
                </a:gridCol>
                <a:gridCol w="3602181">
                  <a:extLst>
                    <a:ext uri="{9D8B030D-6E8A-4147-A177-3AD203B41FA5}">
                      <a16:colId xmlns:a16="http://schemas.microsoft.com/office/drawing/2014/main" val="1958298950"/>
                    </a:ext>
                  </a:extLst>
                </a:gridCol>
              </a:tblGrid>
              <a:tr h="826870">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633678">
                <a:tc>
                  <a:txBody>
                    <a:bodyPr/>
                    <a:lstStyle/>
                    <a:p>
                      <a:pPr marL="0" indent="0" algn="ctr" defTabSz="914400" rtl="0" eaLnBrk="1" fontAlgn="b" latinLnBrk="0" hangingPunct="1">
                        <a:buFontTx/>
                        <a:buNone/>
                      </a:pPr>
                      <a:r>
                        <a:rPr lang="en-US" sz="32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听</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b="0" i="1" kern="1200">
                          <a:solidFill>
                            <a:schemeClr val="dk1"/>
                          </a:solidFill>
                          <a:effectLst/>
                          <a:latin typeface="Times New Roman" panose="02020603050405020304" pitchFamily="18" charset="0"/>
                          <a:ea typeface="+mn-ea"/>
                          <a:cs typeface="Times New Roman" panose="02020603050405020304" pitchFamily="18" charset="0"/>
                        </a:rPr>
                        <a:t>tīng </a:t>
                      </a:r>
                      <a:endParaRPr lang="en-US" sz="3200" i="1">
                        <a:latin typeface="Times New Roman" panose="02020603050405020304" pitchFamily="18" charset="0"/>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3200">
                          <a:latin typeface="宋体" panose="02010600030101010101" pitchFamily="2" charset="-122"/>
                          <a:ea typeface="宋体" panose="02010600030101010101" pitchFamily="2" charset="-122"/>
                        </a:rPr>
                        <a:t>动</a:t>
                      </a:r>
                      <a:endParaRPr lang="en-US" sz="32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sz="3200">
                          <a:latin typeface="Times New Roman" panose="02020603050405020304" pitchFamily="18" charset="0"/>
                          <a:cs typeface="Times New Roman" panose="02020603050405020304" pitchFamily="18" charset="0"/>
                        </a:rPr>
                        <a:t>nghe</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296778592"/>
                  </a:ext>
                </a:extLst>
              </a:tr>
            </a:tbl>
          </a:graphicData>
        </a:graphic>
      </p:graphicFrame>
      <p:pic>
        <p:nvPicPr>
          <p:cNvPr id="11266" name="Picture 2" descr="听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9237" y="1839171"/>
            <a:ext cx="2244436" cy="22444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021654" y="2058528"/>
            <a:ext cx="2244436" cy="1631216"/>
          </a:xfrm>
          <a:prstGeom prst="rect">
            <a:avLst/>
          </a:prstGeom>
        </p:spPr>
        <p:txBody>
          <a:bodyPr wrap="square">
            <a:spAutoFit/>
          </a:bodyPr>
          <a:lstStyle/>
          <a:p>
            <a:pPr algn="ctr"/>
            <a:r>
              <a:rPr lang="zh-CN" altLang="en-US" sz="3000" dirty="0">
                <a:solidFill>
                  <a:srgbClr val="00B050"/>
                </a:solidFill>
                <a:latin typeface="KaiTi" panose="02010609060101010101" pitchFamily="49" charset="-122"/>
                <a:ea typeface="KaiTi" panose="02010609060101010101" pitchFamily="49" charset="-122"/>
              </a:rPr>
              <a:t>听音乐</a:t>
            </a:r>
            <a:br>
              <a:rPr lang="en-US" altLang="zh-CN" sz="3000" dirty="0">
                <a:solidFill>
                  <a:srgbClr val="00B050"/>
                </a:solidFill>
                <a:latin typeface="KaiTi" panose="02010609060101010101" pitchFamily="49" charset="-122"/>
                <a:ea typeface="KaiTi" panose="02010609060101010101" pitchFamily="49" charset="-122"/>
              </a:rPr>
            </a:br>
            <a:r>
              <a:rPr lang="en-US" sz="2000" i="1" dirty="0" err="1">
                <a:solidFill>
                  <a:prstClr val="black"/>
                </a:solidFill>
                <a:latin typeface="Times New Roman" panose="02020603050405020304" pitchFamily="18" charset="0"/>
                <a:cs typeface="Times New Roman" panose="02020603050405020304" pitchFamily="18" charset="0"/>
              </a:rPr>
              <a:t>Tīng</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yīnyuè</a:t>
            </a:r>
            <a:r>
              <a:rPr lang="en-US" sz="2000" i="1" dirty="0">
                <a:solidFill>
                  <a:prstClr val="black"/>
                </a:solidFill>
                <a:latin typeface="Times New Roman" panose="02020603050405020304" pitchFamily="18" charset="0"/>
                <a:cs typeface="Times New Roman" panose="02020603050405020304" pitchFamily="18" charset="0"/>
              </a:rPr>
              <a:t> </a:t>
            </a:r>
            <a:endParaRPr lang="en-US" altLang="zh-CN" sz="3000" dirty="0">
              <a:solidFill>
                <a:srgbClr val="00B050"/>
              </a:solidFill>
              <a:latin typeface="KaiTi" panose="02010609060101010101" pitchFamily="49" charset="-122"/>
              <a:ea typeface="KaiTi" panose="02010609060101010101" pitchFamily="49" charset="-122"/>
            </a:endParaRPr>
          </a:p>
          <a:p>
            <a:pPr algn="ctr"/>
            <a:r>
              <a:rPr lang="zh-CN" altLang="en-US" sz="3000" dirty="0">
                <a:solidFill>
                  <a:srgbClr val="00B050"/>
                </a:solidFill>
                <a:latin typeface="KaiTi" panose="02010609060101010101" pitchFamily="49" charset="-122"/>
                <a:ea typeface="KaiTi" panose="02010609060101010101" pitchFamily="49" charset="-122"/>
              </a:rPr>
              <a:t>听录音</a:t>
            </a:r>
            <a:br>
              <a:rPr lang="en-US" altLang="zh-CN" sz="3000" dirty="0">
                <a:solidFill>
                  <a:srgbClr val="00B050"/>
                </a:solidFill>
                <a:latin typeface="KaiTi" panose="02010609060101010101" pitchFamily="49" charset="-122"/>
                <a:ea typeface="KaiTi" panose="02010609060101010101" pitchFamily="49" charset="-122"/>
              </a:rPr>
            </a:br>
            <a:r>
              <a:rPr lang="en-US" altLang="zh-CN" sz="2000" i="1" dirty="0" err="1">
                <a:solidFill>
                  <a:prstClr val="black"/>
                </a:solidFill>
                <a:latin typeface="Times New Roman" panose="02020603050405020304" pitchFamily="18" charset="0"/>
                <a:cs typeface="Times New Roman" panose="02020603050405020304" pitchFamily="18" charset="0"/>
              </a:rPr>
              <a:t>T</a:t>
            </a:r>
            <a:r>
              <a:rPr lang="en-US" sz="2000" i="1" dirty="0" err="1">
                <a:solidFill>
                  <a:prstClr val="black"/>
                </a:solidFill>
                <a:latin typeface="Times New Roman" panose="02020603050405020304" pitchFamily="18" charset="0"/>
                <a:cs typeface="Times New Roman" panose="02020603050405020304" pitchFamily="18" charset="0"/>
              </a:rPr>
              <a:t>īng</a:t>
            </a:r>
            <a:r>
              <a:rPr lang="en-US" sz="2000" i="1" dirty="0">
                <a:solidFill>
                  <a:prstClr val="black"/>
                </a:solidFill>
                <a:latin typeface="Times New Roman" panose="02020603050405020304" pitchFamily="18" charset="0"/>
                <a:cs typeface="Times New Roman" panose="02020603050405020304" pitchFamily="18" charset="0"/>
              </a:rPr>
              <a:t> </a:t>
            </a:r>
            <a:r>
              <a:rPr lang="en-US" sz="2000" i="1" dirty="0" err="1">
                <a:solidFill>
                  <a:prstClr val="black"/>
                </a:solidFill>
                <a:latin typeface="Times New Roman" panose="02020603050405020304" pitchFamily="18" charset="0"/>
                <a:cs typeface="Times New Roman" panose="02020603050405020304" pitchFamily="18" charset="0"/>
              </a:rPr>
              <a:t>lùyīn</a:t>
            </a:r>
            <a:endParaRPr lang="en-US" sz="2000" i="1" dirty="0">
              <a:solidFill>
                <a:prstClr val="black"/>
              </a:solidFill>
              <a:latin typeface="Times New Roman" panose="02020603050405020304" pitchFamily="18" charset="0"/>
              <a:cs typeface="Times New Roman" panose="02020603050405020304" pitchFamily="18" charset="0"/>
            </a:endParaRPr>
          </a:p>
        </p:txBody>
      </p:sp>
      <p:sp>
        <p:nvSpPr>
          <p:cNvPr id="11267" name="Chiết tự 11267"/>
          <p:cNvSpPr txBox="1"/>
          <p:nvPr/>
        </p:nvSpPr>
        <p:spPr>
          <a:xfrm>
            <a:off x="2700000" y="3768369"/>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听 = </a:t>
            </a:r>
            <a:r>
              <a:rPr lang="zh-CN" sz="3600" dirty="0">
                <a:solidFill>
                  <a:srgbClr val="C00000"/>
                </a:solidFill>
                <a:latin typeface="KaiTi" panose="02010609060101010101" pitchFamily="49" charset="-122"/>
                <a:ea typeface="KaiTi" panose="02010609060101010101" pitchFamily="49" charset="-122"/>
              </a:rPr>
              <a:t>口</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斤</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Khẩu 口 + 斤</a:t>
            </a:r>
          </a:p>
        </p:txBody>
      </p:sp>
      <p:sp>
        <p:nvSpPr>
          <p:cNvPr id="11268" name="Nhớ lại 11268"/>
          <p:cNvSpPr txBox="1"/>
          <p:nvPr/>
        </p:nvSpPr>
        <p:spPr>
          <a:xfrm>
            <a:off x="7200000" y="3768369"/>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听说</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tīngshuō</a:t>
            </a:r>
            <a:r>
              <a:rPr lang="vi-VN" sz="2400" dirty="0">
                <a:latin typeface="Times New Roman" panose="02020603050405020304" pitchFamily="18" charset="0"/>
                <a:ea typeface="KaiTi" panose="02010609060101010101" pitchFamily="49" charset="-122"/>
                <a:cs typeface="Times New Roman" panose="02020603050405020304" pitchFamily="18" charset="0"/>
              </a:rPr>
              <a:t> – nghe nói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听 đã gặp</a:t>
            </a:r>
          </a:p>
          <a:p>
            <a:pPr>
              <a:spcBef>
                <a:spcPts val="200"/>
              </a:spcBef>
            </a:pPr>
            <a:r>
              <a:rPr lang="zh-CN" sz="2800" dirty="0">
                <a:solidFill>
                  <a:srgbClr val="C00000"/>
                </a:solidFill>
                <a:latin typeface="KaiTi" panose="02010609060101010101" pitchFamily="49" charset="-122"/>
                <a:ea typeface="KaiTi" panose="02010609060101010101" pitchFamily="49" charset="-122"/>
              </a:rPr>
              <a:t>新鲜</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xīnxiān</a:t>
            </a:r>
            <a:r>
              <a:rPr lang="vi-VN" sz="2400" dirty="0">
                <a:latin typeface="Times New Roman" panose="02020603050405020304" pitchFamily="18" charset="0"/>
                <a:ea typeface="KaiTi" panose="02010609060101010101" pitchFamily="49" charset="-122"/>
                <a:cs typeface="Times New Roman" panose="02020603050405020304" pitchFamily="18" charset="0"/>
              </a:rPr>
              <a:t> – tươi mới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新 có 斤</a:t>
            </a:r>
          </a:p>
        </p:txBody>
      </p:sp>
    </p:spTree>
    <p:extLst>
      <p:ext uri="{BB962C8B-B14F-4D97-AF65-F5344CB8AC3E}">
        <p14:creationId xmlns:p14="http://schemas.microsoft.com/office/powerpoint/2010/main" val="32282452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dissolve">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268"/>
                                        </p:tgtEl>
                                        <p:attrNameLst>
                                          <p:attrName>style.visibility</p:attrName>
                                        </p:attrNameLst>
                                      </p:cBhvr>
                                      <p:to>
                                        <p:strVal val="visible"/>
                                      </p:to>
                                    </p:set>
                                    <p:animEffect transition="in" filter="wipe(left)">
                                      <p:cBhvr>
                                        <p:cTn id="1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23329001"/>
              </p:ext>
            </p:extLst>
          </p:nvPr>
        </p:nvGraphicFramePr>
        <p:xfrm>
          <a:off x="443347" y="223983"/>
          <a:ext cx="11222181" cy="1525113"/>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06985">
                <a:tc>
                  <a:txBody>
                    <a:bodyPr/>
                    <a:lstStyle/>
                    <a:p>
                      <a:pPr marL="0" indent="0" algn="ctr" defTabSz="914400" rtl="0" eaLnBrk="1" fontAlgn="b"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音乐</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b="0" i="1" kern="1200">
                          <a:solidFill>
                            <a:schemeClr val="dk1"/>
                          </a:solidFill>
                          <a:effectLst/>
                          <a:latin typeface="Times New Roman" panose="02020603050405020304" pitchFamily="18" charset="0"/>
                          <a:ea typeface="+mn-ea"/>
                          <a:cs typeface="Times New Roman" panose="02020603050405020304" pitchFamily="18" charset="0"/>
                        </a:rPr>
                        <a:t>yīnyuè</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宋体" panose="02010600030101010101" pitchFamily="2" charset="-122"/>
                          <a:ea typeface="宋体" panose="02010600030101010101" pitchFamily="2" charset="-122"/>
                          <a:cs typeface="+mn-cs"/>
                        </a:rPr>
                        <a:t>名</a:t>
                      </a:r>
                      <a:endParaRPr lang="en-US" sz="32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a:solidFill>
                            <a:schemeClr val="dk1"/>
                          </a:solidFill>
                          <a:latin typeface="Times New Roman" panose="02020603050405020304" pitchFamily="18" charset="0"/>
                          <a:ea typeface="+mn-ea"/>
                          <a:cs typeface="Times New Roman" panose="02020603050405020304" pitchFamily="18" charset="0"/>
                        </a:rPr>
                        <a:t>Âm nhạc</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pic>
        <p:nvPicPr>
          <p:cNvPr id="12290" name="Picture 2" descr="音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43347" y="1898700"/>
            <a:ext cx="1864424" cy="1864425"/>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乐的笔顺"/>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43347" y="4038599"/>
            <a:ext cx="1864424" cy="1864425"/>
          </a:xfrm>
          <a:prstGeom prst="rect">
            <a:avLst/>
          </a:prstGeom>
          <a:noFill/>
          <a:extLst>
            <a:ext uri="{909E8E84-426E-40DD-AFC4-6F175D3DCCD1}">
              <a14:hiddenFill xmlns:a14="http://schemas.microsoft.com/office/drawing/2010/main">
                <a:solidFill>
                  <a:srgbClr val="FFFFFF"/>
                </a:solidFill>
              </a14:hiddenFill>
            </a:ext>
          </a:extLst>
        </p:spPr>
      </p:pic>
      <p:sp>
        <p:nvSpPr>
          <p:cNvPr id="12293" name="Chiết tự 12293"/>
          <p:cNvSpPr txBox="1"/>
          <p:nvPr/>
        </p:nvSpPr>
        <p:spPr>
          <a:xfrm>
            <a:off x="2700000" y="1869096"/>
            <a:ext cx="4400000" cy="1581096"/>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音 = </a:t>
            </a:r>
            <a:r>
              <a:rPr lang="zh-CN" sz="3600" dirty="0">
                <a:solidFill>
                  <a:srgbClr val="C00000"/>
                </a:solidFill>
                <a:latin typeface="KaiTi" panose="02010609060101010101" pitchFamily="49" charset="-122"/>
                <a:ea typeface="KaiTi" panose="02010609060101010101" pitchFamily="49" charset="-122"/>
              </a:rPr>
              <a:t>立</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日</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Lập 立 + 日</a:t>
            </a:r>
          </a:p>
        </p:txBody>
      </p:sp>
      <p:sp>
        <p:nvSpPr>
          <p:cNvPr id="12294" name="Nhớ lại 12294"/>
          <p:cNvSpPr txBox="1"/>
          <p:nvPr/>
        </p:nvSpPr>
        <p:spPr>
          <a:xfrm>
            <a:off x="2700000" y="3549096"/>
            <a:ext cx="47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快乐</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kuàilè</a:t>
            </a:r>
            <a:r>
              <a:rPr lang="vi-VN" sz="2400" dirty="0">
                <a:latin typeface="Times New Roman" panose="02020603050405020304" pitchFamily="18" charset="0"/>
                <a:ea typeface="KaiTi" panose="02010609060101010101" pitchFamily="49" charset="-122"/>
                <a:cs typeface="Times New Roman" panose="02020603050405020304" pitchFamily="18" charset="0"/>
              </a:rPr>
              <a:t> – vui vẻ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8)</a:t>
            </a:r>
            <a:r>
              <a:rPr lang="vi-VN" sz="2400" dirty="0">
                <a:latin typeface="Times New Roman" panose="02020603050405020304" pitchFamily="18" charset="0"/>
                <a:ea typeface="KaiTi" panose="02010609060101010101" pitchFamily="49" charset="-122"/>
                <a:cs typeface="Times New Roman" panose="02020603050405020304" pitchFamily="18" charset="0"/>
              </a:rPr>
              <a:t> · 乐 đọc lè = vui; yuè = nhạc</a:t>
            </a:r>
          </a:p>
          <a:p>
            <a:pPr>
              <a:spcBef>
                <a:spcPts val="200"/>
              </a:spcBef>
            </a:pPr>
            <a:r>
              <a:rPr lang="zh-CN" sz="2800" dirty="0">
                <a:solidFill>
                  <a:srgbClr val="C00000"/>
                </a:solidFill>
                <a:latin typeface="KaiTi" panose="02010609060101010101" pitchFamily="49" charset="-122"/>
                <a:ea typeface="KaiTi" panose="02010609060101010101" pitchFamily="49" charset="-122"/>
              </a:rPr>
              <a:t>听</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tīng</a:t>
            </a:r>
            <a:r>
              <a:rPr lang="vi-VN" sz="2400" dirty="0">
                <a:latin typeface="Times New Roman" panose="02020603050405020304" pitchFamily="18" charset="0"/>
                <a:ea typeface="KaiTi" panose="02010609060101010101" pitchFamily="49" charset="-122"/>
                <a:cs typeface="Times New Roman" panose="02020603050405020304" pitchFamily="18" charset="0"/>
              </a:rPr>
              <a:t> – nghe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11)</a:t>
            </a:r>
            <a:r>
              <a:rPr lang="vi-VN" sz="2400" dirty="0">
                <a:latin typeface="Times New Roman" panose="02020603050405020304" pitchFamily="18" charset="0"/>
                <a:ea typeface="KaiTi" panose="02010609060101010101" pitchFamily="49" charset="-122"/>
                <a:cs typeface="Times New Roman" panose="02020603050405020304" pitchFamily="18" charset="0"/>
              </a:rPr>
              <a:t> · 听音乐</a:t>
            </a:r>
          </a:p>
        </p:txBody>
      </p:sp>
      <p:sp>
        <p:nvSpPr>
          <p:cNvPr id="12295" name="Ví dụ thêm 12295"/>
          <p:cNvSpPr txBox="1"/>
          <p:nvPr/>
        </p:nvSpPr>
        <p:spPr>
          <a:xfrm>
            <a:off x="7200000" y="186909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我喜欢听音乐。</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xǐhuan tīng yīnyuè.</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Tôi thích nghe nhạc.</a:t>
            </a:r>
          </a:p>
        </p:txBody>
      </p:sp>
    </p:spTree>
    <p:extLst>
      <p:ext uri="{BB962C8B-B14F-4D97-AF65-F5344CB8AC3E}">
        <p14:creationId xmlns:p14="http://schemas.microsoft.com/office/powerpoint/2010/main" val="24121163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dissolve">
                                      <p:cBhvr>
                                        <p:cTn id="7" dur="500"/>
                                        <p:tgtEl>
                                          <p:spTgt spid="122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5"/>
                                        </p:tgtEl>
                                        <p:attrNameLst>
                                          <p:attrName>style.visibility</p:attrName>
                                        </p:attrNameLst>
                                      </p:cBhvr>
                                      <p:to>
                                        <p:strVal val="visible"/>
                                      </p:to>
                                    </p:set>
                                    <p:animEffect transition="in" filter="wipe(left)">
                                      <p:cBhvr>
                                        <p:cTn id="12" dur="500"/>
                                        <p:tgtEl>
                                          <p:spTgt spid="122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294"/>
                                        </p:tgtEl>
                                        <p:attrNameLst>
                                          <p:attrName>style.visibility</p:attrName>
                                        </p:attrNameLst>
                                      </p:cBhvr>
                                      <p:to>
                                        <p:strVal val="visible"/>
                                      </p:to>
                                    </p:set>
                                    <p:animEffect transition="in" filter="wipe(left)">
                                      <p:cBhvr>
                                        <p:cTn id="17"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5950967"/>
              </p:ext>
            </p:extLst>
          </p:nvPr>
        </p:nvGraphicFramePr>
        <p:xfrm>
          <a:off x="443347" y="223983"/>
          <a:ext cx="11222181" cy="1525113"/>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06985">
                <a:tc>
                  <a:txBody>
                    <a:bodyPr/>
                    <a:lstStyle/>
                    <a:p>
                      <a:pPr marL="0" indent="0" algn="ctr" defTabSz="914400" rtl="0" eaLnBrk="1" fontAlgn="b"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东西</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b="0" i="1" kern="1200">
                          <a:solidFill>
                            <a:schemeClr val="dk1"/>
                          </a:solidFill>
                          <a:effectLst/>
                          <a:latin typeface="Times New Roman" panose="02020603050405020304" pitchFamily="18" charset="0"/>
                          <a:ea typeface="+mn-ea"/>
                          <a:cs typeface="Times New Roman" panose="02020603050405020304" pitchFamily="18" charset="0"/>
                        </a:rPr>
                        <a:t>dōngx</a:t>
                      </a:r>
                      <a:r>
                        <a:rPr lang="vi-VN" sz="3200" b="0" i="1" kern="1200">
                          <a:solidFill>
                            <a:schemeClr val="dk1"/>
                          </a:solidFill>
                          <a:effectLst/>
                          <a:latin typeface="Times New Roman" panose="02020603050405020304" pitchFamily="18" charset="0"/>
                          <a:ea typeface="+mn-ea"/>
                          <a:cs typeface="Times New Roman" panose="02020603050405020304" pitchFamily="18" charset="0"/>
                        </a:rPr>
                        <a:t>i</a:t>
                      </a:r>
                      <a:endParaRPr lang="en-US" sz="3200" b="0" i="1" kern="1200">
                        <a:solidFill>
                          <a:schemeClr val="dk1"/>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宋体" panose="02010600030101010101" pitchFamily="2" charset="-122"/>
                          <a:ea typeface="宋体" panose="02010600030101010101" pitchFamily="2" charset="-122"/>
                          <a:cs typeface="+mn-cs"/>
                        </a:rPr>
                        <a:t>名</a:t>
                      </a:r>
                      <a:endParaRPr lang="en-US" sz="32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a:solidFill>
                            <a:schemeClr val="dk1"/>
                          </a:solidFill>
                          <a:latin typeface="Times New Roman" panose="02020603050405020304" pitchFamily="18" charset="0"/>
                          <a:ea typeface="+mn-ea"/>
                          <a:cs typeface="Times New Roman" panose="02020603050405020304" pitchFamily="18" charset="0"/>
                        </a:rPr>
                        <a:t>Đồ, đồ vật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61815694"/>
                  </a:ext>
                </a:extLst>
              </a:tr>
            </a:tbl>
          </a:graphicData>
        </a:graphic>
      </p:graphicFrame>
      <p:pic>
        <p:nvPicPr>
          <p:cNvPr id="13314" name="Picture 2" descr="东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3347" y="1849871"/>
            <a:ext cx="1831767" cy="183176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西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43348" y="3814617"/>
            <a:ext cx="1911268" cy="1911269"/>
          </a:xfrm>
          <a:prstGeom prst="rect">
            <a:avLst/>
          </a:prstGeom>
          <a:noFill/>
          <a:extLst>
            <a:ext uri="{909E8E84-426E-40DD-AFC4-6F175D3DCCD1}">
              <a14:hiddenFill xmlns:a14="http://schemas.microsoft.com/office/drawing/2010/main">
                <a:solidFill>
                  <a:srgbClr val="FFFFFF"/>
                </a:solidFill>
              </a14:hiddenFill>
            </a:ext>
          </a:extLst>
        </p:spPr>
      </p:pic>
      <p:sp>
        <p:nvSpPr>
          <p:cNvPr id="13317" name="Chiết tự 13317"/>
          <p:cNvSpPr txBox="1"/>
          <p:nvPr/>
        </p:nvSpPr>
        <p:spPr>
          <a:xfrm>
            <a:off x="2700000" y="1869096"/>
            <a:ext cx="4400000" cy="196880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东西 = </a:t>
            </a:r>
            <a:r>
              <a:rPr lang="zh-CN" sz="3600" dirty="0">
                <a:latin typeface="KaiTi" panose="02010609060101010101" pitchFamily="49" charset="-122"/>
                <a:ea typeface="KaiTi" panose="02010609060101010101" pitchFamily="49" charset="-122"/>
              </a:rPr>
              <a:t>东</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西</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东西 (dōngxi, nhẹ) = đồ vật   ≠   东西 (dōngxī) = đông và tây</a:t>
            </a:r>
          </a:p>
        </p:txBody>
      </p:sp>
      <p:sp>
        <p:nvSpPr>
          <p:cNvPr id="13318" name="Nhớ lại 13318"/>
          <p:cNvSpPr txBox="1"/>
          <p:nvPr/>
        </p:nvSpPr>
        <p:spPr>
          <a:xfrm>
            <a:off x="7200000" y="1869096"/>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东边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dōngbian</a:t>
            </a:r>
            <a:r>
              <a:rPr lang="vi-VN" sz="2400" dirty="0">
                <a:latin typeface="Times New Roman" panose="02020603050405020304" pitchFamily="18" charset="0"/>
                <a:ea typeface="KaiTi" panose="02010609060101010101" pitchFamily="49" charset="-122"/>
                <a:cs typeface="Times New Roman" panose="02020603050405020304" pitchFamily="18" charset="0"/>
              </a:rPr>
              <a:t> – phía đông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东</a:t>
            </a:r>
          </a:p>
          <a:p>
            <a:pPr>
              <a:spcBef>
                <a:spcPts val="200"/>
              </a:spcBef>
            </a:pPr>
            <a:r>
              <a:rPr lang="zh-CN" sz="2800" dirty="0">
                <a:solidFill>
                  <a:srgbClr val="C00000"/>
                </a:solidFill>
                <a:latin typeface="KaiTi" panose="02010609060101010101" pitchFamily="49" charset="-122"/>
                <a:ea typeface="KaiTi" panose="02010609060101010101" pitchFamily="49" charset="-122"/>
              </a:rPr>
              <a:t>西边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xībian</a:t>
            </a:r>
            <a:r>
              <a:rPr lang="vi-VN" sz="2400" dirty="0">
                <a:latin typeface="Times New Roman" panose="02020603050405020304" pitchFamily="18" charset="0"/>
                <a:ea typeface="KaiTi" panose="02010609060101010101" pitchFamily="49" charset="-122"/>
                <a:cs typeface="Times New Roman" panose="02020603050405020304" pitchFamily="18" charset="0"/>
              </a:rPr>
              <a:t> – phía tây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西</a:t>
            </a:r>
          </a:p>
          <a:p>
            <a:pPr>
              <a:spcBef>
                <a:spcPts val="200"/>
              </a:spcBef>
            </a:pPr>
            <a:r>
              <a:rPr lang="zh-CN" sz="2800" dirty="0">
                <a:solidFill>
                  <a:srgbClr val="C00000"/>
                </a:solidFill>
                <a:latin typeface="KaiTi" panose="02010609060101010101" pitchFamily="49" charset="-122"/>
                <a:ea typeface="KaiTi" panose="02010609060101010101" pitchFamily="49" charset="-122"/>
              </a:rPr>
              <a:t>买东西</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mǎi dōngxi</a:t>
            </a:r>
            <a:r>
              <a:rPr lang="vi-VN" sz="2400" dirty="0">
                <a:latin typeface="Times New Roman" panose="02020603050405020304" pitchFamily="18" charset="0"/>
                <a:ea typeface="KaiTi" panose="02010609060101010101" pitchFamily="49" charset="-122"/>
                <a:cs typeface="Times New Roman" panose="02020603050405020304" pitchFamily="18" charset="0"/>
              </a:rPr>
              <a:t> – mua đồ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đã gặp ở Bài 9</a:t>
            </a:r>
          </a:p>
        </p:txBody>
      </p:sp>
      <p:sp>
        <p:nvSpPr>
          <p:cNvPr id="13319" name="Ví dụ thêm 13319"/>
          <p:cNvSpPr txBox="1"/>
          <p:nvPr/>
        </p:nvSpPr>
        <p:spPr>
          <a:xfrm>
            <a:off x="2700000" y="3909096"/>
            <a:ext cx="4400000" cy="1774948"/>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周末我去超市买东西。</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Zhōumò wǒ qù chāoshì mǎi dōngxi.</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Cuối tuần tôi đi siêu thị mua đồ.</a:t>
            </a:r>
          </a:p>
        </p:txBody>
      </p:sp>
    </p:spTree>
    <p:extLst>
      <p:ext uri="{BB962C8B-B14F-4D97-AF65-F5344CB8AC3E}">
        <p14:creationId xmlns:p14="http://schemas.microsoft.com/office/powerpoint/2010/main" val="18332671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dissolve">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9"/>
                                        </p:tgtEl>
                                        <p:attrNameLst>
                                          <p:attrName>style.visibility</p:attrName>
                                        </p:attrNameLst>
                                      </p:cBhvr>
                                      <p:to>
                                        <p:strVal val="visible"/>
                                      </p:to>
                                    </p:set>
                                    <p:animEffect transition="in" filter="wipe(left)">
                                      <p:cBhvr>
                                        <p:cTn id="12" dur="500"/>
                                        <p:tgtEl>
                                          <p:spTgt spid="133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8"/>
                                        </p:tgtEl>
                                        <p:attrNameLst>
                                          <p:attrName>style.visibility</p:attrName>
                                        </p:attrNameLst>
                                      </p:cBhvr>
                                      <p:to>
                                        <p:strVal val="visible"/>
                                      </p:to>
                                    </p:set>
                                    <p:animEffect transition="in" filter="wipe(left)">
                                      <p:cBhvr>
                                        <p:cTn id="17"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06507187"/>
              </p:ext>
            </p:extLst>
          </p:nvPr>
        </p:nvGraphicFramePr>
        <p:xfrm>
          <a:off x="443347" y="223983"/>
          <a:ext cx="11222181" cy="1525113"/>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06985">
                <a:tc>
                  <a:txBody>
                    <a:bodyPr/>
                    <a:lstStyle/>
                    <a:p>
                      <a:pPr marL="0" indent="0" algn="ctr" defTabSz="914400" rtl="0" eaLnBrk="1" fontAlgn="b"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一块儿</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yík</a:t>
                      </a:r>
                      <a:r>
                        <a:rPr lang="en-US" sz="3200" b="0" i="1" kern="1200">
                          <a:solidFill>
                            <a:schemeClr val="dk1"/>
                          </a:solidFill>
                          <a:effectLst/>
                          <a:latin typeface="Times New Roman" panose="02020603050405020304" pitchFamily="18" charset="0"/>
                          <a:ea typeface="+mn-ea"/>
                          <a:cs typeface="Times New Roman" panose="02020603050405020304" pitchFamily="18" charset="0"/>
                        </a:rPr>
                        <a:t>uài</a:t>
                      </a: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r</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宋体" panose="02010600030101010101" pitchFamily="2" charset="-122"/>
                          <a:ea typeface="宋体" panose="02010600030101010101" pitchFamily="2" charset="-122"/>
                          <a:cs typeface="+mn-cs"/>
                        </a:rPr>
                        <a:t>副</a:t>
                      </a:r>
                      <a:endParaRPr lang="en-US" sz="32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a:solidFill>
                            <a:schemeClr val="dk1"/>
                          </a:solidFill>
                          <a:latin typeface="Times New Roman" panose="02020603050405020304" pitchFamily="18" charset="0"/>
                          <a:ea typeface="+mn-ea"/>
                          <a:cs typeface="Times New Roman" panose="02020603050405020304" pitchFamily="18" charset="0"/>
                        </a:rPr>
                        <a:t>Cùng nhau</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043244981"/>
                  </a:ext>
                </a:extLst>
              </a:tr>
            </a:tbl>
          </a:graphicData>
        </a:graphic>
      </p:graphicFrame>
      <p:pic>
        <p:nvPicPr>
          <p:cNvPr id="14338" name="Picture 2" descr="一的笔顺"/>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74356" y="2177673"/>
            <a:ext cx="1334702" cy="1334703"/>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块的笔顺"/>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74357" y="3591210"/>
            <a:ext cx="1334702" cy="1334703"/>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儿的笔顺"/>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74356" y="5052954"/>
            <a:ext cx="1406719" cy="15251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73172481"/>
              </p:ext>
            </p:extLst>
          </p:nvPr>
        </p:nvGraphicFramePr>
        <p:xfrm>
          <a:off x="5818910" y="1991584"/>
          <a:ext cx="5846618" cy="853440"/>
        </p:xfrm>
        <a:graphic>
          <a:graphicData uri="http://schemas.openxmlformats.org/drawingml/2006/table">
            <a:tbl>
              <a:tblPr>
                <a:tableStyleId>{2D5ABB26-0587-4C30-8999-92F81FD0307C}</a:tableStyleId>
              </a:tblPr>
              <a:tblGrid>
                <a:gridCol w="5846618">
                  <a:extLst>
                    <a:ext uri="{9D8B030D-6E8A-4147-A177-3AD203B41FA5}">
                      <a16:colId xmlns:a16="http://schemas.microsoft.com/office/drawing/2014/main" val="697073851"/>
                    </a:ext>
                  </a:extLst>
                </a:gridCol>
              </a:tblGrid>
              <a:tr h="817418">
                <a:tc>
                  <a:txBody>
                    <a:bodyPr/>
                    <a:lstStyle/>
                    <a:p>
                      <a:pPr algn="ctr"/>
                      <a:r>
                        <a:rPr kumimoji="0" lang="zh-CN" altLang="en-US"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我们一块儿吃饭，一块儿聊天</a:t>
                      </a:r>
                      <a: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a:t>
                      </a:r>
                      <a:b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br>
                      <a:r>
                        <a:rPr lang="en-US" sz="2000" i="1" kern="1200" dirty="0" err="1">
                          <a:solidFill>
                            <a:prstClr val="black"/>
                          </a:solidFill>
                          <a:latin typeface="Times New Roman" panose="02020603050405020304" pitchFamily="18" charset="0"/>
                          <a:ea typeface="+mn-ea"/>
                          <a:cs typeface="Times New Roman" panose="02020603050405020304" pitchFamily="18" charset="0"/>
                        </a:rPr>
                        <a:t>Wǒmen</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yí</a:t>
                      </a:r>
                      <a:r>
                        <a:rPr lang="en-US" sz="2000" i="1" kern="1200" dirty="0" err="1">
                          <a:solidFill>
                            <a:prstClr val="black"/>
                          </a:solidFill>
                          <a:latin typeface="Times New Roman" panose="02020603050405020304" pitchFamily="18" charset="0"/>
                          <a:ea typeface="+mn-ea"/>
                          <a:cs typeface="Times New Roman" panose="02020603050405020304" pitchFamily="18" charset="0"/>
                        </a:rPr>
                        <a:t>kuàir</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chīfàn</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yí</a:t>
                      </a:r>
                      <a:r>
                        <a:rPr lang="en-US" sz="2000" i="1" kern="1200" dirty="0" err="1">
                          <a:solidFill>
                            <a:prstClr val="black"/>
                          </a:solidFill>
                          <a:latin typeface="Times New Roman" panose="02020603050405020304" pitchFamily="18" charset="0"/>
                          <a:ea typeface="+mn-ea"/>
                          <a:cs typeface="Times New Roman" panose="02020603050405020304" pitchFamily="18" charset="0"/>
                        </a:rPr>
                        <a:t>kuàir</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liáotiān</a:t>
                      </a:r>
                      <a:r>
                        <a:rPr lang="en-US" sz="2000" i="1" kern="1200" dirty="0">
                          <a:solidFill>
                            <a:prstClr val="black"/>
                          </a:solidFill>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1275510908"/>
                  </a:ext>
                </a:extLst>
              </a:tr>
            </a:tbl>
          </a:graphicData>
        </a:graphic>
      </p:graphicFrame>
    </p:spTree>
    <p:extLst>
      <p:ext uri="{BB962C8B-B14F-4D97-AF65-F5344CB8AC3E}">
        <p14:creationId xmlns:p14="http://schemas.microsoft.com/office/powerpoint/2010/main" val="31843529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D0722-5DBB-2C08-3E33-A351E0F4F4D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717D881-C604-8898-89B0-3D2702EB137B}"/>
              </a:ext>
            </a:extLst>
          </p:cNvPr>
          <p:cNvGraphicFramePr>
            <a:graphicFrameLocks noGrp="1"/>
          </p:cNvGraphicFramePr>
          <p:nvPr/>
        </p:nvGraphicFramePr>
        <p:xfrm>
          <a:off x="443347" y="223983"/>
          <a:ext cx="11222181" cy="1525113"/>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06985">
                <a:tc>
                  <a:txBody>
                    <a:bodyPr/>
                    <a:lstStyle/>
                    <a:p>
                      <a:pPr marL="0" indent="0" algn="ctr" defTabSz="914400" rtl="0" eaLnBrk="1" fontAlgn="b" latinLnBrk="0" hangingPunct="1">
                        <a:buFontTx/>
                        <a:buNone/>
                      </a:pPr>
                      <a:r>
                        <a:rPr lang="en-US" sz="32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一块儿</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yík</a:t>
                      </a:r>
                      <a:r>
                        <a:rPr lang="en-US" sz="3200" b="0" i="1" kern="1200">
                          <a:solidFill>
                            <a:schemeClr val="dk1"/>
                          </a:solidFill>
                          <a:effectLst/>
                          <a:latin typeface="Times New Roman" panose="02020603050405020304" pitchFamily="18" charset="0"/>
                          <a:ea typeface="+mn-ea"/>
                          <a:cs typeface="Times New Roman" panose="02020603050405020304" pitchFamily="18" charset="0"/>
                        </a:rPr>
                        <a:t>uài</a:t>
                      </a:r>
                      <a:r>
                        <a:rPr lang="en-US" altLang="zh-CN" sz="3200" b="0" i="1" kern="1200">
                          <a:solidFill>
                            <a:schemeClr val="dk1"/>
                          </a:solidFill>
                          <a:effectLst/>
                          <a:latin typeface="Times New Roman" panose="02020603050405020304" pitchFamily="18" charset="0"/>
                          <a:ea typeface="+mn-ea"/>
                          <a:cs typeface="Times New Roman" panose="02020603050405020304" pitchFamily="18" charset="0"/>
                        </a:rPr>
                        <a:t>r</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宋体" panose="02010600030101010101" pitchFamily="2" charset="-122"/>
                          <a:ea typeface="宋体" panose="02010600030101010101" pitchFamily="2" charset="-122"/>
                          <a:cs typeface="+mn-cs"/>
                        </a:rPr>
                        <a:t>副</a:t>
                      </a:r>
                      <a:endParaRPr lang="en-US" sz="32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a:solidFill>
                            <a:schemeClr val="dk1"/>
                          </a:solidFill>
                          <a:latin typeface="Times New Roman" panose="02020603050405020304" pitchFamily="18" charset="0"/>
                          <a:ea typeface="+mn-ea"/>
                          <a:cs typeface="Times New Roman" panose="02020603050405020304" pitchFamily="18" charset="0"/>
                        </a:rPr>
                        <a:t>Cùng nhau</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043244981"/>
                  </a:ext>
                </a:extLst>
              </a:tr>
            </a:tbl>
          </a:graphicData>
        </a:graphic>
      </p:graphicFrame>
      <p:pic>
        <p:nvPicPr>
          <p:cNvPr id="14338" name="Picture 2" descr="一的笔顺">
            <a:extLst>
              <a:ext uri="{FF2B5EF4-FFF2-40B4-BE49-F238E27FC236}">
                <a16:creationId xmlns:a16="http://schemas.microsoft.com/office/drawing/2014/main" id="{F06BB30C-E25F-8B77-87BF-A43B7F0CF28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74356" y="2177673"/>
            <a:ext cx="1334702" cy="1334703"/>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块的笔顺">
            <a:extLst>
              <a:ext uri="{FF2B5EF4-FFF2-40B4-BE49-F238E27FC236}">
                <a16:creationId xmlns:a16="http://schemas.microsoft.com/office/drawing/2014/main" id="{43B3F5E7-005B-E562-7393-E94C94536B4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74357" y="3591210"/>
            <a:ext cx="1334702" cy="1334703"/>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儿的笔顺">
            <a:extLst>
              <a:ext uri="{FF2B5EF4-FFF2-40B4-BE49-F238E27FC236}">
                <a16:creationId xmlns:a16="http://schemas.microsoft.com/office/drawing/2014/main" id="{86833E7A-95DF-84C5-298A-5C0FCE3546CA}"/>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74356" y="5052954"/>
            <a:ext cx="1406719" cy="152511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816FA442-2946-274C-80F8-4E88F1F5A49B}"/>
              </a:ext>
            </a:extLst>
          </p:cNvPr>
          <p:cNvGraphicFramePr>
            <a:graphicFrameLocks noGrp="1"/>
          </p:cNvGraphicFramePr>
          <p:nvPr/>
        </p:nvGraphicFramePr>
        <p:xfrm>
          <a:off x="5818910" y="1991584"/>
          <a:ext cx="5846618" cy="853440"/>
        </p:xfrm>
        <a:graphic>
          <a:graphicData uri="http://schemas.openxmlformats.org/drawingml/2006/table">
            <a:tbl>
              <a:tblPr>
                <a:tableStyleId>{2D5ABB26-0587-4C30-8999-92F81FD0307C}</a:tableStyleId>
              </a:tblPr>
              <a:tblGrid>
                <a:gridCol w="5846618">
                  <a:extLst>
                    <a:ext uri="{9D8B030D-6E8A-4147-A177-3AD203B41FA5}">
                      <a16:colId xmlns:a16="http://schemas.microsoft.com/office/drawing/2014/main" val="697073851"/>
                    </a:ext>
                  </a:extLst>
                </a:gridCol>
              </a:tblGrid>
              <a:tr h="817418">
                <a:tc>
                  <a:txBody>
                    <a:bodyPr/>
                    <a:lstStyle/>
                    <a:p>
                      <a:pPr algn="ctr"/>
                      <a:r>
                        <a:rPr kumimoji="0" lang="zh-CN" altLang="en-US"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我们一块儿吃饭，一块儿聊天</a:t>
                      </a:r>
                      <a: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t>.</a:t>
                      </a:r>
                      <a:br>
                        <a:rPr kumimoji="0" lang="en-US" altLang="zh-CN" sz="3000" b="0" i="0" u="none" strike="noStrike" kern="1200" cap="none" spc="0" normalizeH="0" baseline="0" dirty="0">
                          <a:ln>
                            <a:noFill/>
                          </a:ln>
                          <a:solidFill>
                            <a:srgbClr val="00B050"/>
                          </a:solidFill>
                          <a:effectLst/>
                          <a:uLnTx/>
                          <a:uFillTx/>
                          <a:latin typeface="KaiTi" panose="02010609060101010101" pitchFamily="49" charset="-122"/>
                          <a:ea typeface="KaiTi" panose="02010609060101010101" pitchFamily="49" charset="-122"/>
                          <a:cs typeface="+mn-cs"/>
                        </a:rPr>
                      </a:br>
                      <a:r>
                        <a:rPr lang="en-US" sz="2000" i="1" kern="1200" dirty="0" err="1">
                          <a:solidFill>
                            <a:prstClr val="black"/>
                          </a:solidFill>
                          <a:latin typeface="Times New Roman" panose="02020603050405020304" pitchFamily="18" charset="0"/>
                          <a:ea typeface="+mn-ea"/>
                          <a:cs typeface="Times New Roman" panose="02020603050405020304" pitchFamily="18" charset="0"/>
                        </a:rPr>
                        <a:t>Wǒmen</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yí</a:t>
                      </a:r>
                      <a:r>
                        <a:rPr lang="en-US" sz="2000" i="1" kern="1200" dirty="0" err="1">
                          <a:solidFill>
                            <a:prstClr val="black"/>
                          </a:solidFill>
                          <a:latin typeface="Times New Roman" panose="02020603050405020304" pitchFamily="18" charset="0"/>
                          <a:ea typeface="+mn-ea"/>
                          <a:cs typeface="Times New Roman" panose="02020603050405020304" pitchFamily="18" charset="0"/>
                        </a:rPr>
                        <a:t>kuàir</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chīfàn</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altLang="zh-CN" sz="2000" i="1" kern="1200" dirty="0" err="1">
                          <a:solidFill>
                            <a:prstClr val="black"/>
                          </a:solidFill>
                          <a:latin typeface="Times New Roman" panose="02020603050405020304" pitchFamily="18" charset="0"/>
                          <a:ea typeface="+mn-ea"/>
                          <a:cs typeface="Times New Roman" panose="02020603050405020304" pitchFamily="18" charset="0"/>
                        </a:rPr>
                        <a:t>yí</a:t>
                      </a:r>
                      <a:r>
                        <a:rPr lang="en-US" sz="2000" i="1" kern="1200" dirty="0" err="1">
                          <a:solidFill>
                            <a:prstClr val="black"/>
                          </a:solidFill>
                          <a:latin typeface="Times New Roman" panose="02020603050405020304" pitchFamily="18" charset="0"/>
                          <a:ea typeface="+mn-ea"/>
                          <a:cs typeface="Times New Roman" panose="02020603050405020304" pitchFamily="18" charset="0"/>
                        </a:rPr>
                        <a:t>kuàir</a:t>
                      </a:r>
                      <a:r>
                        <a:rPr lang="en-US" sz="2000" i="1" kern="1200" dirty="0">
                          <a:solidFill>
                            <a:prstClr val="black"/>
                          </a:solidFill>
                          <a:latin typeface="Times New Roman" panose="02020603050405020304" pitchFamily="18" charset="0"/>
                          <a:ea typeface="+mn-ea"/>
                          <a:cs typeface="Times New Roman" panose="02020603050405020304" pitchFamily="18" charset="0"/>
                        </a:rPr>
                        <a:t> </a:t>
                      </a:r>
                      <a:r>
                        <a:rPr lang="en-US" sz="2000" i="1" kern="1200" dirty="0" err="1">
                          <a:solidFill>
                            <a:prstClr val="black"/>
                          </a:solidFill>
                          <a:latin typeface="Times New Roman" panose="02020603050405020304" pitchFamily="18" charset="0"/>
                          <a:ea typeface="+mn-ea"/>
                          <a:cs typeface="Times New Roman" panose="02020603050405020304" pitchFamily="18" charset="0"/>
                        </a:rPr>
                        <a:t>liáotiān</a:t>
                      </a:r>
                      <a:r>
                        <a:rPr lang="en-US" sz="2000" i="1" kern="1200" dirty="0">
                          <a:solidFill>
                            <a:prstClr val="black"/>
                          </a:solidFill>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1275510908"/>
                  </a:ext>
                </a:extLst>
              </a:tr>
            </a:tbl>
          </a:graphicData>
        </a:graphic>
      </p:graphicFrame>
      <p:sp>
        <p:nvSpPr>
          <p:cNvPr id="14343" name="Nhớ lại 14343"/>
          <p:cNvSpPr txBox="1"/>
          <p:nvPr/>
        </p:nvSpPr>
        <p:spPr>
          <a:xfrm>
            <a:off x="2700000" y="2949096"/>
            <a:ext cx="47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一起</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yìqǐ</a:t>
            </a:r>
            <a:r>
              <a:rPr lang="vi-VN" sz="2400" dirty="0">
                <a:latin typeface="Times New Roman" panose="02020603050405020304" pitchFamily="18" charset="0"/>
                <a:ea typeface="KaiTi" panose="02010609060101010101" pitchFamily="49" charset="-122"/>
                <a:cs typeface="Times New Roman" panose="02020603050405020304" pitchFamily="18" charset="0"/>
              </a:rPr>
              <a:t> – cùng nhau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4)</a:t>
            </a:r>
            <a:r>
              <a:rPr lang="vi-VN" sz="2400" dirty="0">
                <a:latin typeface="Times New Roman" panose="02020603050405020304" pitchFamily="18" charset="0"/>
                <a:ea typeface="KaiTi" panose="02010609060101010101" pitchFamily="49" charset="-122"/>
                <a:cs typeface="Times New Roman" panose="02020603050405020304" pitchFamily="18" charset="0"/>
              </a:rPr>
              <a:t> · đồng nghĩa với 一块儿</a:t>
            </a:r>
          </a:p>
          <a:p>
            <a:pPr>
              <a:spcBef>
                <a:spcPts val="200"/>
              </a:spcBef>
            </a:pPr>
            <a:r>
              <a:rPr lang="zh-CN" sz="2800" dirty="0">
                <a:solidFill>
                  <a:srgbClr val="C00000"/>
                </a:solidFill>
                <a:latin typeface="KaiTi" panose="02010609060101010101" pitchFamily="49" charset="-122"/>
                <a:ea typeface="KaiTi" panose="02010609060101010101" pitchFamily="49" charset="-122"/>
              </a:rPr>
              <a:t>块</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kuài</a:t>
            </a:r>
            <a:r>
              <a:rPr lang="vi-VN" sz="2400" dirty="0">
                <a:latin typeface="Times New Roman" panose="02020603050405020304" pitchFamily="18" charset="0"/>
                <a:ea typeface="KaiTi" panose="02010609060101010101" pitchFamily="49" charset="-122"/>
                <a:cs typeface="Times New Roman" panose="02020603050405020304" pitchFamily="18" charset="0"/>
              </a:rPr>
              <a:t> – đồng (tiền)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6)</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块</a:t>
            </a:r>
          </a:p>
          <a:p>
            <a:pPr>
              <a:spcBef>
                <a:spcPts val="200"/>
              </a:spcBef>
            </a:pPr>
            <a:r>
              <a:rPr lang="zh-CN" sz="2800" dirty="0">
                <a:solidFill>
                  <a:srgbClr val="C00000"/>
                </a:solidFill>
                <a:latin typeface="KaiTi" panose="02010609060101010101" pitchFamily="49" charset="-122"/>
                <a:ea typeface="KaiTi" panose="02010609060101010101" pitchFamily="49" charset="-122"/>
              </a:rPr>
              <a:t>哪儿</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nǎr</a:t>
            </a:r>
            <a:r>
              <a:rPr lang="vi-VN" sz="2400" dirty="0">
                <a:latin typeface="Times New Roman" panose="02020603050405020304" pitchFamily="18" charset="0"/>
                <a:ea typeface="KaiTi" panose="02010609060101010101" pitchFamily="49" charset="-122"/>
                <a:cs typeface="Times New Roman" panose="02020603050405020304" pitchFamily="18" charset="0"/>
              </a:rPr>
              <a:t> – ở đâu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儿 – âm uốn lưỡi</a:t>
            </a:r>
          </a:p>
        </p:txBody>
      </p:sp>
    </p:spTree>
    <p:extLst>
      <p:ext uri="{BB962C8B-B14F-4D97-AF65-F5344CB8AC3E}">
        <p14:creationId xmlns:p14="http://schemas.microsoft.com/office/powerpoint/2010/main" val="12442274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43"/>
                                        </p:tgtEl>
                                        <p:attrNameLst>
                                          <p:attrName>style.visibility</p:attrName>
                                        </p:attrNameLst>
                                      </p:cBhvr>
                                      <p:to>
                                        <p:strVal val="visible"/>
                                      </p:to>
                                    </p:set>
                                    <p:animEffect transition="in" filter="wipe(left)">
                                      <p:cBhvr>
                                        <p:cTn id="12"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2A7A-DE81-E0AD-B710-5C55CD1587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B7FD1A-7B82-28A2-5298-672132AACC03}"/>
              </a:ext>
            </a:extLst>
          </p:cNvPr>
          <p:cNvSpPr txBox="1"/>
          <p:nvPr/>
        </p:nvSpPr>
        <p:spPr>
          <a:xfrm>
            <a:off x="1991503" y="470022"/>
            <a:ext cx="1532792" cy="584775"/>
          </a:xfrm>
          <a:prstGeom prst="rect">
            <a:avLst/>
          </a:prstGeom>
          <a:solidFill>
            <a:schemeClr val="accent6">
              <a:lumMod val="20000"/>
              <a:lumOff val="80000"/>
            </a:schemeClr>
          </a:solidFill>
        </p:spPr>
        <p:txBody>
          <a:bodyPr wrap="none" rtlCol="0">
            <a:spAutoFit/>
          </a:bodyPr>
          <a:lstStyle/>
          <a:p>
            <a:r>
              <a:rPr lang="en-VN" sz="3200" dirty="0">
                <a:latin typeface="Times New Roman" panose="02020603050405020304" pitchFamily="18" charset="0"/>
                <a:ea typeface="KaiTi" panose="02010609060101010101" pitchFamily="49" charset="-122"/>
                <a:cs typeface="Times New Roman" panose="02020603050405020304" pitchFamily="18" charset="0"/>
              </a:rPr>
              <a:t>一起</a:t>
            </a:r>
            <a:r>
              <a:rPr lang="en-US" altLang="zh-CN" sz="3200" dirty="0">
                <a:latin typeface="Times New Roman" panose="02020603050405020304" pitchFamily="18" charset="0"/>
                <a:ea typeface="KaiTi" panose="02010609060101010101" pitchFamily="49" charset="-122"/>
                <a:cs typeface="Times New Roman" panose="02020603050405020304" pitchFamily="18" charset="0"/>
              </a:rPr>
              <a:t>+V</a:t>
            </a:r>
            <a:endParaRPr lang="en-VN" i="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5" name="TextBox 4">
            <a:extLst>
              <a:ext uri="{FF2B5EF4-FFF2-40B4-BE49-F238E27FC236}">
                <a16:creationId xmlns:a16="http://schemas.microsoft.com/office/drawing/2014/main" id="{95F66B5C-5665-60EA-549E-A7912CA8BE67}"/>
              </a:ext>
            </a:extLst>
          </p:cNvPr>
          <p:cNvSpPr txBox="1"/>
          <p:nvPr/>
        </p:nvSpPr>
        <p:spPr>
          <a:xfrm>
            <a:off x="8840146" y="393634"/>
            <a:ext cx="1943161" cy="584775"/>
          </a:xfrm>
          <a:prstGeom prst="rect">
            <a:avLst/>
          </a:prstGeom>
          <a:solidFill>
            <a:schemeClr val="accent2">
              <a:lumMod val="20000"/>
              <a:lumOff val="80000"/>
            </a:schemeClr>
          </a:solidFill>
        </p:spPr>
        <p:txBody>
          <a:bodyPr wrap="none" rtlCol="0">
            <a:spAutoFit/>
          </a:bodyPr>
          <a:lstStyle/>
          <a:p>
            <a:pPr algn="ctr"/>
            <a:r>
              <a:rPr lang="en-VN" sz="3200" dirty="0">
                <a:latin typeface="Times New Roman" panose="02020603050405020304" pitchFamily="18" charset="0"/>
                <a:ea typeface="KaiTi" panose="02010609060101010101" pitchFamily="49" charset="-122"/>
                <a:cs typeface="Times New Roman" panose="02020603050405020304" pitchFamily="18" charset="0"/>
              </a:rPr>
              <a:t>一块儿</a:t>
            </a:r>
            <a:r>
              <a:rPr lang="en-US" altLang="zh-CN" sz="3200" dirty="0">
                <a:latin typeface="Times New Roman" panose="02020603050405020304" pitchFamily="18" charset="0"/>
                <a:ea typeface="KaiTi" panose="02010609060101010101" pitchFamily="49" charset="-122"/>
                <a:cs typeface="Times New Roman" panose="02020603050405020304" pitchFamily="18" charset="0"/>
              </a:rPr>
              <a:t>+V</a:t>
            </a:r>
            <a:endParaRPr lang="en-VN" i="1" dirty="0">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8344531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88412861"/>
              </p:ext>
            </p:extLst>
          </p:nvPr>
        </p:nvGraphicFramePr>
        <p:xfrm>
          <a:off x="443347" y="223983"/>
          <a:ext cx="11222181" cy="1525113"/>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06985">
                <a:tc>
                  <a:txBody>
                    <a:bodyPr/>
                    <a:lstStyle/>
                    <a:p>
                      <a:pPr marL="0" indent="0" algn="ctr" defTabSz="914400" rtl="0" eaLnBrk="1" fontAlgn="b" latinLnBrk="0" hangingPunct="1">
                        <a:buFontTx/>
                        <a:buNone/>
                      </a:pPr>
                      <a:r>
                        <a:rPr lang="en-US" sz="3200" i="0" kern="1200" dirty="0">
                          <a:solidFill>
                            <a:schemeClr val="dk1"/>
                          </a:solidFill>
                          <a:latin typeface="Times New Roman" panose="02020603050405020304" pitchFamily="18" charset="0"/>
                          <a:ea typeface="+mn-ea"/>
                          <a:cs typeface="Times New Roman" panose="02020603050405020304" pitchFamily="18" charset="0"/>
                        </a:rPr>
                        <a:t>1</a:t>
                      </a:r>
                      <a:r>
                        <a:rPr lang="en-US" altLang="zh-CN" sz="3200" i="0" kern="1200" dirty="0">
                          <a:solidFill>
                            <a:schemeClr val="dk1"/>
                          </a:solidFill>
                          <a:latin typeface="Times New Roman" panose="02020603050405020304" pitchFamily="18" charset="0"/>
                          <a:ea typeface="+mn-ea"/>
                          <a:cs typeface="Times New Roman" panose="02020603050405020304" pitchFamily="18" charset="0"/>
                        </a:rPr>
                        <a:t>2</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房间</a:t>
                      </a:r>
                      <a:endParaRPr lang="en-US" sz="34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200" b="0" i="1" kern="1200">
                          <a:solidFill>
                            <a:schemeClr val="dk1"/>
                          </a:solidFill>
                          <a:effectLst/>
                          <a:latin typeface="Times New Roman" panose="02020603050405020304" pitchFamily="18" charset="0"/>
                          <a:ea typeface="+mn-ea"/>
                          <a:cs typeface="Times New Roman" panose="02020603050405020304" pitchFamily="18" charset="0"/>
                        </a:rPr>
                        <a:t>fángjiān</a:t>
                      </a: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a:solidFill>
                            <a:schemeClr val="dk1"/>
                          </a:solidFill>
                          <a:latin typeface="宋体" panose="02010600030101010101" pitchFamily="2" charset="-122"/>
                          <a:ea typeface="宋体" panose="02010600030101010101" pitchFamily="2" charset="-122"/>
                          <a:cs typeface="+mn-cs"/>
                        </a:rPr>
                        <a:t>名</a:t>
                      </a:r>
                      <a:endParaRPr lang="en-US" sz="3200" kern="120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dirty="0" err="1">
                          <a:solidFill>
                            <a:schemeClr val="dk1"/>
                          </a:solidFill>
                          <a:latin typeface="Times New Roman" panose="02020603050405020304" pitchFamily="18" charset="0"/>
                          <a:ea typeface="+mn-ea"/>
                          <a:cs typeface="Times New Roman" panose="02020603050405020304" pitchFamily="18" charset="0"/>
                        </a:rPr>
                        <a:t>Phòng</a:t>
                      </a:r>
                      <a:r>
                        <a:rPr lang="en-US" sz="3200" kern="1200" dirty="0">
                          <a:solidFill>
                            <a:schemeClr val="dk1"/>
                          </a:solidFill>
                          <a:latin typeface="Times New Roman" panose="02020603050405020304" pitchFamily="18" charset="0"/>
                          <a:ea typeface="+mn-ea"/>
                          <a:cs typeface="Times New Roman" panose="02020603050405020304" pitchFamily="18" charset="0"/>
                        </a:rPr>
                        <a:t>, </a:t>
                      </a:r>
                      <a:r>
                        <a:rPr lang="en-US" sz="3200" kern="1200" dirty="0" err="1">
                          <a:solidFill>
                            <a:schemeClr val="dk1"/>
                          </a:solidFill>
                          <a:latin typeface="Times New Roman" panose="02020603050405020304" pitchFamily="18" charset="0"/>
                          <a:ea typeface="+mn-ea"/>
                          <a:cs typeface="Times New Roman" panose="02020603050405020304" pitchFamily="18" charset="0"/>
                        </a:rPr>
                        <a:t>căn</a:t>
                      </a:r>
                      <a:r>
                        <a:rPr lang="en-US" sz="3200" kern="1200" dirty="0">
                          <a:solidFill>
                            <a:schemeClr val="dk1"/>
                          </a:solidFill>
                          <a:latin typeface="Times New Roman" panose="02020603050405020304" pitchFamily="18" charset="0"/>
                          <a:ea typeface="+mn-ea"/>
                          <a:cs typeface="Times New Roman" panose="02020603050405020304" pitchFamily="18" charset="0"/>
                        </a:rPr>
                        <a:t> </a:t>
                      </a:r>
                      <a:r>
                        <a:rPr lang="en-US" sz="3200" kern="1200" dirty="0" err="1">
                          <a:solidFill>
                            <a:schemeClr val="dk1"/>
                          </a:solidFill>
                          <a:latin typeface="Times New Roman" panose="02020603050405020304" pitchFamily="18" charset="0"/>
                          <a:ea typeface="+mn-ea"/>
                          <a:cs typeface="Times New Roman" panose="02020603050405020304" pitchFamily="18" charset="0"/>
                        </a:rPr>
                        <a:t>phòng</a:t>
                      </a:r>
                      <a:endParaRPr lang="en-US" sz="320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597462639"/>
                  </a:ext>
                </a:extLst>
              </a:tr>
            </a:tbl>
          </a:graphicData>
        </a:graphic>
      </p:graphicFrame>
      <p:sp>
        <p:nvSpPr>
          <p:cNvPr id="5" name="Chiết tự 5"/>
          <p:cNvSpPr txBox="1"/>
          <p:nvPr/>
        </p:nvSpPr>
        <p:spPr>
          <a:xfrm>
            <a:off x="2700000" y="1869096"/>
            <a:ext cx="4400000" cy="2635160"/>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房 = </a:t>
            </a:r>
            <a:r>
              <a:rPr lang="zh-CN" sz="3600" dirty="0">
                <a:solidFill>
                  <a:srgbClr val="C00000"/>
                </a:solidFill>
                <a:latin typeface="KaiTi" panose="02010609060101010101" pitchFamily="49" charset="-122"/>
                <a:ea typeface="KaiTi" panose="02010609060101010101" pitchFamily="49" charset="-122"/>
              </a:rPr>
              <a:t>户</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方</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Hộ 户 (cửa) + 方</a:t>
            </a:r>
          </a:p>
          <a:p>
            <a:pPr/>
            <a:r>
              <a:rPr lang="zh-CN" sz="3600" dirty="0">
                <a:latin typeface="KaiTi" panose="02010609060101010101" pitchFamily="49" charset="-122"/>
                <a:ea typeface="KaiTi" panose="02010609060101010101" pitchFamily="49" charset="-122"/>
              </a:rPr>
              <a:t>间 = </a:t>
            </a:r>
            <a:r>
              <a:rPr lang="zh-CN" sz="3600" dirty="0">
                <a:solidFill>
                  <a:srgbClr val="C00000"/>
                </a:solidFill>
                <a:latin typeface="KaiTi" panose="02010609060101010101" pitchFamily="49" charset="-122"/>
                <a:ea typeface="KaiTi" panose="02010609060101010101" pitchFamily="49" charset="-122"/>
              </a:rPr>
              <a:t>门</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日</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Môn 门 (cửa) + 日</a:t>
            </a:r>
          </a:p>
        </p:txBody>
      </p:sp>
      <p:sp>
        <p:nvSpPr>
          <p:cNvPr id="6" name="Nhớ lại 6"/>
          <p:cNvSpPr txBox="1"/>
          <p:nvPr/>
        </p:nvSpPr>
        <p:spPr>
          <a:xfrm>
            <a:off x="7200000" y="1869096"/>
            <a:ext cx="4500000" cy="3368171"/>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卫生间</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wèishēngjiān</a:t>
            </a:r>
            <a:r>
              <a:rPr lang="vi-VN" sz="2400" dirty="0">
                <a:latin typeface="Times New Roman" panose="02020603050405020304" pitchFamily="18" charset="0"/>
                <a:ea typeface="KaiTi" panose="02010609060101010101" pitchFamily="49" charset="-122"/>
                <a:cs typeface="Times New Roman" panose="02020603050405020304" pitchFamily="18" charset="0"/>
              </a:rPr>
              <a:t> – nhà vệ sinh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间</a:t>
            </a:r>
          </a:p>
          <a:p>
            <a:pPr>
              <a:spcBef>
                <a:spcPts val="200"/>
              </a:spcBef>
            </a:pPr>
            <a:r>
              <a:rPr lang="zh-CN" sz="2800" dirty="0">
                <a:solidFill>
                  <a:srgbClr val="C00000"/>
                </a:solidFill>
                <a:latin typeface="KaiTi" panose="02010609060101010101" pitchFamily="49" charset="-122"/>
                <a:ea typeface="KaiTi" panose="02010609060101010101" pitchFamily="49" charset="-122"/>
              </a:rPr>
              <a:t>地方</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dìfang</a:t>
            </a:r>
            <a:r>
              <a:rPr lang="vi-VN" sz="2400" dirty="0">
                <a:latin typeface="Times New Roman" panose="02020603050405020304" pitchFamily="18" charset="0"/>
                <a:ea typeface="KaiTi" panose="02010609060101010101" pitchFamily="49" charset="-122"/>
                <a:cs typeface="Times New Roman" panose="02020603050405020304" pitchFamily="18" charset="0"/>
              </a:rPr>
              <a:t> – nơi chốn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7)</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方</a:t>
            </a:r>
          </a:p>
          <a:p>
            <a:pPr>
              <a:spcBef>
                <a:spcPts val="200"/>
              </a:spcBef>
            </a:pPr>
            <a:r>
              <a:rPr lang="zh-CN" sz="2800" dirty="0">
                <a:solidFill>
                  <a:srgbClr val="C00000"/>
                </a:solidFill>
                <a:latin typeface="KaiTi" panose="02010609060101010101" pitchFamily="49" charset="-122"/>
                <a:ea typeface="KaiTi" panose="02010609060101010101" pitchFamily="49" charset="-122"/>
              </a:rPr>
              <a:t>开门</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kāimén</a:t>
            </a:r>
            <a:r>
              <a:rPr lang="vi-VN" sz="2400" dirty="0">
                <a:latin typeface="Times New Roman" panose="02020603050405020304" pitchFamily="18" charset="0"/>
                <a:ea typeface="KaiTi" panose="02010609060101010101" pitchFamily="49" charset="-122"/>
                <a:cs typeface="Times New Roman" panose="02020603050405020304" pitchFamily="18" charset="0"/>
              </a:rPr>
              <a:t> – mở cửa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门</a:t>
            </a:r>
          </a:p>
        </p:txBody>
      </p:sp>
      <p:sp>
        <p:nvSpPr>
          <p:cNvPr id="7" name="Ví dụ thêm 7"/>
          <p:cNvSpPr txBox="1"/>
          <p:nvPr/>
        </p:nvSpPr>
        <p:spPr>
          <a:xfrm>
            <a:off x="2700000" y="4629096"/>
            <a:ext cx="44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我的房间很小。</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de fángjiān hěn xiǎo.</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Phòng của tôi rất nhỏ.</a:t>
            </a:r>
          </a:p>
        </p:txBody>
      </p:sp>
    </p:spTree>
    <p:extLst>
      <p:ext uri="{BB962C8B-B14F-4D97-AF65-F5344CB8AC3E}">
        <p14:creationId xmlns:p14="http://schemas.microsoft.com/office/powerpoint/2010/main" val="1146397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D5179-6185-64B4-FCBC-B3A7EF5543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2BE151D-FE19-D2F8-A745-912C02B8C145}"/>
              </a:ext>
            </a:extLst>
          </p:cNvPr>
          <p:cNvGraphicFramePr>
            <a:graphicFrameLocks noGrp="1"/>
          </p:cNvGraphicFramePr>
          <p:nvPr>
            <p:extLst>
              <p:ext uri="{D42A27DB-BD31-4B8C-83A1-F6EECF244321}">
                <p14:modId xmlns:p14="http://schemas.microsoft.com/office/powerpoint/2010/main" val="3031071141"/>
              </p:ext>
            </p:extLst>
          </p:nvPr>
        </p:nvGraphicFramePr>
        <p:xfrm>
          <a:off x="443347" y="223983"/>
          <a:ext cx="11222181" cy="1576679"/>
        </p:xfrm>
        <a:graphic>
          <a:graphicData uri="http://schemas.openxmlformats.org/drawingml/2006/table">
            <a:tbl>
              <a:tblPr firstRow="1">
                <a:tableStyleId>{5C22544A-7EE6-4342-B048-85BDC9FD1C3A}</a:tableStyleId>
              </a:tblPr>
              <a:tblGrid>
                <a:gridCol w="1157627">
                  <a:extLst>
                    <a:ext uri="{9D8B030D-6E8A-4147-A177-3AD203B41FA5}">
                      <a16:colId xmlns:a16="http://schemas.microsoft.com/office/drawing/2014/main" val="2897192029"/>
                    </a:ext>
                  </a:extLst>
                </a:gridCol>
                <a:gridCol w="2505924">
                  <a:extLst>
                    <a:ext uri="{9D8B030D-6E8A-4147-A177-3AD203B41FA5}">
                      <a16:colId xmlns:a16="http://schemas.microsoft.com/office/drawing/2014/main" val="2090168382"/>
                    </a:ext>
                  </a:extLst>
                </a:gridCol>
                <a:gridCol w="2465067">
                  <a:extLst>
                    <a:ext uri="{9D8B030D-6E8A-4147-A177-3AD203B41FA5}">
                      <a16:colId xmlns:a16="http://schemas.microsoft.com/office/drawing/2014/main" val="964787021"/>
                    </a:ext>
                  </a:extLst>
                </a:gridCol>
                <a:gridCol w="1525345">
                  <a:extLst>
                    <a:ext uri="{9D8B030D-6E8A-4147-A177-3AD203B41FA5}">
                      <a16:colId xmlns:a16="http://schemas.microsoft.com/office/drawing/2014/main" val="934390766"/>
                    </a:ext>
                  </a:extLst>
                </a:gridCol>
                <a:gridCol w="3568218">
                  <a:extLst>
                    <a:ext uri="{9D8B030D-6E8A-4147-A177-3AD203B41FA5}">
                      <a16:colId xmlns:a16="http://schemas.microsoft.com/office/drawing/2014/main" val="1958298950"/>
                    </a:ext>
                  </a:extLst>
                </a:gridCol>
              </a:tblGrid>
              <a:tr h="718128">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Phiên Âm</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32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858551">
                <a:tc>
                  <a:txBody>
                    <a:bodyPr/>
                    <a:lstStyle/>
                    <a:p>
                      <a:pPr marL="0" indent="0" algn="ctr" defTabSz="914400" rtl="0" eaLnBrk="1" fontAlgn="b" latinLnBrk="0" hangingPunct="1">
                        <a:buFontTx/>
                        <a:buNone/>
                      </a:pPr>
                      <a:r>
                        <a:rPr lang="en-US" sz="3200" i="0" kern="1200" dirty="0">
                          <a:solidFill>
                            <a:schemeClr val="dk1"/>
                          </a:solidFill>
                          <a:latin typeface="Times New Roman" panose="02020603050405020304" pitchFamily="18" charset="0"/>
                          <a:ea typeface="+mn-ea"/>
                          <a:cs typeface="Times New Roman" panose="02020603050405020304" pitchFamily="18" charset="0"/>
                        </a:rPr>
                        <a:t>1</a:t>
                      </a:r>
                      <a:r>
                        <a:rPr lang="en-US" altLang="zh-CN" sz="3200" i="0" kern="1200" dirty="0">
                          <a:solidFill>
                            <a:schemeClr val="dk1"/>
                          </a:solidFill>
                          <a:latin typeface="Times New Roman" panose="02020603050405020304" pitchFamily="18" charset="0"/>
                          <a:ea typeface="+mn-ea"/>
                          <a:cs typeface="Times New Roman" panose="02020603050405020304" pitchFamily="18" charset="0"/>
                        </a:rPr>
                        <a:t>3</a:t>
                      </a:r>
                      <a:endParaRPr lang="en-US" sz="32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34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收拾</a:t>
                      </a:r>
                      <a:endParaRPr lang="en-US" sz="34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b="0" i="1" kern="1200" dirty="0" err="1">
                          <a:solidFill>
                            <a:schemeClr val="dk1"/>
                          </a:solidFill>
                          <a:effectLst/>
                          <a:latin typeface="Times New Roman" panose="02020603050405020304" pitchFamily="18" charset="0"/>
                          <a:ea typeface="+mn-ea"/>
                          <a:cs typeface="Times New Roman" panose="02020603050405020304" pitchFamily="18" charset="0"/>
                        </a:rPr>
                        <a:t>shōush</a:t>
                      </a:r>
                      <a:r>
                        <a:rPr lang="vi-VN" sz="3200" b="0" i="1" kern="1200" dirty="0">
                          <a:solidFill>
                            <a:schemeClr val="dk1"/>
                          </a:solidFill>
                          <a:effectLst/>
                          <a:latin typeface="Times New Roman" panose="02020603050405020304" pitchFamily="18" charset="0"/>
                          <a:ea typeface="+mn-ea"/>
                          <a:cs typeface="Times New Roman" panose="02020603050405020304" pitchFamily="18" charset="0"/>
                        </a:rPr>
                        <a:t>i</a:t>
                      </a:r>
                      <a:endParaRPr lang="en-US" sz="3200" b="0" i="1" kern="1200" dirty="0">
                        <a:solidFill>
                          <a:schemeClr val="dk1"/>
                        </a:solidFill>
                        <a:effectLst/>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zh-CN" altLang="en-US" sz="3200" kern="1200" dirty="0">
                          <a:solidFill>
                            <a:schemeClr val="dk1"/>
                          </a:solidFill>
                          <a:latin typeface="宋体" panose="02010600030101010101" pitchFamily="2" charset="-122"/>
                          <a:ea typeface="宋体" panose="02010600030101010101" pitchFamily="2" charset="-122"/>
                          <a:cs typeface="+mn-cs"/>
                        </a:rPr>
                        <a:t>动</a:t>
                      </a:r>
                      <a:endParaRPr lang="en-US" sz="3200" kern="1200" dirty="0">
                        <a:solidFill>
                          <a:schemeClr val="dk1"/>
                        </a:solidFill>
                        <a:latin typeface="宋体" panose="02010600030101010101" pitchFamily="2" charset="-122"/>
                        <a:ea typeface="宋体" panose="02010600030101010101" pitchFamily="2" charset="-122"/>
                        <a:cs typeface="+mn-cs"/>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en-US" sz="3200" kern="1200" dirty="0" err="1">
                          <a:solidFill>
                            <a:schemeClr val="dk1"/>
                          </a:solidFill>
                          <a:latin typeface="Times New Roman" panose="02020603050405020304" pitchFamily="18" charset="0"/>
                          <a:ea typeface="+mn-ea"/>
                          <a:cs typeface="Times New Roman" panose="02020603050405020304" pitchFamily="18" charset="0"/>
                        </a:rPr>
                        <a:t>Dọn</a:t>
                      </a:r>
                      <a:r>
                        <a:rPr lang="en-US" sz="3200" kern="1200" dirty="0">
                          <a:solidFill>
                            <a:schemeClr val="dk1"/>
                          </a:solidFill>
                          <a:latin typeface="Times New Roman" panose="02020603050405020304" pitchFamily="18" charset="0"/>
                          <a:ea typeface="+mn-ea"/>
                          <a:cs typeface="Times New Roman" panose="02020603050405020304" pitchFamily="18" charset="0"/>
                        </a:rPr>
                        <a:t> </a:t>
                      </a:r>
                      <a:r>
                        <a:rPr lang="en-US" sz="3200" kern="1200" dirty="0" err="1">
                          <a:solidFill>
                            <a:schemeClr val="dk1"/>
                          </a:solidFill>
                          <a:latin typeface="Times New Roman" panose="02020603050405020304" pitchFamily="18" charset="0"/>
                          <a:ea typeface="+mn-ea"/>
                          <a:cs typeface="Times New Roman" panose="02020603050405020304" pitchFamily="18" charset="0"/>
                        </a:rPr>
                        <a:t>dẹp</a:t>
                      </a:r>
                      <a:r>
                        <a:rPr lang="en-US" sz="3200" kern="1200" dirty="0">
                          <a:solidFill>
                            <a:schemeClr val="dk1"/>
                          </a:solidFill>
                          <a:latin typeface="Times New Roman" panose="02020603050405020304" pitchFamily="18" charset="0"/>
                          <a:ea typeface="+mn-ea"/>
                          <a:cs typeface="Times New Roman" panose="02020603050405020304" pitchFamily="18" charset="0"/>
                        </a:rPr>
                        <a:t>, </a:t>
                      </a:r>
                      <a:r>
                        <a:rPr lang="en-US" sz="3200" kern="1200" dirty="0" err="1">
                          <a:solidFill>
                            <a:schemeClr val="dk1"/>
                          </a:solidFill>
                          <a:latin typeface="Times New Roman" panose="02020603050405020304" pitchFamily="18" charset="0"/>
                          <a:ea typeface="+mn-ea"/>
                          <a:cs typeface="Times New Roman" panose="02020603050405020304" pitchFamily="18" charset="0"/>
                        </a:rPr>
                        <a:t>thu</a:t>
                      </a:r>
                      <a:r>
                        <a:rPr lang="en-US" sz="3200" kern="1200" dirty="0">
                          <a:solidFill>
                            <a:schemeClr val="dk1"/>
                          </a:solidFill>
                          <a:latin typeface="Times New Roman" panose="02020603050405020304" pitchFamily="18" charset="0"/>
                          <a:ea typeface="+mn-ea"/>
                          <a:cs typeface="Times New Roman" panose="02020603050405020304" pitchFamily="18" charset="0"/>
                        </a:rPr>
                        <a:t> </a:t>
                      </a:r>
                      <a:r>
                        <a:rPr lang="en-US" sz="3200" kern="1200" dirty="0" err="1">
                          <a:solidFill>
                            <a:schemeClr val="dk1"/>
                          </a:solidFill>
                          <a:latin typeface="Times New Roman" panose="02020603050405020304" pitchFamily="18" charset="0"/>
                          <a:ea typeface="+mn-ea"/>
                          <a:cs typeface="Times New Roman" panose="02020603050405020304" pitchFamily="18" charset="0"/>
                        </a:rPr>
                        <a:t>gọn</a:t>
                      </a:r>
                      <a:endParaRPr lang="en-US" sz="320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bl>
          </a:graphicData>
        </a:graphic>
      </p:graphicFrame>
      <p:pic>
        <p:nvPicPr>
          <p:cNvPr id="15362" name="Picture 2" descr="收的笔顺">
            <a:extLst>
              <a:ext uri="{FF2B5EF4-FFF2-40B4-BE49-F238E27FC236}">
                <a16:creationId xmlns:a16="http://schemas.microsoft.com/office/drawing/2014/main" id="{0255A4D1-5892-9FD7-480D-6C01E72BAA49}"/>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3347" y="1940939"/>
            <a:ext cx="2093024" cy="1885761"/>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拾的笔顺">
            <a:extLst>
              <a:ext uri="{FF2B5EF4-FFF2-40B4-BE49-F238E27FC236}">
                <a16:creationId xmlns:a16="http://schemas.microsoft.com/office/drawing/2014/main" id="{A7B841F2-8295-4227-FA49-E14E5792D32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43348" y="4365046"/>
            <a:ext cx="1980516" cy="1885761"/>
          </a:xfrm>
          <a:prstGeom prst="rect">
            <a:avLst/>
          </a:prstGeom>
          <a:noFill/>
          <a:extLst>
            <a:ext uri="{909E8E84-426E-40DD-AFC4-6F175D3DCCD1}">
              <a14:hiddenFill xmlns:a14="http://schemas.microsoft.com/office/drawing/2010/main">
                <a:solidFill>
                  <a:srgbClr val="FFFFFF"/>
                </a:solidFill>
              </a14:hiddenFill>
            </a:ext>
          </a:extLst>
        </p:spPr>
      </p:pic>
      <p:sp>
        <p:nvSpPr>
          <p:cNvPr id="15365" name="Chiết tự 15365"/>
          <p:cNvSpPr txBox="1"/>
          <p:nvPr/>
        </p:nvSpPr>
        <p:spPr>
          <a:xfrm>
            <a:off x="2700000" y="1920662"/>
            <a:ext cx="4400000" cy="2635160"/>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Chiết tự</a:t>
            </a:r>
          </a:p>
          <a:p>
            <a:pPr/>
            <a:r>
              <a:rPr lang="zh-CN" sz="3600" dirty="0">
                <a:latin typeface="KaiTi" panose="02010609060101010101" pitchFamily="49" charset="-122"/>
                <a:ea typeface="KaiTi" panose="02010609060101010101" pitchFamily="49" charset="-122"/>
              </a:rPr>
              <a:t>收 = </a:t>
            </a:r>
            <a:r>
              <a:rPr lang="zh-CN" sz="3600" dirty="0">
                <a:latin typeface="KaiTi" panose="02010609060101010101" pitchFamily="49" charset="-122"/>
                <a:ea typeface="KaiTi" panose="02010609060101010101" pitchFamily="49" charset="-122"/>
              </a:rPr>
              <a:t>丩</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solidFill>
                  <a:srgbClr val="C00000"/>
                </a:solidFill>
                <a:latin typeface="KaiTi" panose="02010609060101010101" pitchFamily="49" charset="-122"/>
                <a:ea typeface="KaiTi" panose="02010609060101010101" pitchFamily="49" charset="-122"/>
              </a:rPr>
              <a:t>攵</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丩 + Bộ Phộc 攵</a:t>
            </a:r>
          </a:p>
          <a:p>
            <a:pPr/>
            <a:r>
              <a:rPr lang="zh-CN" sz="3600" dirty="0">
                <a:latin typeface="KaiTi" panose="02010609060101010101" pitchFamily="49" charset="-122"/>
                <a:ea typeface="KaiTi" panose="02010609060101010101" pitchFamily="49" charset="-122"/>
              </a:rPr>
              <a:t>拾 = </a:t>
            </a:r>
            <a:r>
              <a:rPr lang="zh-CN" sz="3600" dirty="0">
                <a:solidFill>
                  <a:srgbClr val="C00000"/>
                </a:solidFill>
                <a:latin typeface="KaiTi" panose="02010609060101010101" pitchFamily="49" charset="-122"/>
                <a:ea typeface="KaiTi" panose="02010609060101010101" pitchFamily="49" charset="-122"/>
              </a:rPr>
              <a:t>扌</a:t>
            </a:r>
            <a:r>
              <a:rPr lang="vi-VN" sz="2800" dirty="0">
                <a:latin typeface="Times New Roman" panose="02020603050405020304" pitchFamily="18" charset="0"/>
                <a:ea typeface="KaiTi" panose="02010609060101010101" pitchFamily="49" charset="-122"/>
                <a:cs typeface="Times New Roman" panose="02020603050405020304" pitchFamily="18" charset="0"/>
              </a:rPr>
              <a:t> + </a:t>
            </a:r>
            <a:r>
              <a:rPr lang="zh-CN" sz="3600" dirty="0">
                <a:latin typeface="KaiTi" panose="02010609060101010101" pitchFamily="49" charset="-122"/>
                <a:ea typeface="KaiTi" panose="02010609060101010101" pitchFamily="49" charset="-122"/>
              </a:rPr>
              <a:t>合</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Bộ Thủ 扌 (tay) + 合</a:t>
            </a:r>
          </a:p>
        </p:txBody>
      </p:sp>
      <p:sp>
        <p:nvSpPr>
          <p:cNvPr id="15366" name="Nhớ lại 15366"/>
          <p:cNvSpPr txBox="1"/>
          <p:nvPr/>
        </p:nvSpPr>
        <p:spPr>
          <a:xfrm>
            <a:off x="7200000" y="1920662"/>
            <a:ext cx="4500000" cy="2421124"/>
          </a:xfrm>
          <a:prstGeom prst="rect">
            <a:avLst/>
          </a:prstGeom>
          <a:solidFill>
            <a:schemeClr val="bg1"/>
          </a:solidFill>
        </p:spPr>
        <p:txBody>
          <a:bodyPr wrap="square" rtlCol="0">
            <a:spAutoFit/>
          </a:bodyPr>
          <a:lstStyle/>
          <a:p>
            <a:pP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Nhớ lại</a:t>
            </a:r>
          </a:p>
          <a:p>
            <a:pPr>
              <a:spcBef>
                <a:spcPts val="200"/>
              </a:spcBef>
            </a:pPr>
            <a:r>
              <a:rPr lang="zh-CN" sz="2800" dirty="0">
                <a:solidFill>
                  <a:srgbClr val="C00000"/>
                </a:solidFill>
                <a:latin typeface="KaiTi" panose="02010609060101010101" pitchFamily="49" charset="-122"/>
                <a:ea typeface="KaiTi" panose="02010609060101010101" pitchFamily="49" charset="-122"/>
              </a:rPr>
              <a:t>找</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zhǎo</a:t>
            </a:r>
            <a:r>
              <a:rPr lang="vi-VN" sz="2400" dirty="0">
                <a:latin typeface="Times New Roman" panose="02020603050405020304" pitchFamily="18" charset="0"/>
                <a:ea typeface="KaiTi" panose="02010609060101010101" pitchFamily="49" charset="-122"/>
                <a:cs typeface="Times New Roman" panose="02020603050405020304" pitchFamily="18" charset="0"/>
              </a:rPr>
              <a:t> – tìm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10)</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扌</a:t>
            </a:r>
          </a:p>
          <a:p>
            <a:pPr>
              <a:spcBef>
                <a:spcPts val="200"/>
              </a:spcBef>
            </a:pPr>
            <a:r>
              <a:rPr lang="zh-CN" sz="2800" dirty="0">
                <a:solidFill>
                  <a:srgbClr val="C00000"/>
                </a:solidFill>
                <a:latin typeface="KaiTi" panose="02010609060101010101" pitchFamily="49" charset="-122"/>
                <a:ea typeface="KaiTi" panose="02010609060101010101" pitchFamily="49" charset="-122"/>
              </a:rPr>
              <a:t>打球</a:t>
            </a:r>
            <a:r>
              <a:rPr lang="vi-VN" sz="2000" i="1" dirty="0">
                <a:solidFill>
                  <a:srgbClr val="0070C0"/>
                </a:solidFill>
                <a:latin typeface="Times New Roman" panose="02020603050405020304" pitchFamily="18" charset="0"/>
                <a:ea typeface="KaiTi" panose="02010609060101010101" pitchFamily="49" charset="-122"/>
                <a:cs typeface="Times New Roman" panose="02020603050405020304" pitchFamily="18" charset="0"/>
              </a:rPr>
              <a:t>  dǎqiú</a:t>
            </a:r>
            <a:r>
              <a:rPr lang="vi-VN" sz="2400" dirty="0">
                <a:latin typeface="Times New Roman" panose="02020603050405020304" pitchFamily="18" charset="0"/>
                <a:ea typeface="KaiTi" panose="02010609060101010101" pitchFamily="49" charset="-122"/>
                <a:cs typeface="Times New Roman" panose="02020603050405020304" pitchFamily="18" charset="0"/>
              </a:rPr>
              <a:t> – chơi bóng </a:t>
            </a:r>
            <a:r>
              <a:rPr lang="vi-VN" sz="2400" b="1" dirty="0">
                <a:solidFill>
                  <a:srgbClr val="07443C"/>
                </a:solidFill>
                <a:latin typeface="Times New Roman" panose="02020603050405020304" pitchFamily="18" charset="0"/>
                <a:ea typeface="KaiTi" panose="02010609060101010101" pitchFamily="49" charset="-122"/>
                <a:cs typeface="Times New Roman" panose="02020603050405020304" pitchFamily="18" charset="0"/>
              </a:rPr>
              <a:t>(Bài 9)</a:t>
            </a:r>
            <a:r>
              <a:rPr lang="vi-VN" sz="2400" dirty="0">
                <a:latin typeface="Times New Roman" panose="02020603050405020304" pitchFamily="18" charset="0"/>
                <a:ea typeface="KaiTi" panose="02010609060101010101" pitchFamily="49" charset="-122"/>
                <a:cs typeface="Times New Roman" panose="02020603050405020304" pitchFamily="18" charset="0"/>
              </a:rPr>
              <a:t> · chung 扌</a:t>
            </a:r>
          </a:p>
        </p:txBody>
      </p:sp>
      <p:sp>
        <p:nvSpPr>
          <p:cNvPr id="15367" name="Ví dụ thêm 15367"/>
          <p:cNvSpPr txBox="1"/>
          <p:nvPr/>
        </p:nvSpPr>
        <p:spPr>
          <a:xfrm>
            <a:off x="2700000" y="4680662"/>
            <a:ext cx="7600000" cy="1387243"/>
          </a:xfrm>
          <a:prstGeom prst="rect">
            <a:avLst/>
          </a:prstGeom>
          <a:solidFill>
            <a:schemeClr val="bg1"/>
          </a:solidFill>
        </p:spPr>
        <p:txBody>
          <a:bodyPr wrap="square" rtlCol="0">
            <a:spAutoFit/>
          </a:bodyPr>
          <a:lstStyle/>
          <a:p>
            <a:pPr/>
            <a:r>
              <a:rPr lang="zh-CN" sz="2800" dirty="0">
                <a:solidFill>
                  <a:srgbClr val="00B050"/>
                </a:solidFill>
                <a:latin typeface="KaiTi" panose="02010609060101010101" pitchFamily="49" charset="-122"/>
                <a:ea typeface="KaiTi" panose="02010609060101010101" pitchFamily="49" charset="-122"/>
              </a:rPr>
              <a:t>我和我同学一块儿收拾房间。</a:t>
            </a:r>
          </a:p>
          <a:p>
            <a:pPr/>
            <a:r>
              <a:rPr lang="vi-VN" sz="2000" i="1" dirty="0">
                <a:latin typeface="Times New Roman" panose="02020603050405020304" pitchFamily="18" charset="0"/>
                <a:ea typeface="KaiTi" panose="02010609060101010101" pitchFamily="49" charset="-122"/>
                <a:cs typeface="Times New Roman" panose="02020603050405020304" pitchFamily="18" charset="0"/>
              </a:rPr>
              <a:t>Wǒ hé wǒ tóngxué yíkuàir shōushi fángjiān.</a:t>
            </a:r>
          </a:p>
          <a:p>
            <a:pPr/>
            <a:r>
              <a:rPr lang="vi-VN" sz="2400" dirty="0">
                <a:latin typeface="Times New Roman" panose="02020603050405020304" pitchFamily="18" charset="0"/>
                <a:ea typeface="KaiTi" panose="02010609060101010101" pitchFamily="49" charset="-122"/>
                <a:cs typeface="Times New Roman" panose="02020603050405020304" pitchFamily="18" charset="0"/>
              </a:rPr>
              <a:t>Tôi và bạn học cùng nhau dọn phòng.</a:t>
            </a:r>
          </a:p>
        </p:txBody>
      </p:sp>
    </p:spTree>
    <p:extLst>
      <p:ext uri="{BB962C8B-B14F-4D97-AF65-F5344CB8AC3E}">
        <p14:creationId xmlns:p14="http://schemas.microsoft.com/office/powerpoint/2010/main" val="39405335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7567">
        <p15:prstTrans prst="airplane"/>
      </p:transition>
    </mc:Choice>
    <mc:Fallback>
      <p:transition spd="slow" advTm="756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dissolve">
                                      <p:cBhvr>
                                        <p:cTn id="7" dur="500"/>
                                        <p:tgtEl>
                                          <p:spTgt spid="153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7"/>
                                        </p:tgtEl>
                                        <p:attrNameLst>
                                          <p:attrName>style.visibility</p:attrName>
                                        </p:attrNameLst>
                                      </p:cBhvr>
                                      <p:to>
                                        <p:strVal val="visible"/>
                                      </p:to>
                                    </p:set>
                                    <p:animEffect transition="in" filter="wipe(left)">
                                      <p:cBhvr>
                                        <p:cTn id="12" dur="500"/>
                                        <p:tgtEl>
                                          <p:spTgt spid="153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6"/>
                                        </p:tgtEl>
                                        <p:attrNameLst>
                                          <p:attrName>style.visibility</p:attrName>
                                        </p:attrNameLst>
                                      </p:cBhvr>
                                      <p:to>
                                        <p:strVal val="visible"/>
                                      </p:to>
                                    </p:set>
                                    <p:animEffect transition="in" filter="wipe(left)">
                                      <p:cBhvr>
                                        <p:cTn id="17"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64813" y="52251"/>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a:solidFill>
                  <a:srgbClr val="FF0000"/>
                </a:solidFill>
                <a:latin typeface="KaiTi" panose="02010609060101010101" pitchFamily="49" charset="-122"/>
                <a:ea typeface="KaiTi" panose="02010609060101010101" pitchFamily="49" charset="-122"/>
              </a:rPr>
              <a:t>课</a:t>
            </a:r>
            <a:r>
              <a:rPr lang="en-US" altLang="zh-CN" sz="2000" b="1">
                <a:solidFill>
                  <a:srgbClr val="FF0000"/>
                </a:solidFill>
                <a:latin typeface="KaiTi" panose="02010609060101010101" pitchFamily="49" charset="-122"/>
                <a:ea typeface="KaiTi" panose="02010609060101010101" pitchFamily="49" charset="-122"/>
              </a:rPr>
              <a:t> </a:t>
            </a:r>
            <a:r>
              <a:rPr lang="zh-CN" altLang="en-US" sz="2000" b="1">
                <a:solidFill>
                  <a:srgbClr val="FF0000"/>
                </a:solidFill>
                <a:latin typeface="KaiTi" panose="02010609060101010101" pitchFamily="49" charset="-122"/>
                <a:ea typeface="KaiTi" panose="02010609060101010101" pitchFamily="49" charset="-122"/>
              </a:rPr>
              <a:t>文三 </a:t>
            </a:r>
            <a:r>
              <a:rPr lang="en-US" altLang="zh-CN" sz="2000" b="1">
                <a:solidFill>
                  <a:srgbClr val="FF0000"/>
                </a:solidFill>
                <a:latin typeface="KaiTi" panose="02010609060101010101" pitchFamily="49" charset="-122"/>
                <a:ea typeface="KaiTi" panose="02010609060101010101" pitchFamily="49" charset="-122"/>
              </a:rPr>
              <a:t>Bài khóa 3</a:t>
            </a:r>
            <a:endParaRPr lang="en-US" sz="2000">
              <a:solidFill>
                <a:srgbClr val="FF0000"/>
              </a:solidFill>
              <a:latin typeface="KaiTi" panose="02010609060101010101" pitchFamily="49" charset="-122"/>
              <a:ea typeface="KaiTi" panose="02010609060101010101" pitchFamily="49" charset="-122"/>
            </a:endParaRPr>
          </a:p>
        </p:txBody>
      </p:sp>
      <p:graphicFrame>
        <p:nvGraphicFramePr>
          <p:cNvPr id="5" name="Table 4"/>
          <p:cNvGraphicFramePr>
            <a:graphicFrameLocks noGrp="1"/>
          </p:cNvGraphicFramePr>
          <p:nvPr>
            <p:extLst>
              <p:ext uri="{D42A27DB-BD31-4B8C-83A1-F6EECF244321}">
                <p14:modId xmlns:p14="http://schemas.microsoft.com/office/powerpoint/2010/main" val="713439642"/>
              </p:ext>
            </p:extLst>
          </p:nvPr>
        </p:nvGraphicFramePr>
        <p:xfrm>
          <a:off x="-1665300" y="540603"/>
          <a:ext cx="10742681" cy="518160"/>
        </p:xfrm>
        <a:graphic>
          <a:graphicData uri="http://schemas.openxmlformats.org/drawingml/2006/table">
            <a:tbl>
              <a:tblPr>
                <a:tableStyleId>{2D5ABB26-0587-4C30-8999-92F81FD0307C}</a:tableStyleId>
              </a:tblPr>
              <a:tblGrid>
                <a:gridCol w="10742681">
                  <a:extLst>
                    <a:ext uri="{9D8B030D-6E8A-4147-A177-3AD203B41FA5}">
                      <a16:colId xmlns:a16="http://schemas.microsoft.com/office/drawing/2014/main" val="2454178768"/>
                    </a:ext>
                  </a:extLst>
                </a:gridCol>
              </a:tblGrid>
              <a:tr h="478703">
                <a:tc>
                  <a:txBody>
                    <a:bodyPr/>
                    <a:lstStyle/>
                    <a:p>
                      <a:pPr algn="ctr"/>
                      <a:r>
                        <a:rPr lang="zh-CN" altLang="en-US" sz="2800" i="1" dirty="0">
                          <a:latin typeface="KaiTi" panose="02010609060101010101" pitchFamily="49" charset="-122"/>
                          <a:ea typeface="KaiTi" panose="02010609060101010101" pitchFamily="49" charset="-122"/>
                        </a:rPr>
                        <a:t>（下课以后，阿明和马丁，林娜一起聊天儿）</a:t>
                      </a:r>
                      <a:endParaRPr lang="en-US" altLang="zh-CN" sz="2800" i="1" dirty="0">
                        <a:latin typeface="KaiTi" panose="02010609060101010101" pitchFamily="49" charset="-122"/>
                        <a:ea typeface="KaiTi" panose="02010609060101010101" pitchFamily="49" charset="-122"/>
                      </a:endParaRPr>
                    </a:p>
                  </a:txBody>
                  <a:tcPr/>
                </a:tc>
                <a:extLst>
                  <a:ext uri="{0D108BD9-81ED-4DB2-BD59-A6C34878D82A}">
                    <a16:rowId xmlns:a16="http://schemas.microsoft.com/office/drawing/2014/main" val="1113747869"/>
                  </a:ext>
                </a:extLst>
              </a:tr>
            </a:tbl>
          </a:graphicData>
        </a:graphic>
      </p:graphicFrame>
      <p:pic>
        <p:nvPicPr>
          <p:cNvPr id="2" name="11-6.mp3">
            <a:hlinkClick r:id="" action="ppaction://media"/>
            <a:extLst>
              <a:ext uri="{FF2B5EF4-FFF2-40B4-BE49-F238E27FC236}">
                <a16:creationId xmlns:a16="http://schemas.microsoft.com/office/drawing/2014/main" id="{CEF3F5A7-41F1-E8ED-42A1-01B5FAA972C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926652" y="4371965"/>
            <a:ext cx="812800" cy="812800"/>
          </a:xfrm>
          <a:prstGeom prst="rect">
            <a:avLst/>
          </a:prstGeom>
        </p:spPr>
      </p:pic>
      <p:sp>
        <p:nvSpPr>
          <p:cNvPr id="3" name="TextBox 2">
            <a:extLst>
              <a:ext uri="{FF2B5EF4-FFF2-40B4-BE49-F238E27FC236}">
                <a16:creationId xmlns:a16="http://schemas.microsoft.com/office/drawing/2014/main" id="{1C2B1C89-A302-5D60-5247-69CC51BD6498}"/>
              </a:ext>
            </a:extLst>
          </p:cNvPr>
          <p:cNvSpPr txBox="1"/>
          <p:nvPr/>
        </p:nvSpPr>
        <p:spPr>
          <a:xfrm>
            <a:off x="278244" y="1206675"/>
            <a:ext cx="6855595" cy="3165290"/>
          </a:xfrm>
          <a:prstGeom prst="rect">
            <a:avLst/>
          </a:prstGeom>
          <a:solidFill>
            <a:schemeClr val="bg1"/>
          </a:solidFill>
        </p:spPr>
        <p:txBody>
          <a:bodyPr wrap="none" rtlCol="0">
            <a:spAutoFit/>
          </a:bodyPr>
          <a:lstStyle/>
          <a:p>
            <a:pPr marL="457200" indent="-457200">
              <a:lnSpc>
                <a:spcPct val="150000"/>
              </a:lnSpc>
              <a:buFont typeface="+mj-lt"/>
              <a:buAutoNum type="arabicPeriod"/>
            </a:pP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马丁周末干什么？</a:t>
            </a:r>
            <a:br>
              <a:rPr lang="vi-VN"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vi-V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M</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ǎdīng</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zhōumò</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gànshénme</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sz="2800" i="1"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endParaRPr>
          </a:p>
          <a:p>
            <a:pPr marL="457200" indent="-457200">
              <a:lnSpc>
                <a:spcPct val="150000"/>
              </a:lnSpc>
              <a:buFont typeface="+mj-lt"/>
              <a:buAutoNum type="arabicPeriod"/>
            </a:pP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林娜</a:t>
            </a:r>
            <a:r>
              <a:rPr lang="en-US" altLang="zh-CN"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 </a:t>
            </a:r>
            <a:r>
              <a:rPr lang="zh-CN" altLang="en-US" sz="32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t>阿明和崔浩周末都干什么？</a:t>
            </a:r>
            <a:br>
              <a:rPr lang="vi-VN" altLang="zh-CN" sz="2800" dirty="0">
                <a:solidFill>
                  <a:schemeClr val="bg2">
                    <a:lumMod val="10000"/>
                  </a:schemeClr>
                </a:solidFill>
                <a:latin typeface="Times New Roman" panose="02020603050405020304" pitchFamily="18" charset="0"/>
                <a:ea typeface="KaiTi" panose="02010609060101010101" pitchFamily="49" charset="-122"/>
                <a:cs typeface="Times New Roman" panose="02020603050405020304" pitchFamily="18" charset="0"/>
              </a:rPr>
            </a:b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Línnà</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vi-V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míng</a:t>
            </a:r>
            <a:r>
              <a:rPr lang="vi-V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hé</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vi-VN"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C</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uīhào</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zhōumò</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dōu</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en-US" sz="2400" i="1" dirty="0" err="1">
                <a:solidFill>
                  <a:srgbClr val="FF0000"/>
                </a:solidFill>
                <a:latin typeface="Times New Roman" panose="02020603050405020304" pitchFamily="18" charset="0"/>
                <a:ea typeface="KaiTi" panose="02010609060101010101" pitchFamily="49" charset="-122"/>
                <a:cs typeface="Times New Roman" panose="02020603050405020304" pitchFamily="18" charset="0"/>
              </a:rPr>
              <a:t>gànshénme</a:t>
            </a:r>
            <a:r>
              <a:rPr lang="en-US" sz="24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2800" i="1" dirty="0">
              <a:solidFill>
                <a:srgbClr val="FF0000"/>
              </a:solidFill>
              <a:latin typeface="Times New Roman" panose="02020603050405020304" pitchFamily="18" charset="0"/>
              <a:ea typeface="KaiTi" panose="02010609060101010101" pitchFamily="49" charset="-122"/>
              <a:cs typeface="Times New Roman" panose="02020603050405020304" pitchFamily="18" charset="0"/>
            </a:endParaRPr>
          </a:p>
          <a:p>
            <a:pPr marL="342900" indent="-342900">
              <a:lnSpc>
                <a:spcPct val="150000"/>
              </a:lnSpc>
              <a:buFont typeface="+mj-lt"/>
              <a:buAutoNum type="arabicPeriod"/>
            </a:pPr>
            <a:endParaRPr lang="en-VN" sz="2400" dirty="0">
              <a:latin typeface="Times New Roman" panose="02020603050405020304" pitchFamily="18" charset="0"/>
              <a:ea typeface="KaiTi" panose="02010609060101010101" pitchFamily="49" charset="-122"/>
              <a:cs typeface="Times New Roman" panose="02020603050405020304" pitchFamily="18" charset="0"/>
            </a:endParaRPr>
          </a:p>
        </p:txBody>
      </p:sp>
      <p:pic>
        <p:nvPicPr>
          <p:cNvPr id="9" name="Picture 8">
            <a:extLst>
              <a:ext uri="{FF2B5EF4-FFF2-40B4-BE49-F238E27FC236}">
                <a16:creationId xmlns:a16="http://schemas.microsoft.com/office/drawing/2014/main" id="{1076DF05-7D2D-B5AA-C264-31B6E90A32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1400" y="514794"/>
            <a:ext cx="4669971" cy="4669971"/>
          </a:xfrm>
          <a:prstGeom prst="rect">
            <a:avLst/>
          </a:prstGeom>
        </p:spPr>
      </p:pic>
    </p:spTree>
    <p:extLst>
      <p:ext uri="{BB962C8B-B14F-4D97-AF65-F5344CB8AC3E}">
        <p14:creationId xmlns:p14="http://schemas.microsoft.com/office/powerpoint/2010/main" val="2351402448"/>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56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29315567"/>
              </p:ext>
            </p:extLst>
          </p:nvPr>
        </p:nvGraphicFramePr>
        <p:xfrm>
          <a:off x="724659" y="84909"/>
          <a:ext cx="10742681" cy="6492240"/>
        </p:xfrm>
        <a:graphic>
          <a:graphicData uri="http://schemas.openxmlformats.org/drawingml/2006/table">
            <a:tbl>
              <a:tblPr>
                <a:tableStyleId>{2D5ABB26-0587-4C30-8999-92F81FD0307C}</a:tableStyleId>
              </a:tblPr>
              <a:tblGrid>
                <a:gridCol w="10742681">
                  <a:extLst>
                    <a:ext uri="{9D8B030D-6E8A-4147-A177-3AD203B41FA5}">
                      <a16:colId xmlns:a16="http://schemas.microsoft.com/office/drawing/2014/main" val="2454178768"/>
                    </a:ext>
                  </a:extLst>
                </a:gridCol>
              </a:tblGrid>
              <a:tr h="6310277">
                <a:tc>
                  <a:txBody>
                    <a:bodyPr/>
                    <a:lstStyle/>
                    <a:p>
                      <a:pPr algn="ctr"/>
                      <a:r>
                        <a:rPr lang="zh-CN" altLang="en-US" sz="2800" i="1" dirty="0">
                          <a:latin typeface="KaiTi" panose="02010609060101010101" pitchFamily="49" charset="-122"/>
                          <a:ea typeface="KaiTi" panose="02010609060101010101" pitchFamily="49" charset="-122"/>
                        </a:rPr>
                        <a:t>（下课以后，阿明和马丁，林娜一起聊天儿）</a:t>
                      </a:r>
                      <a:endParaRPr lang="en-US" altLang="zh-CN" sz="2800" i="1" dirty="0">
                        <a:latin typeface="KaiTi" panose="02010609060101010101" pitchFamily="49" charset="-122"/>
                        <a:ea typeface="KaiTi" panose="02010609060101010101" pitchFamily="49" charset="-122"/>
                      </a:endParaRPr>
                    </a:p>
                    <a:p>
                      <a:r>
                        <a:rPr lang="zh-CN" altLang="en-US" sz="3200" dirty="0">
                          <a:solidFill>
                            <a:srgbClr val="0070C0"/>
                          </a:solidFill>
                          <a:latin typeface="KaiTi" panose="02010609060101010101" pitchFamily="49" charset="-122"/>
                          <a:ea typeface="KaiTi" panose="02010609060101010101" pitchFamily="49" charset="-122"/>
                        </a:rPr>
                        <a:t>阿明：今天星期五，周末你们都干什么？</a:t>
                      </a:r>
                      <a:br>
                        <a:rPr lang="en-US" altLang="zh-CN" sz="3200" dirty="0">
                          <a:solidFill>
                            <a:srgbClr val="0070C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Āmíng</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Jīntiān</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xīngqīwǔ</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zhōumò</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nǐmen</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dōu</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gànshénme</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a:t>
                      </a:r>
                      <a:br>
                        <a:rPr kumimoji="0" lang="vi-VN" sz="24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zh-CN" altLang="en-US" sz="3200" kern="1200" dirty="0">
                          <a:solidFill>
                            <a:srgbClr val="C00000"/>
                          </a:solidFill>
                          <a:latin typeface="KaiTi" panose="02010609060101010101" pitchFamily="49" charset="-122"/>
                          <a:ea typeface="KaiTi" panose="02010609060101010101" pitchFamily="49" charset="-122"/>
                          <a:cs typeface="+mn-cs"/>
                        </a:rPr>
                        <a:t>马丁：没事的时候，我在宿舍上网。</a:t>
                      </a:r>
                      <a:br>
                        <a:rPr lang="vi-VN" altLang="zh-CN" sz="3600" dirty="0">
                          <a:solidFill>
                            <a:srgbClr val="C0000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Mǎdīng</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Méishì</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de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shíhòu</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sùshè</a:t>
                      </a:r>
                      <a:r>
                        <a:rPr kumimoji="0" lang="en-US"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shàngwǎng</a:t>
                      </a:r>
                      <a:r>
                        <a:rPr kumimoji="0" lang="vi-VN" sz="2400" b="0" i="1"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a:t>
                      </a:r>
                      <a:endParaRPr lang="en-US" altLang="zh-CN" sz="3600" dirty="0">
                        <a:solidFill>
                          <a:srgbClr val="C00000"/>
                        </a:solidFill>
                        <a:latin typeface="KaiTi" panose="02010609060101010101" pitchFamily="49" charset="-122"/>
                        <a:ea typeface="KaiTi" panose="02010609060101010101" pitchFamily="49" charset="-122"/>
                      </a:endParaRPr>
                    </a:p>
                    <a:p>
                      <a:r>
                        <a:rPr lang="zh-CN" altLang="en-US" sz="3200" kern="1200" dirty="0">
                          <a:solidFill>
                            <a:srgbClr val="00B050"/>
                          </a:solidFill>
                          <a:latin typeface="KaiTi" panose="02010609060101010101" pitchFamily="49" charset="-122"/>
                          <a:ea typeface="KaiTi" panose="02010609060101010101" pitchFamily="49" charset="-122"/>
                          <a:cs typeface="+mn-cs"/>
                        </a:rPr>
                        <a:t>林娜：我在一个学校学习画画儿。</a:t>
                      </a:r>
                      <a:endParaRPr lang="vi-VN" altLang="zh-CN" sz="3200" kern="1200" dirty="0">
                        <a:solidFill>
                          <a:srgbClr val="00B050"/>
                        </a:solidFill>
                        <a:latin typeface="KaiTi" panose="02010609060101010101" pitchFamily="49" charset="-122"/>
                        <a:ea typeface="KaiTi" panose="02010609060101010101" pitchFamily="49" charset="-122"/>
                        <a:cs typeface="+mn-cs"/>
                      </a:endParaRPr>
                    </a:p>
                    <a:p>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Lí</a:t>
                      </a:r>
                      <a:r>
                        <a:rPr kumimoji="0" lang="en-US" altLang="zh-CN"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n</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nà</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zài</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yígè</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xuéxiào</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xuéxí</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hu</a:t>
                      </a:r>
                      <a:r>
                        <a:rPr kumimoji="0" lang="en-US" altLang="zh-CN"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à</a:t>
                      </a:r>
                      <a:r>
                        <a:rPr kumimoji="0" lang="en-US" altLang="zh-CN"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huàr</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endParaRPr lang="en-US" altLang="zh-CN" sz="3600" dirty="0">
                        <a:solidFill>
                          <a:srgbClr val="00B050"/>
                        </a:solidFill>
                        <a:latin typeface="KaiTi" panose="02010609060101010101" pitchFamily="49" charset="-122"/>
                        <a:ea typeface="KaiTi" panose="02010609060101010101" pitchFamily="49" charset="-122"/>
                      </a:endParaRPr>
                    </a:p>
                    <a:p>
                      <a:r>
                        <a:rPr lang="zh-CN" altLang="en-US" sz="3200" kern="1200" dirty="0">
                          <a:solidFill>
                            <a:srgbClr val="0070C0"/>
                          </a:solidFill>
                          <a:latin typeface="KaiTi" panose="02010609060101010101" pitchFamily="49" charset="-122"/>
                          <a:ea typeface="KaiTi" panose="02010609060101010101" pitchFamily="49" charset="-122"/>
                          <a:cs typeface="+mn-cs"/>
                        </a:rPr>
                        <a:t>阿明：你学习中国画吗？</a:t>
                      </a:r>
                      <a:br>
                        <a:rPr lang="vi-VN" altLang="zh-CN" sz="3600" dirty="0">
                          <a:solidFill>
                            <a:srgbClr val="0070C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Āmíng</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Nǐ</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xuéxí</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vi-VN"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Z</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hōngguóhuà</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ma? </a:t>
                      </a:r>
                      <a:endParaRPr lang="en-US" altLang="zh-CN" sz="3600" dirty="0">
                        <a:solidFill>
                          <a:srgbClr val="0070C0"/>
                        </a:solidFill>
                        <a:latin typeface="KaiTi" panose="02010609060101010101" pitchFamily="49" charset="-122"/>
                        <a:ea typeface="KaiTi" panose="02010609060101010101" pitchFamily="49" charset="-122"/>
                      </a:endParaRPr>
                    </a:p>
                    <a:p>
                      <a:r>
                        <a:rPr lang="zh-CN" altLang="en-US" sz="3200" kern="1200" dirty="0">
                          <a:solidFill>
                            <a:srgbClr val="00B050"/>
                          </a:solidFill>
                          <a:latin typeface="KaiTi" panose="02010609060101010101" pitchFamily="49" charset="-122"/>
                          <a:ea typeface="KaiTi" panose="02010609060101010101" pitchFamily="49" charset="-122"/>
                          <a:cs typeface="+mn-cs"/>
                        </a:rPr>
                        <a:t>林娜：对，我喜欢中国 画。 你们周末干什么？</a:t>
                      </a:r>
                      <a:br>
                        <a:rPr lang="vi-VN" altLang="zh-CN" sz="3600" dirty="0">
                          <a:solidFill>
                            <a:srgbClr val="00B05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Línnà</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Duì</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xǐhuān</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vi-VN"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Z</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hōngguóhuà</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Nǐmen</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zhōumò</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B050"/>
                          </a:solidFill>
                          <a:effectLst/>
                          <a:uLnTx/>
                          <a:uFillTx/>
                          <a:latin typeface="Times New Roman" panose="02020603050405020304" pitchFamily="18" charset="0"/>
                          <a:ea typeface="+mn-ea"/>
                          <a:cs typeface="Times New Roman" panose="02020603050405020304" pitchFamily="18" charset="0"/>
                        </a:rPr>
                        <a:t>gànshénme</a:t>
                      </a:r>
                      <a:r>
                        <a:rPr kumimoji="0" lang="en-US" sz="2400" b="0" i="1"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 </a:t>
                      </a:r>
                      <a:endParaRPr lang="en-US" altLang="zh-CN" sz="3600" dirty="0">
                        <a:solidFill>
                          <a:srgbClr val="00B050"/>
                        </a:solidFill>
                        <a:latin typeface="KaiTi" panose="02010609060101010101" pitchFamily="49" charset="-122"/>
                        <a:ea typeface="KaiTi" panose="02010609060101010101" pitchFamily="49" charset="-122"/>
                      </a:endParaRPr>
                    </a:p>
                    <a:p>
                      <a:r>
                        <a:rPr lang="zh-CN" altLang="en-US" sz="3200" kern="1200" dirty="0">
                          <a:solidFill>
                            <a:srgbClr val="0070C0"/>
                          </a:solidFill>
                          <a:latin typeface="KaiTi" panose="02010609060101010101" pitchFamily="49" charset="-122"/>
                          <a:ea typeface="KaiTi" panose="02010609060101010101" pitchFamily="49" charset="-122"/>
                          <a:cs typeface="+mn-cs"/>
                        </a:rPr>
                        <a:t>阿明：我一般在家看书，听音乐， 有时候也去超市买东西。</a:t>
                      </a:r>
                      <a:br>
                        <a:rPr lang="vi-VN" altLang="zh-CN" sz="3600" dirty="0">
                          <a:solidFill>
                            <a:srgbClr val="0070C0"/>
                          </a:solidFill>
                          <a:latin typeface="KaiTi" panose="02010609060101010101" pitchFamily="49" charset="-122"/>
                          <a:ea typeface="KaiTi" panose="02010609060101010101" pitchFamily="49" charset="-122"/>
                        </a:rPr>
                      </a:b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Āmíng</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yìbān</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zàijiā</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kànshū</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tīng</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yīnyuè</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yǒu</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shíhòu</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yě</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qù</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chāoshì</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mǎi</a:t>
                      </a:r>
                      <a:r>
                        <a:rPr kumimoji="0" lang="en-US"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rgbClr val="0070C0"/>
                          </a:solidFill>
                          <a:effectLst/>
                          <a:uLnTx/>
                          <a:uFillTx/>
                          <a:latin typeface="Times New Roman" panose="02020603050405020304" pitchFamily="18" charset="0"/>
                          <a:ea typeface="+mn-ea"/>
                          <a:cs typeface="Times New Roman" panose="02020603050405020304" pitchFamily="18" charset="0"/>
                        </a:rPr>
                        <a:t>dōngxi</a:t>
                      </a:r>
                      <a:r>
                        <a:rPr kumimoji="0" lang="vi-VN" altLang="zh-CN" sz="2400" b="0" i="1"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a:t>
                      </a:r>
                      <a:endParaRPr lang="en-US" altLang="zh-CN" sz="3600" dirty="0">
                        <a:solidFill>
                          <a:srgbClr val="0070C0"/>
                        </a:solidFill>
                        <a:latin typeface="KaiTi" panose="02010609060101010101" pitchFamily="49" charset="-122"/>
                        <a:ea typeface="KaiTi"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kern="1200" dirty="0">
                          <a:solidFill>
                            <a:schemeClr val="accent2">
                              <a:lumMod val="50000"/>
                            </a:schemeClr>
                          </a:solidFill>
                          <a:latin typeface="KaiTi" panose="02010609060101010101" pitchFamily="49" charset="-122"/>
                          <a:ea typeface="KaiTi" panose="02010609060101010101" pitchFamily="49" charset="-122"/>
                          <a:cs typeface="+mn-cs"/>
                        </a:rPr>
                        <a:t>崔浩：我和我同学一块儿收拾房间，一块儿吃饭，聊天儿。</a:t>
                      </a:r>
                      <a:br>
                        <a:rPr lang="vi-VN" altLang="zh-CN" sz="3600" dirty="0">
                          <a:solidFill>
                            <a:schemeClr val="accent2">
                              <a:lumMod val="50000"/>
                            </a:schemeClr>
                          </a:solidFill>
                          <a:latin typeface="KaiTi" panose="02010609060101010101" pitchFamily="49" charset="-122"/>
                          <a:ea typeface="KaiTi" panose="02010609060101010101" pitchFamily="49" charset="-122"/>
                        </a:rPr>
                      </a:br>
                      <a:r>
                        <a:rPr kumimoji="0" lang="en-US" altLang="zh-CN"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Cuīhào</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hé</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wǒ</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tóngxué</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yí</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kuàir</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shōushī</a:t>
                      </a:r>
                      <a:r>
                        <a:rPr kumimoji="0" lang="en-US" altLang="zh-CN"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fángjiān</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altLang="zh-CN"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yí</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kuàir</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chīfàn</a:t>
                      </a:r>
                      <a:r>
                        <a:rPr kumimoji="0" lang="en-US"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 </a:t>
                      </a:r>
                      <a:r>
                        <a:rPr kumimoji="0" lang="en-US" sz="2400" b="0" i="1" u="none" strike="noStrike" kern="1200" cap="none" spc="0" normalizeH="0" baseline="0" noProof="0" dirty="0" err="1">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liáotiānr</a:t>
                      </a:r>
                      <a:r>
                        <a:rPr kumimoji="0" lang="vi-VN"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a:txBody>
                  <a:tcPr>
                    <a:solidFill>
                      <a:schemeClr val="bg1"/>
                    </a:solidFill>
                  </a:tcPr>
                </a:tc>
                <a:extLst>
                  <a:ext uri="{0D108BD9-81ED-4DB2-BD59-A6C34878D82A}">
                    <a16:rowId xmlns:a16="http://schemas.microsoft.com/office/drawing/2014/main" val="1113747869"/>
                  </a:ext>
                </a:extLst>
              </a:tr>
            </a:tbl>
          </a:graphicData>
        </a:graphic>
      </p:graphicFrame>
    </p:spTree>
    <p:extLst>
      <p:ext uri="{BB962C8B-B14F-4D97-AF65-F5344CB8AC3E}">
        <p14:creationId xmlns:p14="http://schemas.microsoft.com/office/powerpoint/2010/main" val="1287886959"/>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FA688-8942-1472-2518-AD2A4553E7F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C036592-A23E-0F60-4E39-54E35A25978A}"/>
              </a:ext>
            </a:extLst>
          </p:cNvPr>
          <p:cNvGraphicFramePr>
            <a:graphicFrameLocks noGrp="1"/>
          </p:cNvGraphicFramePr>
          <p:nvPr>
            <p:extLst>
              <p:ext uri="{D42A27DB-BD31-4B8C-83A1-F6EECF244321}">
                <p14:modId xmlns:p14="http://schemas.microsoft.com/office/powerpoint/2010/main" val="777798420"/>
              </p:ext>
            </p:extLst>
          </p:nvPr>
        </p:nvGraphicFramePr>
        <p:xfrm>
          <a:off x="0" y="139339"/>
          <a:ext cx="12039600" cy="4907280"/>
        </p:xfrm>
        <a:graphic>
          <a:graphicData uri="http://schemas.openxmlformats.org/drawingml/2006/table">
            <a:tbl>
              <a:tblPr>
                <a:tableStyleId>{2D5ABB26-0587-4C30-8999-92F81FD0307C}</a:tableStyleId>
              </a:tblPr>
              <a:tblGrid>
                <a:gridCol w="12039600">
                  <a:extLst>
                    <a:ext uri="{9D8B030D-6E8A-4147-A177-3AD203B41FA5}">
                      <a16:colId xmlns:a16="http://schemas.microsoft.com/office/drawing/2014/main" val="2454178768"/>
                    </a:ext>
                  </a:extLst>
                </a:gridCol>
              </a:tblGrid>
              <a:tr h="4204062">
                <a:tc>
                  <a:txBody>
                    <a:bodyPr/>
                    <a:lstStyle/>
                    <a:p>
                      <a:pPr algn="ctr"/>
                      <a:r>
                        <a:rPr lang="zh-CN" altLang="en-US" sz="3200" i="1" dirty="0">
                          <a:latin typeface="KaiTi" panose="02010609060101010101" pitchFamily="49" charset="-122"/>
                          <a:ea typeface="KaiTi" panose="02010609060101010101" pitchFamily="49" charset="-122"/>
                        </a:rPr>
                        <a:t>（下课以后，阿明和马丁，林娜一起聊天儿）</a:t>
                      </a:r>
                      <a:endParaRPr lang="en-US" altLang="zh-CN" sz="3200" i="1" dirty="0">
                        <a:latin typeface="KaiTi" panose="02010609060101010101" pitchFamily="49" charset="-122"/>
                        <a:ea typeface="KaiTi" panose="02010609060101010101" pitchFamily="49" charset="-122"/>
                      </a:endParaRPr>
                    </a:p>
                    <a:p>
                      <a:pPr algn="ctr"/>
                      <a:endParaRPr lang="en-US" altLang="zh-CN" sz="3200" i="1" dirty="0">
                        <a:latin typeface="KaiTi" panose="02010609060101010101" pitchFamily="49" charset="-122"/>
                        <a:ea typeface="KaiTi" panose="02010609060101010101" pitchFamily="49" charset="-122"/>
                      </a:endParaRPr>
                    </a:p>
                    <a:p>
                      <a:r>
                        <a:rPr lang="zh-CN" altLang="en-US" sz="3600" dirty="0">
                          <a:solidFill>
                            <a:srgbClr val="0070C0"/>
                          </a:solidFill>
                          <a:latin typeface="KaiTi" panose="02010609060101010101" pitchFamily="49" charset="-122"/>
                          <a:ea typeface="KaiTi" panose="02010609060101010101" pitchFamily="49" charset="-122"/>
                        </a:rPr>
                        <a:t>阿明：今天星期五，周末你们都干什么？</a:t>
                      </a:r>
                      <a:br>
                        <a:rPr kumimoji="0" lang="vi-VN" sz="2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zh-CN" altLang="en-US" sz="3600" kern="1200" dirty="0">
                          <a:solidFill>
                            <a:srgbClr val="C00000"/>
                          </a:solidFill>
                          <a:latin typeface="KaiTi" panose="02010609060101010101" pitchFamily="49" charset="-122"/>
                          <a:ea typeface="KaiTi" panose="02010609060101010101" pitchFamily="49" charset="-122"/>
                          <a:cs typeface="+mn-cs"/>
                        </a:rPr>
                        <a:t>马丁：没事的时候，我在宿舍上网。</a:t>
                      </a:r>
                      <a:br>
                        <a:rPr lang="vi-VN" altLang="zh-CN" sz="4000" dirty="0">
                          <a:solidFill>
                            <a:srgbClr val="C00000"/>
                          </a:solidFill>
                          <a:latin typeface="KaiTi" panose="02010609060101010101" pitchFamily="49" charset="-122"/>
                          <a:ea typeface="KaiTi" panose="02010609060101010101" pitchFamily="49" charset="-122"/>
                        </a:rPr>
                      </a:br>
                      <a:r>
                        <a:rPr lang="zh-CN" altLang="en-US" sz="3600" kern="1200" dirty="0">
                          <a:solidFill>
                            <a:srgbClr val="00B050"/>
                          </a:solidFill>
                          <a:latin typeface="KaiTi" panose="02010609060101010101" pitchFamily="49" charset="-122"/>
                          <a:ea typeface="KaiTi" panose="02010609060101010101" pitchFamily="49" charset="-122"/>
                          <a:cs typeface="+mn-cs"/>
                        </a:rPr>
                        <a:t>林娜：我在一个学校学习画画儿。</a:t>
                      </a:r>
                      <a:endParaRPr lang="vi-VN" altLang="zh-CN" sz="3600" kern="1200" dirty="0">
                        <a:solidFill>
                          <a:srgbClr val="00B050"/>
                        </a:solidFill>
                        <a:latin typeface="KaiTi" panose="02010609060101010101" pitchFamily="49" charset="-122"/>
                        <a:ea typeface="KaiTi" panose="02010609060101010101" pitchFamily="49" charset="-122"/>
                        <a:cs typeface="+mn-cs"/>
                      </a:endParaRPr>
                    </a:p>
                    <a:p>
                      <a:r>
                        <a:rPr lang="zh-CN" altLang="en-US" sz="3600" kern="1200" dirty="0">
                          <a:solidFill>
                            <a:srgbClr val="0070C0"/>
                          </a:solidFill>
                          <a:latin typeface="KaiTi" panose="02010609060101010101" pitchFamily="49" charset="-122"/>
                          <a:ea typeface="KaiTi" panose="02010609060101010101" pitchFamily="49" charset="-122"/>
                          <a:cs typeface="+mn-cs"/>
                        </a:rPr>
                        <a:t>阿明：你学习中国画吗？</a:t>
                      </a:r>
                      <a:br>
                        <a:rPr lang="vi-VN" altLang="zh-CN" sz="4000" dirty="0">
                          <a:solidFill>
                            <a:srgbClr val="0070C0"/>
                          </a:solidFill>
                          <a:latin typeface="KaiTi" panose="02010609060101010101" pitchFamily="49" charset="-122"/>
                          <a:ea typeface="KaiTi" panose="02010609060101010101" pitchFamily="49" charset="-122"/>
                        </a:rPr>
                      </a:br>
                      <a:r>
                        <a:rPr lang="zh-CN" altLang="en-US" sz="3600" kern="1200" dirty="0">
                          <a:solidFill>
                            <a:srgbClr val="00B050"/>
                          </a:solidFill>
                          <a:latin typeface="KaiTi" panose="02010609060101010101" pitchFamily="49" charset="-122"/>
                          <a:ea typeface="KaiTi" panose="02010609060101010101" pitchFamily="49" charset="-122"/>
                          <a:cs typeface="+mn-cs"/>
                        </a:rPr>
                        <a:t>林娜：对，我喜欢中国 画。 你们周末干什么？</a:t>
                      </a:r>
                      <a:br>
                        <a:rPr lang="vi-VN" altLang="zh-CN" sz="4000" dirty="0">
                          <a:solidFill>
                            <a:srgbClr val="00B050"/>
                          </a:solidFill>
                          <a:latin typeface="KaiTi" panose="02010609060101010101" pitchFamily="49" charset="-122"/>
                          <a:ea typeface="KaiTi" panose="02010609060101010101" pitchFamily="49" charset="-122"/>
                        </a:rPr>
                      </a:br>
                      <a:r>
                        <a:rPr lang="zh-CN" altLang="en-US" sz="3600" kern="1200" dirty="0">
                          <a:solidFill>
                            <a:srgbClr val="0070C0"/>
                          </a:solidFill>
                          <a:latin typeface="KaiTi" panose="02010609060101010101" pitchFamily="49" charset="-122"/>
                          <a:ea typeface="KaiTi" panose="02010609060101010101" pitchFamily="49" charset="-122"/>
                          <a:cs typeface="+mn-cs"/>
                        </a:rPr>
                        <a:t>阿明：我一般在家看书，听音乐， 有时候也去超市买东西。</a:t>
                      </a:r>
                      <a:br>
                        <a:rPr lang="vi-VN" altLang="zh-CN" sz="4000" dirty="0">
                          <a:solidFill>
                            <a:srgbClr val="0070C0"/>
                          </a:solidFill>
                          <a:latin typeface="KaiTi" panose="02010609060101010101" pitchFamily="49" charset="-122"/>
                          <a:ea typeface="KaiTi" panose="02010609060101010101" pitchFamily="49" charset="-122"/>
                        </a:rPr>
                      </a:br>
                      <a:r>
                        <a:rPr lang="zh-CN" altLang="en-US" sz="3600" kern="1200" dirty="0">
                          <a:solidFill>
                            <a:schemeClr val="accent2">
                              <a:lumMod val="50000"/>
                            </a:schemeClr>
                          </a:solidFill>
                          <a:latin typeface="KaiTi" panose="02010609060101010101" pitchFamily="49" charset="-122"/>
                          <a:ea typeface="KaiTi" panose="02010609060101010101" pitchFamily="49" charset="-122"/>
                          <a:cs typeface="+mn-cs"/>
                        </a:rPr>
                        <a:t>崔浩：我和我同学一块儿收拾房间，一块儿吃饭，聊天儿。</a:t>
                      </a:r>
                      <a:endParaRPr kumimoji="0" lang="en-US" altLang="zh-CN" sz="2800" b="0" i="1" u="none" strike="noStrike" kern="1200" cap="none" spc="0" normalizeH="0" baseline="0" noProof="0" dirty="0">
                        <a:ln>
                          <a:noFill/>
                        </a:ln>
                        <a:solidFill>
                          <a:schemeClr val="accent2">
                            <a:lumMod val="50000"/>
                          </a:schemeClr>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a:txBody>
                  <a:tcPr>
                    <a:solidFill>
                      <a:schemeClr val="bg1"/>
                    </a:solidFill>
                  </a:tcPr>
                </a:tc>
                <a:extLst>
                  <a:ext uri="{0D108BD9-81ED-4DB2-BD59-A6C34878D82A}">
                    <a16:rowId xmlns:a16="http://schemas.microsoft.com/office/drawing/2014/main" val="1113747869"/>
                  </a:ext>
                </a:extLst>
              </a:tr>
            </a:tbl>
          </a:graphicData>
        </a:graphic>
      </p:graphicFrame>
    </p:spTree>
    <p:extLst>
      <p:ext uri="{BB962C8B-B14F-4D97-AF65-F5344CB8AC3E}">
        <p14:creationId xmlns:p14="http://schemas.microsoft.com/office/powerpoint/2010/main" val="4211900298"/>
      </p:ext>
    </p:extLst>
  </p:cSld>
  <p:clrMapOvr>
    <a:masterClrMapping/>
  </p:clrMapOvr>
  <mc:AlternateContent xmlns:mc="http://schemas.openxmlformats.org/markup-compatibility/2006">
    <mc:Choice xmlns:p14="http://schemas.microsoft.com/office/powerpoint/2010/main" Requires="p14">
      <p:transition spd="slow" p14:dur="1250" advClick="0" advTm="0">
        <p14:switch dir="r"/>
      </p:transition>
    </mc:Choice>
    <mc:Fallback>
      <p:transition spd="slow" advClick="0" advTm="0">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86D37B42-1C25-4E1A-9FD0-1DB8BDF4C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89901" y="4389348"/>
            <a:ext cx="3886200" cy="2701290"/>
          </a:xfrm>
          <a:prstGeom prst="rect">
            <a:avLst/>
          </a:prstGeom>
          <a:effectLst>
            <a:outerShdw blurRad="50800" dist="38100" dir="2700000" algn="tl" rotWithShape="0">
              <a:prstClr val="black">
                <a:alpha val="40000"/>
              </a:prstClr>
            </a:outerShdw>
          </a:effectLst>
        </p:spPr>
      </p:pic>
      <p:sp>
        <p:nvSpPr>
          <p:cNvPr id="36" name="矩形 35">
            <a:extLst>
              <a:ext uri="{FF2B5EF4-FFF2-40B4-BE49-F238E27FC236}">
                <a16:creationId xmlns:a16="http://schemas.microsoft.com/office/drawing/2014/main" id="{3AFB802F-FE89-4AE6-B642-259A78812496}"/>
              </a:ext>
            </a:extLst>
          </p:cNvPr>
          <p:cNvSpPr/>
          <p:nvPr/>
        </p:nvSpPr>
        <p:spPr>
          <a:xfrm>
            <a:off x="4489687" y="2527300"/>
            <a:ext cx="7519152" cy="1862048"/>
          </a:xfrm>
          <a:prstGeom prst="rect">
            <a:avLst/>
          </a:prstGeom>
        </p:spPr>
        <p:txBody>
          <a:bodyPr wrap="square">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1500" b="1">
                <a:solidFill>
                  <a:srgbClr val="FF0000"/>
                </a:solidFill>
                <a:latin typeface="义启小魏楷" panose="02010601030101010101" pitchFamily="2" charset="-122"/>
                <a:ea typeface="长城行楷体" panose="02010609000101010101" pitchFamily="49" charset="-122"/>
                <a:cs typeface="+mn-ea"/>
              </a:rPr>
              <a:t>注释</a:t>
            </a:r>
            <a:endParaRPr kumimoji="0" lang="en-US" altLang="zh-CN" sz="11500" b="1" i="0" u="none" strike="noStrike" kern="1200" cap="none" spc="0" normalizeH="0" baseline="0" noProof="0" dirty="0">
              <a:ln>
                <a:noFill/>
              </a:ln>
              <a:solidFill>
                <a:srgbClr val="FF0000"/>
              </a:solidFill>
              <a:uLnTx/>
              <a:uFillTx/>
              <a:latin typeface="义启小魏楷" panose="02010601030101010101" pitchFamily="2" charset="-122"/>
              <a:ea typeface="长城行楷体" panose="02010609000101010101" pitchFamily="49" charset="-122"/>
              <a:cs typeface="+mn-ea"/>
            </a:endParaRPr>
          </a:p>
        </p:txBody>
      </p:sp>
      <p:sp>
        <p:nvSpPr>
          <p:cNvPr id="37" name="文本框 36">
            <a:extLst>
              <a:ext uri="{FF2B5EF4-FFF2-40B4-BE49-F238E27FC236}">
                <a16:creationId xmlns:a16="http://schemas.microsoft.com/office/drawing/2014/main" id="{5E5E95FF-8EB0-476E-8AF6-FB30C427C5C5}"/>
              </a:ext>
            </a:extLst>
          </p:cNvPr>
          <p:cNvSpPr txBox="1"/>
          <p:nvPr/>
        </p:nvSpPr>
        <p:spPr>
          <a:xfrm>
            <a:off x="2303207" y="69796"/>
            <a:ext cx="3345788" cy="3770263"/>
          </a:xfrm>
          <a:prstGeom prst="rect">
            <a:avLst/>
          </a:prstGeom>
          <a:noFill/>
        </p:spPr>
        <p:txBody>
          <a:bodyPr wrap="none" rtlCol="0">
            <a:spAutoFit/>
          </a:bodyPr>
          <a:lstStyle/>
          <a:p>
            <a:pPr>
              <a:defRPr/>
            </a:pPr>
            <a:r>
              <a:rPr lang="en-US" altLang="zh-CN" sz="23900" b="1" i="1">
                <a:solidFill>
                  <a:srgbClr val="00B050"/>
                </a:solidFill>
                <a:latin typeface="Times New Roman" panose="02020603050405020304" pitchFamily="18" charset="0"/>
                <a:ea typeface="义启小魏楷" panose="02010601030101010101" pitchFamily="2" charset="-122"/>
                <a:cs typeface="Times New Roman" panose="02020603050405020304" pitchFamily="18" charset="0"/>
              </a:rPr>
              <a:t>02</a:t>
            </a:r>
          </a:p>
        </p:txBody>
      </p:sp>
      <p:pic>
        <p:nvPicPr>
          <p:cNvPr id="8" name="图片 11">
            <a:extLst>
              <a:ext uri="{FF2B5EF4-FFF2-40B4-BE49-F238E27FC236}">
                <a16:creationId xmlns:a16="http://schemas.microsoft.com/office/drawing/2014/main" id="{94498F4F-54FE-4C27-8376-1707B9C261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765411" y="-2"/>
            <a:ext cx="5426589" cy="25273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292660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750"/>
                                        <p:tgtEl>
                                          <p:spTgt spid="35"/>
                                        </p:tgtEl>
                                      </p:cBhvr>
                                    </p:animEffect>
                                  </p:childTnLst>
                                </p:cTn>
                              </p:par>
                            </p:childTnLst>
                          </p:cTn>
                        </p:par>
                        <p:par>
                          <p:cTn id="8" fill="hold">
                            <p:stCondLst>
                              <p:cond delay="750"/>
                            </p:stCondLst>
                            <p:childTnLst>
                              <p:par>
                                <p:cTn id="9" presetID="2" presetClass="entr" presetSubtype="4"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750" fill="hold"/>
                                        <p:tgtEl>
                                          <p:spTgt spid="37"/>
                                        </p:tgtEl>
                                        <p:attrNameLst>
                                          <p:attrName>ppt_x</p:attrName>
                                        </p:attrNameLst>
                                      </p:cBhvr>
                                      <p:tavLst>
                                        <p:tav tm="0">
                                          <p:val>
                                            <p:strVal val="#ppt_x"/>
                                          </p:val>
                                        </p:tav>
                                        <p:tav tm="100000">
                                          <p:val>
                                            <p:strVal val="#ppt_x"/>
                                          </p:val>
                                        </p:tav>
                                      </p:tavLst>
                                    </p:anim>
                                    <p:anim calcmode="lin" valueType="num">
                                      <p:cBhvr additive="base">
                                        <p:cTn id="12" dur="750" fill="hold"/>
                                        <p:tgtEl>
                                          <p:spTgt spid="37"/>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2" presetClass="entr" presetSubtype="4"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750" fill="hold"/>
                                        <p:tgtEl>
                                          <p:spTgt spid="36"/>
                                        </p:tgtEl>
                                        <p:attrNameLst>
                                          <p:attrName>ppt_x</p:attrName>
                                        </p:attrNameLst>
                                      </p:cBhvr>
                                      <p:tavLst>
                                        <p:tav tm="0">
                                          <p:val>
                                            <p:strVal val="#ppt_x"/>
                                          </p:val>
                                        </p:tav>
                                        <p:tav tm="100000">
                                          <p:val>
                                            <p:strVal val="#ppt_x"/>
                                          </p:val>
                                        </p:tav>
                                      </p:tavLst>
                                    </p:anim>
                                    <p:anim calcmode="lin" valueType="num">
                                      <p:cBhvr additive="base">
                                        <p:cTn id="17" dur="750" fill="hold"/>
                                        <p:tgtEl>
                                          <p:spTgt spid="36"/>
                                        </p:tgtEl>
                                        <p:attrNameLst>
                                          <p:attrName>ppt_y</p:attrName>
                                        </p:attrNameLst>
                                      </p:cBhvr>
                                      <p:tavLst>
                                        <p:tav tm="0">
                                          <p:val>
                                            <p:strVal val="1+#ppt_h/2"/>
                                          </p:val>
                                        </p:tav>
                                        <p:tav tm="100000">
                                          <p:val>
                                            <p:strVal val="#ppt_y"/>
                                          </p:val>
                                        </p:tav>
                                      </p:tavLst>
                                    </p:anim>
                                  </p:childTnLst>
                                </p:cTn>
                              </p:par>
                            </p:childTnLst>
                          </p:cTn>
                        </p:par>
                        <p:par>
                          <p:cTn id="18" fill="hold">
                            <p:stCondLst>
                              <p:cond delay="225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933804832"/>
              </p:ext>
            </p:extLst>
          </p:nvPr>
        </p:nvGraphicFramePr>
        <p:xfrm>
          <a:off x="641687" y="192505"/>
          <a:ext cx="5550566" cy="705856"/>
        </p:xfrm>
        <a:graphic>
          <a:graphicData uri="http://schemas.openxmlformats.org/drawingml/2006/table">
            <a:tbl>
              <a:tblPr>
                <a:tableStyleId>{2D5ABB26-0587-4C30-8999-92F81FD0307C}</a:tableStyleId>
              </a:tblPr>
              <a:tblGrid>
                <a:gridCol w="5550566">
                  <a:extLst>
                    <a:ext uri="{9D8B030D-6E8A-4147-A177-3AD203B41FA5}">
                      <a16:colId xmlns:a16="http://schemas.microsoft.com/office/drawing/2014/main" val="2227816441"/>
                    </a:ext>
                  </a:extLst>
                </a:gridCol>
              </a:tblGrid>
              <a:tr h="705856">
                <a:tc>
                  <a:txBody>
                    <a:bodyPr/>
                    <a:lstStyle/>
                    <a:p>
                      <a:pPr algn="ctr"/>
                      <a:r>
                        <a:rPr lang="en-US" altLang="zh-CN" sz="2800" b="1" i="1">
                          <a:solidFill>
                            <a:srgbClr val="FF0000"/>
                          </a:solidFill>
                          <a:latin typeface="KaiTi" panose="02010609060101010101" pitchFamily="49" charset="-122"/>
                          <a:ea typeface="KaiTi" panose="02010609060101010101" pitchFamily="49" charset="-122"/>
                        </a:rPr>
                        <a:t>1.</a:t>
                      </a:r>
                      <a:r>
                        <a:rPr lang="zh-CN" altLang="en-US" sz="2800" b="1" i="1">
                          <a:solidFill>
                            <a:srgbClr val="FF0000"/>
                          </a:solidFill>
                          <a:latin typeface="KaiTi" panose="02010609060101010101" pitchFamily="49" charset="-122"/>
                          <a:ea typeface="KaiTi" panose="02010609060101010101" pitchFamily="49" charset="-122"/>
                        </a:rPr>
                        <a:t>他在一家汽车公司工作。</a:t>
                      </a:r>
                      <a:endParaRPr lang="en-US" sz="2800" b="1" i="1">
                        <a:solidFill>
                          <a:srgbClr val="FF0000"/>
                        </a:solidFill>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22663532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093492077"/>
              </p:ext>
            </p:extLst>
          </p:nvPr>
        </p:nvGraphicFramePr>
        <p:xfrm>
          <a:off x="818144" y="898361"/>
          <a:ext cx="10443414" cy="1448090"/>
        </p:xfrm>
        <a:graphic>
          <a:graphicData uri="http://schemas.openxmlformats.org/drawingml/2006/table">
            <a:tbl>
              <a:tblPr>
                <a:tableStyleId>{2D5ABB26-0587-4C30-8999-92F81FD0307C}</a:tableStyleId>
              </a:tblPr>
              <a:tblGrid>
                <a:gridCol w="10443414">
                  <a:extLst>
                    <a:ext uri="{9D8B030D-6E8A-4147-A177-3AD203B41FA5}">
                      <a16:colId xmlns:a16="http://schemas.microsoft.com/office/drawing/2014/main" val="1061202752"/>
                    </a:ext>
                  </a:extLst>
                </a:gridCol>
              </a:tblGrid>
              <a:tr h="1448090">
                <a:tc>
                  <a:txBody>
                    <a:bodyPr/>
                    <a:lstStyle/>
                    <a:p>
                      <a:pPr>
                        <a:lnSpc>
                          <a:spcPct val="150000"/>
                        </a:lnSpc>
                      </a:pPr>
                      <a:r>
                        <a:rPr lang="zh-CN" altLang="en-US" sz="2800">
                          <a:solidFill>
                            <a:schemeClr val="tx1">
                              <a:lumMod val="85000"/>
                              <a:lumOff val="15000"/>
                            </a:schemeClr>
                          </a:solidFill>
                          <a:latin typeface="Times New Roman" panose="02020603050405020304" pitchFamily="18" charset="0"/>
                          <a:cs typeface="Times New Roman" panose="02020603050405020304" pitchFamily="18" charset="0"/>
                        </a:rPr>
                        <a:t>“在” </a:t>
                      </a:r>
                      <a:r>
                        <a:rPr lang="zh-CN" altLang="en-US" sz="2800" baseline="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zh-CN" sz="2800" baseline="0">
                          <a:solidFill>
                            <a:schemeClr val="tx1">
                              <a:lumMod val="85000"/>
                              <a:lumOff val="15000"/>
                            </a:schemeClr>
                          </a:solidFill>
                          <a:latin typeface="Times New Roman" panose="02020603050405020304" pitchFamily="18" charset="0"/>
                          <a:cs typeface="Times New Roman" panose="02020603050405020304" pitchFamily="18" charset="0"/>
                        </a:rPr>
                        <a:t>là giới từ,  “</a:t>
                      </a:r>
                      <a:r>
                        <a:rPr lang="zh-CN" altLang="en-US" sz="2800" baseline="0">
                          <a:solidFill>
                            <a:schemeClr val="tx1">
                              <a:lumMod val="85000"/>
                              <a:lumOff val="15000"/>
                            </a:schemeClr>
                          </a:solidFill>
                          <a:latin typeface="Times New Roman" panose="02020603050405020304" pitchFamily="18" charset="0"/>
                          <a:cs typeface="Times New Roman" panose="02020603050405020304" pitchFamily="18" charset="0"/>
                        </a:rPr>
                        <a:t>在</a:t>
                      </a:r>
                      <a:r>
                        <a:rPr lang="en-US" altLang="zh-CN" sz="2800" baseline="0">
                          <a:solidFill>
                            <a:schemeClr val="tx1">
                              <a:lumMod val="85000"/>
                              <a:lumOff val="15000"/>
                            </a:schemeClr>
                          </a:solidFill>
                          <a:latin typeface="Times New Roman" panose="02020603050405020304" pitchFamily="18" charset="0"/>
                          <a:cs typeface="Times New Roman" panose="02020603050405020304" pitchFamily="18" charset="0"/>
                        </a:rPr>
                        <a:t>+ địa điểm”, đứng trước động từ làm trạng ngữ chỉ địa điểm</a:t>
                      </a:r>
                      <a:endParaRPr lang="en-US" sz="2800">
                        <a:solidFill>
                          <a:schemeClr val="tx1">
                            <a:lumMod val="85000"/>
                            <a:lumOff val="1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842474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39223872"/>
              </p:ext>
            </p:extLst>
          </p:nvPr>
        </p:nvGraphicFramePr>
        <p:xfrm>
          <a:off x="818144" y="2743195"/>
          <a:ext cx="10443414" cy="3400930"/>
        </p:xfrm>
        <a:graphic>
          <a:graphicData uri="http://schemas.openxmlformats.org/drawingml/2006/table">
            <a:tbl>
              <a:tblPr firstRow="1" bandRow="1">
                <a:tableStyleId>{5940675A-B579-460E-94D1-54222C63F5DA}</a:tableStyleId>
              </a:tblPr>
              <a:tblGrid>
                <a:gridCol w="1740569">
                  <a:extLst>
                    <a:ext uri="{9D8B030D-6E8A-4147-A177-3AD203B41FA5}">
                      <a16:colId xmlns:a16="http://schemas.microsoft.com/office/drawing/2014/main" val="1112474119"/>
                    </a:ext>
                  </a:extLst>
                </a:gridCol>
                <a:gridCol w="1740569">
                  <a:extLst>
                    <a:ext uri="{9D8B030D-6E8A-4147-A177-3AD203B41FA5}">
                      <a16:colId xmlns:a16="http://schemas.microsoft.com/office/drawing/2014/main" val="2845596332"/>
                    </a:ext>
                  </a:extLst>
                </a:gridCol>
                <a:gridCol w="1740569">
                  <a:extLst>
                    <a:ext uri="{9D8B030D-6E8A-4147-A177-3AD203B41FA5}">
                      <a16:colId xmlns:a16="http://schemas.microsoft.com/office/drawing/2014/main" val="4084275189"/>
                    </a:ext>
                  </a:extLst>
                </a:gridCol>
                <a:gridCol w="1740569">
                  <a:extLst>
                    <a:ext uri="{9D8B030D-6E8A-4147-A177-3AD203B41FA5}">
                      <a16:colId xmlns:a16="http://schemas.microsoft.com/office/drawing/2014/main" val="1373215386"/>
                    </a:ext>
                  </a:extLst>
                </a:gridCol>
                <a:gridCol w="1740569">
                  <a:extLst>
                    <a:ext uri="{9D8B030D-6E8A-4147-A177-3AD203B41FA5}">
                      <a16:colId xmlns:a16="http://schemas.microsoft.com/office/drawing/2014/main" val="3056735342"/>
                    </a:ext>
                  </a:extLst>
                </a:gridCol>
                <a:gridCol w="1740569">
                  <a:extLst>
                    <a:ext uri="{9D8B030D-6E8A-4147-A177-3AD203B41FA5}">
                      <a16:colId xmlns:a16="http://schemas.microsoft.com/office/drawing/2014/main" val="394728502"/>
                    </a:ext>
                  </a:extLst>
                </a:gridCol>
              </a:tblGrid>
              <a:tr h="680186">
                <a:tc rowSpan="2">
                  <a:txBody>
                    <a:bodyPr/>
                    <a:lstStyle/>
                    <a:p>
                      <a:pPr algn="ctr"/>
                      <a:r>
                        <a:rPr lang="en-US" sz="3000" b="1">
                          <a:latin typeface="KaiTi" panose="02010609060101010101" pitchFamily="49" charset="-122"/>
                          <a:ea typeface="KaiTi" panose="02010609060101010101" pitchFamily="49" charset="-122"/>
                        </a:rPr>
                        <a:t>S</a:t>
                      </a:r>
                    </a:p>
                  </a:txBody>
                  <a:tcPr anchor="ctr"/>
                </a:tc>
                <a:tc gridSpan="5">
                  <a:txBody>
                    <a:bodyPr/>
                    <a:lstStyle/>
                    <a:p>
                      <a:pPr algn="ctr"/>
                      <a:r>
                        <a:rPr lang="en-US" sz="3000" b="1">
                          <a:latin typeface="KaiTi" panose="02010609060101010101" pitchFamily="49" charset="-122"/>
                          <a:ea typeface="KaiTi" panose="02010609060101010101" pitchFamily="49" charset="-122"/>
                        </a:rPr>
                        <a:t>P</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26425118"/>
                  </a:ext>
                </a:extLst>
              </a:tr>
              <a:tr h="680186">
                <a:tc vMerge="1">
                  <a:txBody>
                    <a:bodyPr/>
                    <a:lstStyle/>
                    <a:p>
                      <a:endParaRPr lang="en-US"/>
                    </a:p>
                  </a:txBody>
                  <a:tcPr/>
                </a:tc>
                <a:tc>
                  <a:txBody>
                    <a:bodyPr/>
                    <a:lstStyle/>
                    <a:p>
                      <a:pPr marL="0" algn="ctr" defTabSz="914400" rtl="0" eaLnBrk="1" latinLnBrk="0" hangingPunct="1"/>
                      <a:r>
                        <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adv</a:t>
                      </a:r>
                    </a:p>
                  </a:txBody>
                  <a:tcPr anchor="ctr"/>
                </a:tc>
                <a:tc>
                  <a:txBody>
                    <a:bodyPr/>
                    <a:lstStyle/>
                    <a:p>
                      <a:pPr algn="ctr"/>
                      <a:r>
                        <a:rPr lang="zh-CN" altLang="en-US" sz="3000" b="1">
                          <a:latin typeface="KaiTi" panose="02010609060101010101" pitchFamily="49" charset="-122"/>
                          <a:ea typeface="KaiTi" panose="02010609060101010101" pitchFamily="49" charset="-122"/>
                        </a:rPr>
                        <a:t>在</a:t>
                      </a:r>
                      <a:endParaRPr lang="en-US" sz="3000" b="1">
                        <a:latin typeface="KaiTi" panose="02010609060101010101" pitchFamily="49" charset="-122"/>
                        <a:ea typeface="KaiTi" panose="02010609060101010101" pitchFamily="49" charset="-122"/>
                      </a:endParaRPr>
                    </a:p>
                  </a:txBody>
                  <a:tcPr anchor="ctr"/>
                </a:tc>
                <a:tc>
                  <a:txBody>
                    <a:bodyPr/>
                    <a:lstStyle/>
                    <a:p>
                      <a:pPr algn="ctr"/>
                      <a:r>
                        <a:rPr lang="en-US" altLang="zh-CN"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location</a:t>
                      </a:r>
                      <a:endPar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2800" b="1"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V</a:t>
                      </a:r>
                    </a:p>
                  </a:txBody>
                  <a:tcPr anchor="ctr"/>
                </a:tc>
                <a:tc>
                  <a:txBody>
                    <a:bodyPr/>
                    <a:lstStyle/>
                    <a:p>
                      <a:pPr algn="ctr"/>
                      <a:r>
                        <a:rPr lang="en-US" sz="3000" b="1">
                          <a:latin typeface="KaiTi" panose="02010609060101010101" pitchFamily="49" charset="-122"/>
                          <a:ea typeface="KaiTi" panose="02010609060101010101" pitchFamily="49" charset="-122"/>
                        </a:rPr>
                        <a:t>0</a:t>
                      </a:r>
                    </a:p>
                  </a:txBody>
                  <a:tcPr anchor="ctr"/>
                </a:tc>
                <a:extLst>
                  <a:ext uri="{0D108BD9-81ED-4DB2-BD59-A6C34878D82A}">
                    <a16:rowId xmlns:a16="http://schemas.microsoft.com/office/drawing/2014/main" val="872969775"/>
                  </a:ext>
                </a:extLst>
              </a:tr>
              <a:tr h="680186">
                <a:tc>
                  <a:txBody>
                    <a:bodyPr/>
                    <a:lstStyle/>
                    <a:p>
                      <a:pPr algn="ctr"/>
                      <a:r>
                        <a:rPr lang="zh-CN" altLang="en-US" sz="3000" b="0">
                          <a:latin typeface="KaiTi" panose="02010609060101010101" pitchFamily="49" charset="-122"/>
                          <a:ea typeface="KaiTi" panose="02010609060101010101" pitchFamily="49" charset="-122"/>
                        </a:rPr>
                        <a:t>他们</a:t>
                      </a:r>
                      <a:endParaRPr lang="en-US" sz="3000" b="0">
                        <a:latin typeface="KaiTi" panose="02010609060101010101" pitchFamily="49" charset="-122"/>
                        <a:ea typeface="KaiTi" panose="02010609060101010101" pitchFamily="49" charset="-122"/>
                      </a:endParaRPr>
                    </a:p>
                  </a:txBody>
                  <a:tcPr anchor="ctr"/>
                </a:tc>
                <a:tc>
                  <a:txBody>
                    <a:bodyPr/>
                    <a:lstStyle/>
                    <a:p>
                      <a:pPr algn="ct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公圆</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见面</a:t>
                      </a:r>
                      <a:endParaRPr lang="en-US" sz="3000" b="0">
                        <a:latin typeface="KaiTi" panose="02010609060101010101" pitchFamily="49" charset="-122"/>
                        <a:ea typeface="KaiTi" panose="02010609060101010101" pitchFamily="49" charset="-122"/>
                      </a:endParaRPr>
                    </a:p>
                  </a:txBody>
                  <a:tcPr anchor="ctr"/>
                </a:tc>
                <a:tc>
                  <a:txBody>
                    <a:bodyPr/>
                    <a:lstStyle/>
                    <a:p>
                      <a:pPr algn="ctr"/>
                      <a:endParaRPr lang="en-US" sz="3000" b="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74799136"/>
                  </a:ext>
                </a:extLst>
              </a:tr>
              <a:tr h="680186">
                <a:tc>
                  <a:txBody>
                    <a:bodyPr/>
                    <a:lstStyle/>
                    <a:p>
                      <a:pPr algn="ctr"/>
                      <a:r>
                        <a:rPr lang="zh-CN" altLang="en-US" sz="3000" b="0">
                          <a:latin typeface="KaiTi" panose="02010609060101010101" pitchFamily="49" charset="-122"/>
                          <a:ea typeface="KaiTi" panose="02010609060101010101" pitchFamily="49" charset="-122"/>
                        </a:rPr>
                        <a:t>他</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不</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家</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吃</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饭。</a:t>
                      </a:r>
                      <a:endParaRPr lang="en-US" sz="3000" b="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483277892"/>
                  </a:ext>
                </a:extLst>
              </a:tr>
              <a:tr h="680186">
                <a:tc>
                  <a:txBody>
                    <a:bodyPr/>
                    <a:lstStyle/>
                    <a:p>
                      <a:pPr algn="ctr"/>
                      <a:r>
                        <a:rPr lang="zh-CN" altLang="en-US" sz="3000" b="0">
                          <a:latin typeface="KaiTi" panose="02010609060101010101" pitchFamily="49" charset="-122"/>
                          <a:ea typeface="KaiTi" panose="02010609060101010101" pitchFamily="49" charset="-122"/>
                        </a:rPr>
                        <a:t>我</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常常</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solidFill>
                            <a:srgbClr val="00B0F0"/>
                          </a:solidFill>
                          <a:latin typeface="KaiTi" panose="02010609060101010101" pitchFamily="49" charset="-122"/>
                          <a:ea typeface="KaiTi" panose="02010609060101010101" pitchFamily="49" charset="-122"/>
                        </a:rPr>
                        <a:t>在</a:t>
                      </a:r>
                      <a:endParaRPr lang="en-US" sz="3000" b="0">
                        <a:solidFill>
                          <a:srgbClr val="00B0F0"/>
                        </a:solidFill>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宿舍</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上</a:t>
                      </a:r>
                      <a:endParaRPr lang="en-US" sz="3000" b="0">
                        <a:latin typeface="KaiTi" panose="02010609060101010101" pitchFamily="49" charset="-122"/>
                        <a:ea typeface="KaiTi" panose="02010609060101010101" pitchFamily="49" charset="-122"/>
                      </a:endParaRPr>
                    </a:p>
                  </a:txBody>
                  <a:tcPr anchor="ctr"/>
                </a:tc>
                <a:tc>
                  <a:txBody>
                    <a:bodyPr/>
                    <a:lstStyle/>
                    <a:p>
                      <a:pPr algn="ctr"/>
                      <a:r>
                        <a:rPr lang="zh-CN" altLang="en-US" sz="3000" b="0">
                          <a:latin typeface="KaiTi" panose="02010609060101010101" pitchFamily="49" charset="-122"/>
                          <a:ea typeface="KaiTi" panose="02010609060101010101" pitchFamily="49" charset="-122"/>
                        </a:rPr>
                        <a:t>网。</a:t>
                      </a:r>
                      <a:endParaRPr lang="en-US" sz="3000" b="0">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938831681"/>
                  </a:ext>
                </a:extLst>
              </a:tr>
            </a:tbl>
          </a:graphicData>
        </a:graphic>
      </p:graphicFrame>
    </p:spTree>
    <p:extLst>
      <p:ext uri="{BB962C8B-B14F-4D97-AF65-F5344CB8AC3E}">
        <p14:creationId xmlns:p14="http://schemas.microsoft.com/office/powerpoint/2010/main" val="2622897120"/>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99966709"/>
              </p:ext>
            </p:extLst>
          </p:nvPr>
        </p:nvGraphicFramePr>
        <p:xfrm>
          <a:off x="641687" y="192505"/>
          <a:ext cx="7098056" cy="705856"/>
        </p:xfrm>
        <a:graphic>
          <a:graphicData uri="http://schemas.openxmlformats.org/drawingml/2006/table">
            <a:tbl>
              <a:tblPr>
                <a:tableStyleId>{2D5ABB26-0587-4C30-8999-92F81FD0307C}</a:tableStyleId>
              </a:tblPr>
              <a:tblGrid>
                <a:gridCol w="7098056">
                  <a:extLst>
                    <a:ext uri="{9D8B030D-6E8A-4147-A177-3AD203B41FA5}">
                      <a16:colId xmlns:a16="http://schemas.microsoft.com/office/drawing/2014/main" val="2227816441"/>
                    </a:ext>
                  </a:extLst>
                </a:gridCol>
              </a:tblGrid>
              <a:tr h="705856">
                <a:tc>
                  <a:txBody>
                    <a:bodyPr/>
                    <a:lstStyle/>
                    <a:p>
                      <a:pPr algn="ctr"/>
                      <a:r>
                        <a:rPr lang="en-US" sz="2800" b="1" i="1">
                          <a:solidFill>
                            <a:srgbClr val="FF0000"/>
                          </a:solidFill>
                          <a:latin typeface="KaiTi" panose="02010609060101010101" pitchFamily="49" charset="-122"/>
                          <a:ea typeface="KaiTi" panose="02010609060101010101" pitchFamily="49" charset="-122"/>
                        </a:rPr>
                        <a:t>2.</a:t>
                      </a:r>
                      <a:r>
                        <a:rPr lang="zh-CN" altLang="en-US" sz="2800" b="1" i="1" baseline="0">
                          <a:solidFill>
                            <a:srgbClr val="FF0000"/>
                          </a:solidFill>
                          <a:latin typeface="KaiTi" panose="02010609060101010101" pitchFamily="49" charset="-122"/>
                          <a:ea typeface="KaiTi" panose="02010609060101010101" pitchFamily="49" charset="-122"/>
                        </a:rPr>
                        <a:t>从早上八点到下午五点都在公司上班。</a:t>
                      </a:r>
                      <a:endParaRPr lang="en-US" sz="2800" b="1" i="1">
                        <a:solidFill>
                          <a:srgbClr val="FF0000"/>
                        </a:solidFill>
                        <a:latin typeface="KaiTi" panose="02010609060101010101" pitchFamily="49" charset="-122"/>
                        <a:ea typeface="KaiTi" panose="02010609060101010101" pitchFamily="49" charset="-122"/>
                      </a:endParaRPr>
                    </a:p>
                  </a:txBody>
                  <a:tcPr anchor="ctr"/>
                </a:tc>
                <a:extLst>
                  <a:ext uri="{0D108BD9-81ED-4DB2-BD59-A6C34878D82A}">
                    <a16:rowId xmlns:a16="http://schemas.microsoft.com/office/drawing/2014/main" val="322663532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03043435"/>
              </p:ext>
            </p:extLst>
          </p:nvPr>
        </p:nvGraphicFramePr>
        <p:xfrm>
          <a:off x="641687" y="1540045"/>
          <a:ext cx="10443414" cy="5133471"/>
        </p:xfrm>
        <a:graphic>
          <a:graphicData uri="http://schemas.openxmlformats.org/drawingml/2006/table">
            <a:tbl>
              <a:tblPr>
                <a:tableStyleId>{2D5ABB26-0587-4C30-8999-92F81FD0307C}</a:tableStyleId>
              </a:tblPr>
              <a:tblGrid>
                <a:gridCol w="10443414">
                  <a:extLst>
                    <a:ext uri="{9D8B030D-6E8A-4147-A177-3AD203B41FA5}">
                      <a16:colId xmlns:a16="http://schemas.microsoft.com/office/drawing/2014/main" val="1061202752"/>
                    </a:ext>
                  </a:extLst>
                </a:gridCol>
              </a:tblGrid>
              <a:tr h="5133471">
                <a:tc>
                  <a:txBody>
                    <a:bodyPr/>
                    <a:lstStyle/>
                    <a:p>
                      <a:pPr marL="0" algn="ctr" defTabSz="914400" rtl="0" eaLnBrk="1" latinLnBrk="0" hangingPunct="1">
                        <a:lnSpc>
                          <a:spcPct val="150000"/>
                        </a:lnSpc>
                      </a:pPr>
                      <a:r>
                        <a:rPr lang="en-US" sz="3200">
                          <a:solidFill>
                            <a:schemeClr val="tx1">
                              <a:lumMod val="85000"/>
                              <a:lumOff val="15000"/>
                            </a:schemeClr>
                          </a:solidFill>
                          <a:latin typeface="Times New Roman" panose="02020603050405020304" pitchFamily="18" charset="0"/>
                          <a:cs typeface="Times New Roman" panose="02020603050405020304" pitchFamily="18" charset="0"/>
                        </a:rPr>
                        <a:t>Kết</a:t>
                      </a:r>
                      <a:r>
                        <a:rPr lang="en-US" sz="3200" baseline="0">
                          <a:solidFill>
                            <a:schemeClr val="tx1">
                              <a:lumMod val="85000"/>
                              <a:lumOff val="15000"/>
                            </a:schemeClr>
                          </a:solidFill>
                          <a:latin typeface="Times New Roman" panose="02020603050405020304" pitchFamily="18" charset="0"/>
                          <a:cs typeface="Times New Roman" panose="02020603050405020304" pitchFamily="18" charset="0"/>
                        </a:rPr>
                        <a:t> cấu </a:t>
                      </a:r>
                      <a:r>
                        <a:rPr lang="zh-CN" altLang="en-US" sz="3200" baseline="0">
                          <a:solidFill>
                            <a:schemeClr val="tx1">
                              <a:lumMod val="85000"/>
                              <a:lumOff val="15000"/>
                            </a:schemeClr>
                          </a:solidFill>
                          <a:latin typeface="Times New Roman" panose="02020603050405020304" pitchFamily="18" charset="0"/>
                          <a:cs typeface="Times New Roman" panose="02020603050405020304" pitchFamily="18" charset="0"/>
                        </a:rPr>
                        <a:t>“ 从</a:t>
                      </a:r>
                      <a:r>
                        <a:rPr lang="en-US" altLang="zh-CN" sz="3200" baseline="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3200" baseline="0">
                          <a:solidFill>
                            <a:schemeClr val="tx1">
                              <a:lumMod val="85000"/>
                              <a:lumOff val="15000"/>
                            </a:schemeClr>
                          </a:solidFill>
                          <a:latin typeface="Times New Roman" panose="02020603050405020304" pitchFamily="18" charset="0"/>
                          <a:cs typeface="Times New Roman" panose="02020603050405020304" pitchFamily="18" charset="0"/>
                        </a:rPr>
                        <a:t>到</a:t>
                      </a:r>
                      <a:r>
                        <a:rPr lang="en-US" altLang="zh-CN" sz="3200" baseline="0">
                          <a:solidFill>
                            <a:schemeClr val="tx1">
                              <a:lumMod val="85000"/>
                              <a:lumOff val="15000"/>
                            </a:schemeClr>
                          </a:solidFill>
                          <a:latin typeface="Times New Roman" panose="02020603050405020304" pitchFamily="18" charset="0"/>
                          <a:cs typeface="Times New Roman" panose="02020603050405020304" pitchFamily="18" charset="0"/>
                        </a:rPr>
                        <a:t>….</a:t>
                      </a:r>
                      <a:r>
                        <a:rPr lang="zh-CN" altLang="en-US" sz="3200" baseline="0">
                          <a:solidFill>
                            <a:schemeClr val="tx1">
                              <a:lumMod val="85000"/>
                              <a:lumOff val="15000"/>
                            </a:schemeClr>
                          </a:solidFill>
                          <a:latin typeface="Times New Roman" panose="02020603050405020304" pitchFamily="18" charset="0"/>
                          <a:cs typeface="Times New Roman" panose="02020603050405020304" pitchFamily="18" charset="0"/>
                        </a:rPr>
                        <a:t>”</a:t>
                      </a:r>
                      <a:r>
                        <a:rPr lang="en-US" altLang="zh-CN" sz="3200" baseline="0">
                          <a:solidFill>
                            <a:schemeClr val="tx1">
                              <a:lumMod val="85000"/>
                              <a:lumOff val="15000"/>
                            </a:schemeClr>
                          </a:solidFill>
                          <a:latin typeface="Times New Roman" panose="02020603050405020304" pitchFamily="18" charset="0"/>
                          <a:cs typeface="Times New Roman" panose="02020603050405020304" pitchFamily="18" charset="0"/>
                        </a:rPr>
                        <a:t>biểu thị sự liên kết từ ngữ chỉ thời gian hay nơi chốn, đứng trước động từ hoặc tính từ.</a:t>
                      </a:r>
                      <a:br>
                        <a:rPr lang="en-US" altLang="zh-CN" sz="2800" baseline="0">
                          <a:solidFill>
                            <a:schemeClr val="tx1">
                              <a:lumMod val="85000"/>
                              <a:lumOff val="15000"/>
                            </a:schemeClr>
                          </a:solidFill>
                          <a:latin typeface="Times New Roman" panose="02020603050405020304" pitchFamily="18" charset="0"/>
                          <a:cs typeface="Times New Roman" panose="02020603050405020304" pitchFamily="18" charset="0"/>
                        </a:rPr>
                      </a:br>
                      <a:r>
                        <a:rPr lang="zh-CN" altLang="en-US" sz="3200" baseline="0">
                          <a:solidFill>
                            <a:schemeClr val="tx1">
                              <a:lumMod val="85000"/>
                              <a:lumOff val="15000"/>
                            </a:schemeClr>
                          </a:solidFill>
                          <a:latin typeface="Times New Roman" panose="02020603050405020304" pitchFamily="18" charset="0"/>
                          <a:cs typeface="Times New Roman" panose="02020603050405020304" pitchFamily="18" charset="0"/>
                        </a:rPr>
                        <a:t>（</a:t>
                      </a:r>
                      <a:r>
                        <a:rPr lang="en-US" altLang="zh-CN" sz="3200" b="0" kern="1200">
                          <a:solidFill>
                            <a:schemeClr val="tx1"/>
                          </a:solidFill>
                          <a:latin typeface="KaiTi" panose="02010609060101010101" pitchFamily="49" charset="-122"/>
                          <a:ea typeface="KaiTi" panose="02010609060101010101" pitchFamily="49" charset="-122"/>
                          <a:cs typeface="+mn-cs"/>
                        </a:rPr>
                        <a:t>1</a:t>
                      </a:r>
                      <a:r>
                        <a:rPr lang="zh-CN" altLang="en-US" sz="3200" b="0" kern="1200">
                          <a:solidFill>
                            <a:schemeClr val="tx1"/>
                          </a:solidFill>
                          <a:latin typeface="KaiTi" panose="02010609060101010101" pitchFamily="49" charset="-122"/>
                          <a:ea typeface="KaiTi" panose="02010609060101010101" pitchFamily="49" charset="-122"/>
                          <a:cs typeface="+mn-cs"/>
                        </a:rPr>
                        <a:t>）</a:t>
                      </a:r>
                      <a:r>
                        <a:rPr lang="zh-CN" altLang="en-US" sz="3200" b="0" kern="1200">
                          <a:solidFill>
                            <a:srgbClr val="00B0F0"/>
                          </a:solidFill>
                          <a:latin typeface="KaiTi" panose="02010609060101010101" pitchFamily="49" charset="-122"/>
                          <a:ea typeface="KaiTi" panose="02010609060101010101" pitchFamily="49" charset="-122"/>
                          <a:cs typeface="+mn-cs"/>
                        </a:rPr>
                        <a:t>从</a:t>
                      </a:r>
                      <a:r>
                        <a:rPr lang="zh-CN" altLang="en-US" sz="3200" b="0" kern="1200">
                          <a:solidFill>
                            <a:schemeClr val="tx1"/>
                          </a:solidFill>
                          <a:latin typeface="KaiTi" panose="02010609060101010101" pitchFamily="49" charset="-122"/>
                          <a:ea typeface="KaiTi" panose="02010609060101010101" pitchFamily="49" charset="-122"/>
                          <a:cs typeface="+mn-cs"/>
                        </a:rPr>
                        <a:t>八点</a:t>
                      </a:r>
                      <a:r>
                        <a:rPr lang="zh-CN" altLang="en-US" sz="3200" b="0" kern="1200">
                          <a:solidFill>
                            <a:srgbClr val="00B0F0"/>
                          </a:solidFill>
                          <a:latin typeface="KaiTi" panose="02010609060101010101" pitchFamily="49" charset="-122"/>
                          <a:ea typeface="KaiTi" panose="02010609060101010101" pitchFamily="49" charset="-122"/>
                          <a:cs typeface="+mn-cs"/>
                        </a:rPr>
                        <a:t>到</a:t>
                      </a:r>
                      <a:r>
                        <a:rPr lang="zh-CN" altLang="en-US" sz="3200" b="0" kern="1200">
                          <a:solidFill>
                            <a:schemeClr val="tx1"/>
                          </a:solidFill>
                          <a:latin typeface="KaiTi" panose="02010609060101010101" pitchFamily="49" charset="-122"/>
                          <a:ea typeface="KaiTi" panose="02010609060101010101" pitchFamily="49" charset="-122"/>
                          <a:cs typeface="+mn-cs"/>
                        </a:rPr>
                        <a:t>十一点半， 我有课。</a:t>
                      </a:r>
                      <a:br>
                        <a:rPr lang="en-US" altLang="zh-CN" sz="3200" b="0" kern="1200">
                          <a:solidFill>
                            <a:schemeClr val="tx1"/>
                          </a:solidFill>
                          <a:latin typeface="KaiTi" panose="02010609060101010101" pitchFamily="49" charset="-122"/>
                          <a:ea typeface="KaiTi" panose="02010609060101010101" pitchFamily="49" charset="-122"/>
                          <a:cs typeface="+mn-cs"/>
                        </a:rPr>
                      </a:br>
                      <a:r>
                        <a:rPr lang="zh-CN" altLang="en-US" sz="3200" b="0" kern="1200">
                          <a:solidFill>
                            <a:schemeClr val="tx1"/>
                          </a:solidFill>
                          <a:latin typeface="KaiTi" panose="02010609060101010101" pitchFamily="49" charset="-122"/>
                          <a:ea typeface="KaiTi" panose="02010609060101010101" pitchFamily="49" charset="-122"/>
                          <a:cs typeface="+mn-cs"/>
                        </a:rPr>
                        <a:t>（</a:t>
                      </a:r>
                      <a:r>
                        <a:rPr lang="en-US" altLang="zh-CN" sz="3200" b="0" kern="1200">
                          <a:solidFill>
                            <a:schemeClr val="tx1"/>
                          </a:solidFill>
                          <a:latin typeface="KaiTi" panose="02010609060101010101" pitchFamily="49" charset="-122"/>
                          <a:ea typeface="KaiTi" panose="02010609060101010101" pitchFamily="49" charset="-122"/>
                          <a:cs typeface="+mn-cs"/>
                        </a:rPr>
                        <a:t>2</a:t>
                      </a:r>
                      <a:r>
                        <a:rPr lang="zh-CN" altLang="en-US" sz="3200" b="0" kern="1200">
                          <a:solidFill>
                            <a:schemeClr val="tx1"/>
                          </a:solidFill>
                          <a:latin typeface="KaiTi" panose="02010609060101010101" pitchFamily="49" charset="-122"/>
                          <a:ea typeface="KaiTi" panose="02010609060101010101" pitchFamily="49" charset="-122"/>
                          <a:cs typeface="+mn-cs"/>
                        </a:rPr>
                        <a:t>）</a:t>
                      </a:r>
                      <a:r>
                        <a:rPr lang="zh-CN" altLang="en-US" sz="3200" b="0" kern="1200">
                          <a:solidFill>
                            <a:srgbClr val="00B0F0"/>
                          </a:solidFill>
                          <a:latin typeface="KaiTi" panose="02010609060101010101" pitchFamily="49" charset="-122"/>
                          <a:ea typeface="KaiTi" panose="02010609060101010101" pitchFamily="49" charset="-122"/>
                          <a:cs typeface="+mn-cs"/>
                        </a:rPr>
                        <a:t>从</a:t>
                      </a:r>
                      <a:r>
                        <a:rPr lang="zh-CN" altLang="en-US" sz="3200" b="0" kern="1200">
                          <a:solidFill>
                            <a:schemeClr val="tx1"/>
                          </a:solidFill>
                          <a:latin typeface="KaiTi" panose="02010609060101010101" pitchFamily="49" charset="-122"/>
                          <a:ea typeface="KaiTi" panose="02010609060101010101" pitchFamily="49" charset="-122"/>
                          <a:cs typeface="+mn-cs"/>
                        </a:rPr>
                        <a:t>星期一</a:t>
                      </a:r>
                      <a:r>
                        <a:rPr lang="zh-CN" altLang="en-US" sz="3200" b="0" kern="1200">
                          <a:solidFill>
                            <a:srgbClr val="00B0F0"/>
                          </a:solidFill>
                          <a:latin typeface="KaiTi" panose="02010609060101010101" pitchFamily="49" charset="-122"/>
                          <a:ea typeface="KaiTi" panose="02010609060101010101" pitchFamily="49" charset="-122"/>
                          <a:cs typeface="+mn-cs"/>
                        </a:rPr>
                        <a:t>到</a:t>
                      </a:r>
                      <a:r>
                        <a:rPr lang="zh-CN" altLang="en-US" sz="3200" b="0" kern="1200">
                          <a:solidFill>
                            <a:schemeClr val="tx1"/>
                          </a:solidFill>
                          <a:latin typeface="KaiTi" panose="02010609060101010101" pitchFamily="49" charset="-122"/>
                          <a:ea typeface="KaiTi" panose="02010609060101010101" pitchFamily="49" charset="-122"/>
                          <a:cs typeface="+mn-cs"/>
                        </a:rPr>
                        <a:t>星期五，我都很忙。</a:t>
                      </a:r>
                      <a:br>
                        <a:rPr lang="en-US" altLang="zh-CN" sz="3200" b="0" kern="1200">
                          <a:solidFill>
                            <a:schemeClr val="tx1"/>
                          </a:solidFill>
                          <a:latin typeface="KaiTi" panose="02010609060101010101" pitchFamily="49" charset="-122"/>
                          <a:ea typeface="KaiTi" panose="02010609060101010101" pitchFamily="49" charset="-122"/>
                          <a:cs typeface="+mn-cs"/>
                        </a:rPr>
                      </a:br>
                      <a:r>
                        <a:rPr lang="zh-CN" altLang="en-US" sz="3200" b="0" kern="1200">
                          <a:solidFill>
                            <a:schemeClr val="tx1"/>
                          </a:solidFill>
                          <a:latin typeface="KaiTi" panose="02010609060101010101" pitchFamily="49" charset="-122"/>
                          <a:ea typeface="KaiTi" panose="02010609060101010101" pitchFamily="49" charset="-122"/>
                          <a:cs typeface="+mn-cs"/>
                        </a:rPr>
                        <a:t>（</a:t>
                      </a:r>
                      <a:r>
                        <a:rPr lang="en-US" altLang="zh-CN" sz="3200" b="0" kern="1200">
                          <a:solidFill>
                            <a:schemeClr val="tx1"/>
                          </a:solidFill>
                          <a:latin typeface="KaiTi" panose="02010609060101010101" pitchFamily="49" charset="-122"/>
                          <a:ea typeface="KaiTi" panose="02010609060101010101" pitchFamily="49" charset="-122"/>
                          <a:cs typeface="+mn-cs"/>
                        </a:rPr>
                        <a:t>3</a:t>
                      </a:r>
                      <a:r>
                        <a:rPr lang="zh-CN" altLang="en-US" sz="3200" b="0" kern="1200">
                          <a:solidFill>
                            <a:schemeClr val="tx1"/>
                          </a:solidFill>
                          <a:latin typeface="KaiTi" panose="02010609060101010101" pitchFamily="49" charset="-122"/>
                          <a:ea typeface="KaiTi" panose="02010609060101010101" pitchFamily="49" charset="-122"/>
                          <a:cs typeface="+mn-cs"/>
                        </a:rPr>
                        <a:t>）</a:t>
                      </a:r>
                      <a:r>
                        <a:rPr lang="zh-CN" altLang="en-US" sz="3200" b="0" kern="1200">
                          <a:solidFill>
                            <a:srgbClr val="00B0F0"/>
                          </a:solidFill>
                          <a:latin typeface="KaiTi" panose="02010609060101010101" pitchFamily="49" charset="-122"/>
                          <a:ea typeface="KaiTi" panose="02010609060101010101" pitchFamily="49" charset="-122"/>
                          <a:cs typeface="+mn-cs"/>
                        </a:rPr>
                        <a:t>从</a:t>
                      </a:r>
                      <a:r>
                        <a:rPr lang="zh-CN" altLang="en-US" sz="3200" b="0" kern="1200">
                          <a:solidFill>
                            <a:schemeClr val="tx1"/>
                          </a:solidFill>
                          <a:latin typeface="KaiTi" panose="02010609060101010101" pitchFamily="49" charset="-122"/>
                          <a:ea typeface="KaiTi" panose="02010609060101010101" pitchFamily="49" charset="-122"/>
                          <a:cs typeface="+mn-cs"/>
                        </a:rPr>
                        <a:t>这儿</a:t>
                      </a:r>
                      <a:r>
                        <a:rPr lang="zh-CN" altLang="en-US" sz="3200" b="0" kern="1200">
                          <a:solidFill>
                            <a:srgbClr val="00B0F0"/>
                          </a:solidFill>
                          <a:latin typeface="KaiTi" panose="02010609060101010101" pitchFamily="49" charset="-122"/>
                          <a:ea typeface="KaiTi" panose="02010609060101010101" pitchFamily="49" charset="-122"/>
                          <a:cs typeface="+mn-cs"/>
                        </a:rPr>
                        <a:t>到</a:t>
                      </a:r>
                      <a:r>
                        <a:rPr lang="zh-CN" altLang="en-US" sz="3200" b="0" kern="1200">
                          <a:solidFill>
                            <a:schemeClr val="tx1"/>
                          </a:solidFill>
                          <a:latin typeface="KaiTi" panose="02010609060101010101" pitchFamily="49" charset="-122"/>
                          <a:ea typeface="KaiTi" panose="02010609060101010101" pitchFamily="49" charset="-122"/>
                          <a:cs typeface="+mn-cs"/>
                        </a:rPr>
                        <a:t>图书馆有</a:t>
                      </a:r>
                      <a:r>
                        <a:rPr lang="en-US" altLang="zh-CN" sz="3200" b="0" kern="1200">
                          <a:solidFill>
                            <a:schemeClr val="tx1"/>
                          </a:solidFill>
                          <a:latin typeface="KaiTi" panose="02010609060101010101" pitchFamily="49" charset="-122"/>
                          <a:ea typeface="KaiTi" panose="02010609060101010101" pitchFamily="49" charset="-122"/>
                          <a:cs typeface="+mn-cs"/>
                        </a:rPr>
                        <a:t>1000</a:t>
                      </a:r>
                      <a:r>
                        <a:rPr lang="zh-CN" altLang="en-US" sz="3200" b="0" kern="1200">
                          <a:solidFill>
                            <a:schemeClr val="tx1"/>
                          </a:solidFill>
                          <a:latin typeface="KaiTi" panose="02010609060101010101" pitchFamily="49" charset="-122"/>
                          <a:ea typeface="KaiTi" panose="02010609060101010101" pitchFamily="49" charset="-122"/>
                          <a:cs typeface="+mn-cs"/>
                        </a:rPr>
                        <a:t>米。</a:t>
                      </a:r>
                      <a:endParaRPr lang="en-US" sz="3200" b="0" kern="1200">
                        <a:solidFill>
                          <a:schemeClr val="tx1"/>
                        </a:solidFill>
                        <a:latin typeface="KaiTi" panose="02010609060101010101" pitchFamily="49" charset="-122"/>
                        <a:ea typeface="KaiTi" panose="02010609060101010101" pitchFamily="49" charset="-122"/>
                        <a:cs typeface="+mn-cs"/>
                      </a:endParaRPr>
                    </a:p>
                  </a:txBody>
                  <a:tcPr/>
                </a:tc>
                <a:extLst>
                  <a:ext uri="{0D108BD9-81ED-4DB2-BD59-A6C34878D82A}">
                    <a16:rowId xmlns:a16="http://schemas.microsoft.com/office/drawing/2014/main" val="3778424746"/>
                  </a:ext>
                </a:extLst>
              </a:tr>
            </a:tbl>
          </a:graphicData>
        </a:graphic>
      </p:graphicFrame>
    </p:spTree>
    <p:extLst>
      <p:ext uri="{BB962C8B-B14F-4D97-AF65-F5344CB8AC3E}">
        <p14:creationId xmlns:p14="http://schemas.microsoft.com/office/powerpoint/2010/main" val="3565316850"/>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42220067"/>
              </p:ext>
            </p:extLst>
          </p:nvPr>
        </p:nvGraphicFramePr>
        <p:xfrm>
          <a:off x="641687" y="212271"/>
          <a:ext cx="5024327" cy="686090"/>
        </p:xfrm>
        <a:graphic>
          <a:graphicData uri="http://schemas.openxmlformats.org/drawingml/2006/table">
            <a:tbl>
              <a:tblPr>
                <a:tableStyleId>{2D5ABB26-0587-4C30-8999-92F81FD0307C}</a:tableStyleId>
              </a:tblPr>
              <a:tblGrid>
                <a:gridCol w="5024327">
                  <a:extLst>
                    <a:ext uri="{9D8B030D-6E8A-4147-A177-3AD203B41FA5}">
                      <a16:colId xmlns:a16="http://schemas.microsoft.com/office/drawing/2014/main" val="2227816441"/>
                    </a:ext>
                  </a:extLst>
                </a:gridCol>
              </a:tblGrid>
              <a:tr h="686090">
                <a:tc>
                  <a:txBody>
                    <a:bodyPr/>
                    <a:lstStyle/>
                    <a:p>
                      <a:pPr algn="ctr"/>
                      <a:r>
                        <a:rPr lang="en-US" sz="2800" b="1" i="1">
                          <a:solidFill>
                            <a:srgbClr val="FF0000"/>
                          </a:solidFill>
                          <a:latin typeface="KaiTi" panose="02010609060101010101" pitchFamily="49" charset="-122"/>
                          <a:ea typeface="KaiTi" panose="02010609060101010101" pitchFamily="49" charset="-122"/>
                        </a:rPr>
                        <a:t>3</a:t>
                      </a:r>
                      <a:r>
                        <a:rPr lang="zh-CN" altLang="en-US" sz="2800" b="1" i="1">
                          <a:solidFill>
                            <a:srgbClr val="FF0000"/>
                          </a:solidFill>
                          <a:latin typeface="KaiTi" panose="02010609060101010101" pitchFamily="49" charset="-122"/>
                          <a:ea typeface="KaiTi" panose="02010609060101010101" pitchFamily="49" charset="-122"/>
                        </a:rPr>
                        <a:t>。平时我在学校食堂吃饭。</a:t>
                      </a:r>
                      <a:endParaRPr lang="en-US" sz="2800" b="1" i="1">
                        <a:solidFill>
                          <a:srgbClr val="FF0000"/>
                        </a:solidFill>
                        <a:latin typeface="KaiTi" panose="02010609060101010101" pitchFamily="49" charset="-122"/>
                        <a:ea typeface="KaiTi" panose="02010609060101010101" pitchFamily="49" charset="-122"/>
                      </a:endParaRPr>
                    </a:p>
                  </a:txBody>
                  <a:tcPr/>
                </a:tc>
                <a:extLst>
                  <a:ext uri="{0D108BD9-81ED-4DB2-BD59-A6C34878D82A}">
                    <a16:rowId xmlns:a16="http://schemas.microsoft.com/office/drawing/2014/main" val="3226635329"/>
                  </a:ext>
                </a:extLst>
              </a:tr>
            </a:tbl>
          </a:graphicData>
        </a:graphic>
      </p:graphicFrame>
      <p:pic>
        <p:nvPicPr>
          <p:cNvPr id="5" name="图片 2">
            <a:extLst>
              <a:ext uri="{FF2B5EF4-FFF2-40B4-BE49-F238E27FC236}">
                <a16:creationId xmlns:a16="http://schemas.microsoft.com/office/drawing/2014/main" id="{C8E28B64-B09C-4D61-B3C1-105F21A86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755247" y="0"/>
            <a:ext cx="5436753" cy="1925053"/>
          </a:xfrm>
          <a:prstGeom prst="rect">
            <a:avLst/>
          </a:prstGeom>
          <a:effectLst>
            <a:outerShdw blurRad="50800" dist="38100" dir="2700000" algn="tl" rotWithShape="0">
              <a:prstClr val="black">
                <a:alpha val="40000"/>
              </a:prstClr>
            </a:outerShdw>
          </a:effectLst>
        </p:spPr>
      </p:pic>
      <p:graphicFrame>
        <p:nvGraphicFramePr>
          <p:cNvPr id="8" name="Table 7"/>
          <p:cNvGraphicFramePr>
            <a:graphicFrameLocks noGrp="1"/>
          </p:cNvGraphicFramePr>
          <p:nvPr>
            <p:extLst>
              <p:ext uri="{D42A27DB-BD31-4B8C-83A1-F6EECF244321}">
                <p14:modId xmlns:p14="http://schemas.microsoft.com/office/powerpoint/2010/main" val="4189718495"/>
              </p:ext>
            </p:extLst>
          </p:nvPr>
        </p:nvGraphicFramePr>
        <p:xfrm>
          <a:off x="641688" y="898361"/>
          <a:ext cx="10363196" cy="1026692"/>
        </p:xfrm>
        <a:graphic>
          <a:graphicData uri="http://schemas.openxmlformats.org/drawingml/2006/table">
            <a:tbl>
              <a:tblPr>
                <a:tableStyleId>{2D5ABB26-0587-4C30-8999-92F81FD0307C}</a:tableStyleId>
              </a:tblPr>
              <a:tblGrid>
                <a:gridCol w="10363196">
                  <a:extLst>
                    <a:ext uri="{9D8B030D-6E8A-4147-A177-3AD203B41FA5}">
                      <a16:colId xmlns:a16="http://schemas.microsoft.com/office/drawing/2014/main" val="1061202752"/>
                    </a:ext>
                  </a:extLst>
                </a:gridCol>
              </a:tblGrid>
              <a:tr h="1026692">
                <a:tc>
                  <a:txBody>
                    <a:bodyPr/>
                    <a:lstStyle/>
                    <a:p>
                      <a:pPr marL="0" algn="l" defTabSz="914400" rtl="0" eaLnBrk="1" latinLnBrk="0" hangingPunct="1">
                        <a:lnSpc>
                          <a:spcPct val="100000"/>
                        </a:lnSpc>
                      </a:pPr>
                      <a:r>
                        <a:rPr lang="en-US" sz="2600"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Trong một câu khi đồng thời có  trạng ngữ diễn tả thời gian và trạng ngữ chỉ địa điểm,, thì trạng ngữ chỉ thời gian đứng trước trạng ngữ chỉ địa điểm.</a:t>
                      </a:r>
                    </a:p>
                  </a:txBody>
                  <a:tcPr/>
                </a:tc>
                <a:extLst>
                  <a:ext uri="{0D108BD9-81ED-4DB2-BD59-A6C34878D82A}">
                    <a16:rowId xmlns:a16="http://schemas.microsoft.com/office/drawing/2014/main" val="3778424746"/>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233355700"/>
              </p:ext>
            </p:extLst>
          </p:nvPr>
        </p:nvGraphicFramePr>
        <p:xfrm>
          <a:off x="1909012" y="1925052"/>
          <a:ext cx="8550440" cy="1889760"/>
        </p:xfrm>
        <a:graphic>
          <a:graphicData uri="http://schemas.openxmlformats.org/drawingml/2006/table">
            <a:tbl>
              <a:tblPr>
                <a:tableStyleId>{5940675A-B579-460E-94D1-54222C63F5DA}</a:tableStyleId>
              </a:tblPr>
              <a:tblGrid>
                <a:gridCol w="1350993">
                  <a:extLst>
                    <a:ext uri="{9D8B030D-6E8A-4147-A177-3AD203B41FA5}">
                      <a16:colId xmlns:a16="http://schemas.microsoft.com/office/drawing/2014/main" val="1355618285"/>
                    </a:ext>
                  </a:extLst>
                </a:gridCol>
                <a:gridCol w="1883203">
                  <a:extLst>
                    <a:ext uri="{9D8B030D-6E8A-4147-A177-3AD203B41FA5}">
                      <a16:colId xmlns:a16="http://schemas.microsoft.com/office/drawing/2014/main" val="1340096670"/>
                    </a:ext>
                  </a:extLst>
                </a:gridCol>
                <a:gridCol w="2082048">
                  <a:extLst>
                    <a:ext uri="{9D8B030D-6E8A-4147-A177-3AD203B41FA5}">
                      <a16:colId xmlns:a16="http://schemas.microsoft.com/office/drawing/2014/main" val="1717140651"/>
                    </a:ext>
                  </a:extLst>
                </a:gridCol>
                <a:gridCol w="1617098">
                  <a:extLst>
                    <a:ext uri="{9D8B030D-6E8A-4147-A177-3AD203B41FA5}">
                      <a16:colId xmlns:a16="http://schemas.microsoft.com/office/drawing/2014/main" val="3720164861"/>
                    </a:ext>
                  </a:extLst>
                </a:gridCol>
                <a:gridCol w="1617098">
                  <a:extLst>
                    <a:ext uri="{9D8B030D-6E8A-4147-A177-3AD203B41FA5}">
                      <a16:colId xmlns:a16="http://schemas.microsoft.com/office/drawing/2014/main" val="3091592653"/>
                    </a:ext>
                  </a:extLst>
                </a:gridCol>
              </a:tblGrid>
              <a:tr h="407521">
                <a:tc rowSpan="2">
                  <a:txBody>
                    <a:bodyPr/>
                    <a:lstStyle/>
                    <a:p>
                      <a:pPr algn="ctr"/>
                      <a:r>
                        <a:rPr lang="en-US" sz="2400" b="0">
                          <a:latin typeface="Times New Roman" panose="02020603050405020304" pitchFamily="18" charset="0"/>
                          <a:cs typeface="Times New Roman" panose="02020603050405020304" pitchFamily="18" charset="0"/>
                        </a:rPr>
                        <a:t>S</a:t>
                      </a:r>
                    </a:p>
                  </a:txBody>
                  <a:tcPr anchor="ctr"/>
                </a:tc>
                <a:tc gridSpan="4">
                  <a:txBody>
                    <a:bodyPr/>
                    <a:lstStyle/>
                    <a:p>
                      <a:pPr algn="ctr"/>
                      <a:r>
                        <a:rPr lang="en-US" sz="2400" b="0">
                          <a:latin typeface="Times New Roman" panose="02020603050405020304" pitchFamily="18" charset="0"/>
                          <a:cs typeface="Times New Roman" panose="02020603050405020304" pitchFamily="18" charset="0"/>
                        </a:rPr>
                        <a:t>P</a:t>
                      </a:r>
                    </a:p>
                  </a:txBody>
                  <a:tcPr anchor="ct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8733589"/>
                  </a:ext>
                </a:extLst>
              </a:tr>
              <a:tr h="407521">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Time</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a:latin typeface="Times New Roman" panose="02020603050405020304" pitchFamily="18" charset="0"/>
                          <a:cs typeface="Times New Roman" panose="02020603050405020304" pitchFamily="18" charset="0"/>
                        </a:rPr>
                        <a:t>在</a:t>
                      </a:r>
                      <a:r>
                        <a:rPr lang="en-US" altLang="zh-CN" sz="2400" b="0">
                          <a:latin typeface="Times New Roman" panose="02020603050405020304" pitchFamily="18" charset="0"/>
                          <a:cs typeface="Times New Roman" panose="02020603050405020304" pitchFamily="18" charset="0"/>
                        </a:rPr>
                        <a:t>+</a:t>
                      </a:r>
                      <a:r>
                        <a:rPr lang="en-US" sz="2400" b="0">
                          <a:latin typeface="Times New Roman" panose="02020603050405020304" pitchFamily="18" charset="0"/>
                          <a:cs typeface="Times New Roman" panose="02020603050405020304" pitchFamily="18" charset="0"/>
                        </a:rPr>
                        <a:t>L</a:t>
                      </a:r>
                      <a:r>
                        <a:rPr lang="en-US" altLang="zh-CN" sz="2400" b="0">
                          <a:latin typeface="Times New Roman" panose="02020603050405020304" pitchFamily="18" charset="0"/>
                          <a:cs typeface="Times New Roman" panose="02020603050405020304" pitchFamily="18" charset="0"/>
                        </a:rPr>
                        <a:t>ocation</a:t>
                      </a:r>
                      <a:endParaRPr lang="en-US" sz="2400" b="0">
                        <a:latin typeface="Times New Roman" panose="02020603050405020304" pitchFamily="18" charset="0"/>
                        <a:cs typeface="Times New Roman" panose="02020603050405020304" pitchFamily="18" charset="0"/>
                      </a:endParaRPr>
                    </a:p>
                  </a:txBody>
                  <a:tcPr anchor="ctr"/>
                </a:tc>
                <a:tc>
                  <a:txBody>
                    <a:bodyPr/>
                    <a:lstStyle/>
                    <a:p>
                      <a:pPr algn="ctr"/>
                      <a:r>
                        <a:rPr lang="en-US" sz="2400" b="0">
                          <a:latin typeface="Times New Roman" panose="02020603050405020304" pitchFamily="18" charset="0"/>
                          <a:cs typeface="Times New Roman" panose="02020603050405020304" pitchFamily="18" charset="0"/>
                        </a:rPr>
                        <a:t>V</a:t>
                      </a:r>
                    </a:p>
                  </a:txBody>
                  <a:tcPr anchor="ctr"/>
                </a:tc>
                <a:tc>
                  <a:txBody>
                    <a:bodyPr/>
                    <a:lstStyle/>
                    <a:p>
                      <a:pPr algn="ctr"/>
                      <a:r>
                        <a:rPr lang="en-US" sz="2400" b="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818679587"/>
                  </a:ext>
                </a:extLst>
              </a:tr>
              <a:tr h="434690">
                <a:tc>
                  <a:txBody>
                    <a:bodyPr/>
                    <a:lstStyle/>
                    <a:p>
                      <a:pPr algn="ctr"/>
                      <a:r>
                        <a:rPr lang="zh-CN" altLang="en-US" sz="2600" b="0">
                          <a:latin typeface="KaiTi" panose="02010609060101010101" pitchFamily="49" charset="-122"/>
                          <a:ea typeface="KaiTi" panose="02010609060101010101" pitchFamily="49" charset="-122"/>
                          <a:cs typeface="Times New Roman" panose="02020603050405020304" pitchFamily="18" charset="0"/>
                        </a:rPr>
                        <a:t>我</a:t>
                      </a:r>
                      <a:endParaRPr lang="en-US" sz="2600" b="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rPr>
                        <a:t>昨天上午</a:t>
                      </a:r>
                      <a:endParaRPr 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在图书馆</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看</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书。</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3531788690"/>
                  </a:ext>
                </a:extLst>
              </a:tr>
              <a:tr h="434690">
                <a:tc>
                  <a:txBody>
                    <a:bodyPr/>
                    <a:lstStyle/>
                    <a:p>
                      <a:pPr algn="ctr"/>
                      <a:r>
                        <a:rPr lang="zh-CN" altLang="en-US" sz="2600" b="0">
                          <a:latin typeface="KaiTi" panose="02010609060101010101" pitchFamily="49" charset="-122"/>
                          <a:ea typeface="KaiTi" panose="02010609060101010101" pitchFamily="49" charset="-122"/>
                          <a:cs typeface="Times New Roman" panose="02020603050405020304" pitchFamily="18" charset="0"/>
                        </a:rPr>
                        <a:t>他</a:t>
                      </a:r>
                      <a:endParaRPr lang="en-US" sz="2600" b="0">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algn="ctr"/>
                      <a:r>
                        <a:rPr lang="zh-CN" alt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rPr>
                        <a:t>现在</a:t>
                      </a:r>
                      <a:endParaRPr lang="en-US" sz="2600" b="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在朋友家</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吃</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晚饭。</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nchor="ctr"/>
                </a:tc>
                <a:extLst>
                  <a:ext uri="{0D108BD9-81ED-4DB2-BD59-A6C34878D82A}">
                    <a16:rowId xmlns:a16="http://schemas.microsoft.com/office/drawing/2014/main" val="2828824028"/>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275221344"/>
              </p:ext>
            </p:extLst>
          </p:nvPr>
        </p:nvGraphicFramePr>
        <p:xfrm>
          <a:off x="866273" y="3946362"/>
          <a:ext cx="8379328" cy="545432"/>
        </p:xfrm>
        <a:graphic>
          <a:graphicData uri="http://schemas.openxmlformats.org/drawingml/2006/table">
            <a:tbl>
              <a:tblPr>
                <a:tableStyleId>{2D5ABB26-0587-4C30-8999-92F81FD0307C}</a:tableStyleId>
              </a:tblPr>
              <a:tblGrid>
                <a:gridCol w="8379328">
                  <a:extLst>
                    <a:ext uri="{9D8B030D-6E8A-4147-A177-3AD203B41FA5}">
                      <a16:colId xmlns:a16="http://schemas.microsoft.com/office/drawing/2014/main" val="2824656717"/>
                    </a:ext>
                  </a:extLst>
                </a:gridCol>
              </a:tblGrid>
              <a:tr h="545432">
                <a:tc>
                  <a:txBody>
                    <a:bodyPr/>
                    <a:lstStyle/>
                    <a:p>
                      <a:r>
                        <a:rPr lang="en-US" sz="2600" kern="1200" baseline="0">
                          <a:solidFill>
                            <a:schemeClr val="tx1">
                              <a:lumMod val="85000"/>
                              <a:lumOff val="15000"/>
                            </a:schemeClr>
                          </a:solidFill>
                          <a:latin typeface="Times New Roman" panose="02020603050405020304" pitchFamily="18" charset="0"/>
                          <a:ea typeface="+mn-ea"/>
                          <a:cs typeface="Times New Roman" panose="02020603050405020304" pitchFamily="18" charset="0"/>
                        </a:rPr>
                        <a:t>Có lúc trạng ngữ chỉ thời gian đứng trước chủ ngữ.</a:t>
                      </a:r>
                    </a:p>
                  </a:txBody>
                  <a:tcPr/>
                </a:tc>
                <a:extLst>
                  <a:ext uri="{0D108BD9-81ED-4DB2-BD59-A6C34878D82A}">
                    <a16:rowId xmlns:a16="http://schemas.microsoft.com/office/drawing/2014/main" val="207859674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516524855"/>
              </p:ext>
            </p:extLst>
          </p:nvPr>
        </p:nvGraphicFramePr>
        <p:xfrm>
          <a:off x="1909009" y="4604086"/>
          <a:ext cx="8550442" cy="1917031"/>
        </p:xfrm>
        <a:graphic>
          <a:graphicData uri="http://schemas.openxmlformats.org/drawingml/2006/table">
            <a:tbl>
              <a:tblPr/>
              <a:tblGrid>
                <a:gridCol w="1710088">
                  <a:extLst>
                    <a:ext uri="{9D8B030D-6E8A-4147-A177-3AD203B41FA5}">
                      <a16:colId xmlns:a16="http://schemas.microsoft.com/office/drawing/2014/main" val="2316392956"/>
                    </a:ext>
                  </a:extLst>
                </a:gridCol>
                <a:gridCol w="1034568">
                  <a:extLst>
                    <a:ext uri="{9D8B030D-6E8A-4147-A177-3AD203B41FA5}">
                      <a16:colId xmlns:a16="http://schemas.microsoft.com/office/drawing/2014/main" val="4259823667"/>
                    </a:ext>
                  </a:extLst>
                </a:gridCol>
                <a:gridCol w="2385609">
                  <a:extLst>
                    <a:ext uri="{9D8B030D-6E8A-4147-A177-3AD203B41FA5}">
                      <a16:colId xmlns:a16="http://schemas.microsoft.com/office/drawing/2014/main" val="3163998628"/>
                    </a:ext>
                  </a:extLst>
                </a:gridCol>
                <a:gridCol w="1710088">
                  <a:extLst>
                    <a:ext uri="{9D8B030D-6E8A-4147-A177-3AD203B41FA5}">
                      <a16:colId xmlns:a16="http://schemas.microsoft.com/office/drawing/2014/main" val="3617970586"/>
                    </a:ext>
                  </a:extLst>
                </a:gridCol>
                <a:gridCol w="1710089">
                  <a:extLst>
                    <a:ext uri="{9D8B030D-6E8A-4147-A177-3AD203B41FA5}">
                      <a16:colId xmlns:a16="http://schemas.microsoft.com/office/drawing/2014/main" val="941195445"/>
                    </a:ext>
                  </a:extLst>
                </a:gridCol>
              </a:tblGrid>
              <a:tr h="311217">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tx1"/>
                          </a:solidFill>
                          <a:latin typeface="Times New Roman" panose="02020603050405020304" pitchFamily="18" charset="0"/>
                          <a:ea typeface="+mn-ea"/>
                          <a:cs typeface="Times New Roman" panose="02020603050405020304" pitchFamily="18" charset="0"/>
                        </a:rPr>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tx1"/>
                          </a:solidFill>
                          <a:latin typeface="Times New Roman" panose="02020603050405020304" pitchFamily="18" charset="0"/>
                          <a:ea typeface="+mn-ea"/>
                          <a:cs typeface="Times New Roman" panose="02020603050405020304" pitchFamily="18" charset="0"/>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kern="1200">
                          <a:solidFill>
                            <a:schemeClr val="tx1"/>
                          </a:solidFill>
                          <a:latin typeface="Times New Roman" panose="02020603050405020304" pitchFamily="18" charset="0"/>
                          <a:ea typeface="+mn-ea"/>
                          <a:cs typeface="Times New Roman" panose="02020603050405020304" pitchFamily="18"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6676776"/>
                  </a:ext>
                </a:extLst>
              </a:tr>
              <a:tr h="484471">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0" kern="1200">
                          <a:solidFill>
                            <a:schemeClr val="tx1"/>
                          </a:solidFill>
                          <a:latin typeface="Times New Roman" panose="02020603050405020304" pitchFamily="18" charset="0"/>
                          <a:ea typeface="+mn-ea"/>
                          <a:cs typeface="Times New Roman" panose="02020603050405020304" pitchFamily="18" charset="0"/>
                        </a:rPr>
                        <a:t>在</a:t>
                      </a:r>
                      <a:r>
                        <a:rPr lang="en-US" altLang="zh-CN" sz="2400" b="0" kern="1200">
                          <a:solidFill>
                            <a:schemeClr val="tx1"/>
                          </a:solidFill>
                          <a:latin typeface="Times New Roman" panose="02020603050405020304" pitchFamily="18" charset="0"/>
                          <a:ea typeface="+mn-ea"/>
                          <a:cs typeface="Times New Roman" panose="02020603050405020304" pitchFamily="18" charset="0"/>
                        </a:rPr>
                        <a:t>+</a:t>
                      </a:r>
                      <a:r>
                        <a:rPr lang="en-US" sz="2400" b="0" kern="1200">
                          <a:solidFill>
                            <a:schemeClr val="tx1"/>
                          </a:solidFill>
                          <a:latin typeface="Times New Roman" panose="02020603050405020304" pitchFamily="18" charset="0"/>
                          <a:ea typeface="+mn-ea"/>
                          <a:cs typeface="Times New Roman" panose="02020603050405020304" pitchFamily="18" charset="0"/>
                        </a:rPr>
                        <a:t>L</a:t>
                      </a:r>
                      <a:r>
                        <a:rPr lang="en-US" altLang="zh-CN" sz="2400" b="0" kern="1200">
                          <a:solidFill>
                            <a:schemeClr val="tx1"/>
                          </a:solidFill>
                          <a:latin typeface="Times New Roman" panose="02020603050405020304" pitchFamily="18" charset="0"/>
                          <a:ea typeface="+mn-ea"/>
                          <a:cs typeface="Times New Roman" panose="02020603050405020304" pitchFamily="18" charset="0"/>
                        </a:rPr>
                        <a:t>ocation</a:t>
                      </a:r>
                      <a:endParaRPr lang="en-US" sz="2400" b="0" kern="120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553609"/>
                  </a:ext>
                </a:extLst>
              </a:tr>
              <a:tr h="311217">
                <a:tc>
                  <a:txBody>
                    <a:bodyPr/>
                    <a:lstStyle/>
                    <a:p>
                      <a:pPr marL="0" algn="ctr" defTabSz="914400" rtl="0" eaLnBrk="1" latinLnBrk="0" hangingPunct="1"/>
                      <a:r>
                        <a:rPr lang="zh-CN" alt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rPr>
                        <a:t>今年</a:t>
                      </a:r>
                      <a:endParaRPr 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我</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在中国</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学习</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汉语。</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3850986"/>
                  </a:ext>
                </a:extLst>
              </a:tr>
              <a:tr h="311217">
                <a:tc>
                  <a:txBody>
                    <a:bodyPr/>
                    <a:lstStyle/>
                    <a:p>
                      <a:pPr marL="0" algn="ctr" defTabSz="914400" rtl="0" eaLnBrk="1" latinLnBrk="0" hangingPunct="1"/>
                      <a:r>
                        <a:rPr lang="zh-CN" alt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rPr>
                        <a:t>上午</a:t>
                      </a:r>
                      <a:endParaRPr lang="en-US" sz="2600" b="0" kern="1200">
                        <a:solidFill>
                          <a:srgbClr val="00B0F0"/>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我</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在学校</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上</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zh-CN" alt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rPr>
                        <a:t>课。</a:t>
                      </a:r>
                      <a:endParaRPr lang="en-US" sz="2600" b="0" kern="1200">
                        <a:solidFill>
                          <a:schemeClr val="tx1"/>
                        </a:solidFill>
                        <a:latin typeface="KaiTi" panose="02010609060101010101" pitchFamily="49" charset="-122"/>
                        <a:ea typeface="KaiTi" panose="02010609060101010101" pitchFamily="49"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612470"/>
                  </a:ext>
                </a:extLst>
              </a:tr>
            </a:tbl>
          </a:graphicData>
        </a:graphic>
      </p:graphicFrame>
    </p:spTree>
    <p:extLst>
      <p:ext uri="{BB962C8B-B14F-4D97-AF65-F5344CB8AC3E}">
        <p14:creationId xmlns:p14="http://schemas.microsoft.com/office/powerpoint/2010/main" val="3047986713"/>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2463611"/>
              </p:ext>
            </p:extLst>
          </p:nvPr>
        </p:nvGraphicFramePr>
        <p:xfrm>
          <a:off x="641687" y="192505"/>
          <a:ext cx="4844713" cy="705856"/>
        </p:xfrm>
        <a:graphic>
          <a:graphicData uri="http://schemas.openxmlformats.org/drawingml/2006/table">
            <a:tbl>
              <a:tblPr>
                <a:tableStyleId>{2D5ABB26-0587-4C30-8999-92F81FD0307C}</a:tableStyleId>
              </a:tblPr>
              <a:tblGrid>
                <a:gridCol w="4844713">
                  <a:extLst>
                    <a:ext uri="{9D8B030D-6E8A-4147-A177-3AD203B41FA5}">
                      <a16:colId xmlns:a16="http://schemas.microsoft.com/office/drawing/2014/main" val="2227816441"/>
                    </a:ext>
                  </a:extLst>
                </a:gridCol>
              </a:tblGrid>
              <a:tr h="705856">
                <a:tc>
                  <a:txBody>
                    <a:bodyPr/>
                    <a:lstStyle/>
                    <a:p>
                      <a:pPr algn="ctr"/>
                      <a:r>
                        <a:rPr lang="en-US" sz="2800" b="1" i="1">
                          <a:solidFill>
                            <a:srgbClr val="FF0000"/>
                          </a:solidFill>
                          <a:latin typeface="KaiTi" panose="02010609060101010101" pitchFamily="49" charset="-122"/>
                          <a:ea typeface="KaiTi" panose="02010609060101010101" pitchFamily="49" charset="-122"/>
                        </a:rPr>
                        <a:t>4.</a:t>
                      </a:r>
                      <a:r>
                        <a:rPr lang="zh-CN" altLang="en-US" sz="2800" b="1" i="1">
                          <a:solidFill>
                            <a:srgbClr val="FF0000"/>
                          </a:solidFill>
                          <a:latin typeface="KaiTi" panose="02010609060101010101" pitchFamily="49" charset="-122"/>
                          <a:ea typeface="KaiTi" panose="02010609060101010101" pitchFamily="49" charset="-122"/>
                        </a:rPr>
                        <a:t>号码是：</a:t>
                      </a:r>
                      <a:r>
                        <a:rPr lang="en-US" altLang="zh-CN" sz="2800" b="1" i="1">
                          <a:solidFill>
                            <a:srgbClr val="FF0000"/>
                          </a:solidFill>
                          <a:latin typeface="KaiTi" panose="02010609060101010101" pitchFamily="49" charset="-122"/>
                          <a:ea typeface="KaiTi" panose="02010609060101010101" pitchFamily="49" charset="-122"/>
                        </a:rPr>
                        <a:t>13261231948</a:t>
                      </a:r>
                      <a:r>
                        <a:rPr lang="zh-CN" altLang="en-US" sz="2800" b="1" i="1">
                          <a:solidFill>
                            <a:srgbClr val="FF0000"/>
                          </a:solidFill>
                          <a:latin typeface="KaiTi" panose="02010609060101010101" pitchFamily="49" charset="-122"/>
                          <a:ea typeface="KaiTi" panose="02010609060101010101" pitchFamily="49" charset="-122"/>
                        </a:rPr>
                        <a:t>。</a:t>
                      </a:r>
                      <a:endParaRPr lang="en-US" sz="2800" b="1" i="1">
                        <a:solidFill>
                          <a:srgbClr val="FF0000"/>
                        </a:solidFill>
                        <a:latin typeface="KaiTi" panose="02010609060101010101" pitchFamily="49" charset="-122"/>
                        <a:ea typeface="KaiTi" panose="02010609060101010101" pitchFamily="49" charset="-122"/>
                      </a:endParaRPr>
                    </a:p>
                  </a:txBody>
                  <a:tcPr/>
                </a:tc>
                <a:extLst>
                  <a:ext uri="{0D108BD9-81ED-4DB2-BD59-A6C34878D82A}">
                    <a16:rowId xmlns:a16="http://schemas.microsoft.com/office/drawing/2014/main" val="3226635329"/>
                  </a:ext>
                </a:extLst>
              </a:tr>
            </a:tbl>
          </a:graphicData>
        </a:graphic>
      </p:graphicFrame>
      <p:pic>
        <p:nvPicPr>
          <p:cNvPr id="7" name="图片 2">
            <a:extLst>
              <a:ext uri="{FF2B5EF4-FFF2-40B4-BE49-F238E27FC236}">
                <a16:creationId xmlns:a16="http://schemas.microsoft.com/office/drawing/2014/main" id="{C8E28B64-B09C-4D61-B3C1-105F21A86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755247" y="0"/>
            <a:ext cx="5436753" cy="1925053"/>
          </a:xfrm>
          <a:prstGeom prst="rect">
            <a:avLst/>
          </a:prstGeom>
          <a:effectLst>
            <a:outerShdw blurRad="50800" dist="38100" dir="2700000" algn="tl" rotWithShape="0">
              <a:prstClr val="black">
                <a:alpha val="40000"/>
              </a:prstClr>
            </a:outerShdw>
          </a:effectLst>
        </p:spPr>
      </p:pic>
      <p:graphicFrame>
        <p:nvGraphicFramePr>
          <p:cNvPr id="2" name="Table 1"/>
          <p:cNvGraphicFramePr>
            <a:graphicFrameLocks noGrp="1"/>
          </p:cNvGraphicFramePr>
          <p:nvPr>
            <p:extLst>
              <p:ext uri="{D42A27DB-BD31-4B8C-83A1-F6EECF244321}">
                <p14:modId xmlns:p14="http://schemas.microsoft.com/office/powerpoint/2010/main" val="805806654"/>
              </p:ext>
            </p:extLst>
          </p:nvPr>
        </p:nvGraphicFramePr>
        <p:xfrm>
          <a:off x="513348" y="962525"/>
          <a:ext cx="5951620" cy="5345484"/>
        </p:xfrm>
        <a:graphic>
          <a:graphicData uri="http://schemas.openxmlformats.org/drawingml/2006/table">
            <a:tbl>
              <a:tblPr>
                <a:tableStyleId>{69C7853C-536D-4A76-A0AE-DD22124D55A5}</a:tableStyleId>
              </a:tblPr>
              <a:tblGrid>
                <a:gridCol w="5951620">
                  <a:extLst>
                    <a:ext uri="{9D8B030D-6E8A-4147-A177-3AD203B41FA5}">
                      <a16:colId xmlns:a16="http://schemas.microsoft.com/office/drawing/2014/main" val="831683374"/>
                    </a:ext>
                  </a:extLst>
                </a:gridCol>
              </a:tblGrid>
              <a:tr h="5345484">
                <a:tc>
                  <a:txBody>
                    <a:bodyPr/>
                    <a:lstStyle/>
                    <a:p>
                      <a:pPr marL="0" indent="0" algn="ctr">
                        <a:lnSpc>
                          <a:spcPct val="150000"/>
                        </a:lnSpc>
                        <a:buFont typeface="+mj-lt"/>
                        <a:buNone/>
                      </a:pPr>
                      <a:r>
                        <a:rPr lang="en-US" sz="2800" b="0" kern="1200" baseline="0">
                          <a:solidFill>
                            <a:schemeClr val="dk1"/>
                          </a:solidFill>
                          <a:latin typeface="Times New Roman" panose="02020603050405020304" pitchFamily="18" charset="0"/>
                          <a:ea typeface="+mn-ea"/>
                          <a:cs typeface="Times New Roman" panose="02020603050405020304" pitchFamily="18" charset="0"/>
                        </a:rPr>
                        <a:t>Trong Tiếng Trung khi đọc số điện thoại, số phòng…sẽ đọc từng số, </a:t>
                      </a:r>
                      <a:br>
                        <a:rPr lang="en-US" sz="2800" b="0" kern="1200" baseline="0">
                          <a:solidFill>
                            <a:schemeClr val="dk1"/>
                          </a:solidFill>
                          <a:latin typeface="Times New Roman" panose="02020603050405020304" pitchFamily="18" charset="0"/>
                          <a:ea typeface="+mn-ea"/>
                          <a:cs typeface="Times New Roman" panose="02020603050405020304" pitchFamily="18" charset="0"/>
                        </a:rPr>
                      </a:br>
                      <a:r>
                        <a:rPr lang="en-US" sz="2800" b="1" kern="1200" baseline="0">
                          <a:solidFill>
                            <a:schemeClr val="dk1"/>
                          </a:solidFill>
                          <a:latin typeface="Times New Roman" panose="02020603050405020304" pitchFamily="18" charset="0"/>
                          <a:ea typeface="+mn-ea"/>
                          <a:cs typeface="Times New Roman" panose="02020603050405020304" pitchFamily="18" charset="0"/>
                        </a:rPr>
                        <a:t>số 1 </a:t>
                      </a:r>
                      <a:r>
                        <a:rPr lang="en-US" sz="2800" b="0" kern="1200" baseline="0">
                          <a:solidFill>
                            <a:schemeClr val="dk1"/>
                          </a:solidFill>
                          <a:latin typeface="Times New Roman" panose="02020603050405020304" pitchFamily="18" charset="0"/>
                          <a:ea typeface="+mn-ea"/>
                          <a:cs typeface="Times New Roman" panose="02020603050405020304" pitchFamily="18" charset="0"/>
                        </a:rPr>
                        <a:t>khi đó thường đọc là  </a:t>
                      </a:r>
                      <a:r>
                        <a:rPr lang="en-US" sz="2800" b="1" kern="1200" baseline="0">
                          <a:solidFill>
                            <a:schemeClr val="dk1"/>
                          </a:solidFill>
                          <a:latin typeface="Times New Roman" panose="02020603050405020304" pitchFamily="18" charset="0"/>
                          <a:ea typeface="+mn-ea"/>
                          <a:cs typeface="Times New Roman" panose="02020603050405020304" pitchFamily="18" charset="0"/>
                        </a:rPr>
                        <a:t>“</a:t>
                      </a:r>
                      <a:r>
                        <a:rPr lang="en-US" altLang="zh-CN" sz="2800" b="1" kern="1200" baseline="0">
                          <a:solidFill>
                            <a:schemeClr val="dk1"/>
                          </a:solidFill>
                          <a:latin typeface="Times New Roman" panose="02020603050405020304" pitchFamily="18" charset="0"/>
                          <a:ea typeface="+mn-ea"/>
                          <a:cs typeface="Times New Roman" panose="02020603050405020304" pitchFamily="18" charset="0"/>
                        </a:rPr>
                        <a:t>yāo</a:t>
                      </a:r>
                      <a:r>
                        <a:rPr lang="en-US" sz="2800" b="1" kern="1200" baseline="0">
                          <a:solidFill>
                            <a:schemeClr val="dk1"/>
                          </a:solidFill>
                          <a:latin typeface="Times New Roman" panose="02020603050405020304" pitchFamily="18" charset="0"/>
                          <a:ea typeface="+mn-ea"/>
                          <a:cs typeface="Times New Roman" panose="02020603050405020304" pitchFamily="18" charset="0"/>
                        </a:rPr>
                        <a:t>”</a:t>
                      </a:r>
                      <a:r>
                        <a:rPr lang="vi-VN" sz="2800" b="0" kern="1200" baseline="0">
                          <a:solidFill>
                            <a:schemeClr val="dk1"/>
                          </a:solidFill>
                          <a:latin typeface="Times New Roman" panose="02020603050405020304" pitchFamily="18" charset="0"/>
                          <a:ea typeface="+mn-ea"/>
                          <a:cs typeface="Times New Roman" panose="02020603050405020304" pitchFamily="18" charset="0"/>
                        </a:rPr>
                        <a:t>. </a:t>
                      </a:r>
                      <a:br>
                        <a:rPr lang="en-US" sz="2800" b="0" kern="1200" baseline="0">
                          <a:solidFill>
                            <a:schemeClr val="dk1"/>
                          </a:solidFill>
                          <a:latin typeface="Times New Roman" panose="02020603050405020304" pitchFamily="18" charset="0"/>
                          <a:ea typeface="+mn-ea"/>
                          <a:cs typeface="Times New Roman" panose="02020603050405020304" pitchFamily="18" charset="0"/>
                        </a:rPr>
                      </a:br>
                      <a:r>
                        <a:rPr lang="vi-VN" sz="2800" b="0" kern="1200" baseline="0">
                          <a:solidFill>
                            <a:schemeClr val="dk1"/>
                          </a:solidFill>
                          <a:latin typeface="Times New Roman" panose="02020603050405020304" pitchFamily="18" charset="0"/>
                          <a:ea typeface="+mn-ea"/>
                          <a:cs typeface="Times New Roman" panose="02020603050405020304" pitchFamily="18" charset="0"/>
                        </a:rPr>
                        <a:t> </a:t>
                      </a:r>
                      <a:r>
                        <a:rPr lang="vi-VN" sz="2600" b="1" kern="1200" baseline="0">
                          <a:latin typeface="Times New Roman" panose="02020603050405020304" pitchFamily="18" charset="0"/>
                          <a:cs typeface="Times New Roman" panose="02020603050405020304" pitchFamily="18" charset="0"/>
                        </a:rPr>
                        <a:t>Ví dụ:</a:t>
                      </a:r>
                    </a:p>
                    <a:p>
                      <a:pPr algn="ctr">
                        <a:lnSpc>
                          <a:spcPct val="150000"/>
                        </a:lnSpc>
                      </a:pPr>
                      <a:r>
                        <a:rPr lang="zh-CN" altLang="en-US" sz="2600" kern="1200"/>
                        <a:t>（</a:t>
                      </a:r>
                      <a:r>
                        <a:rPr lang="en-US" altLang="zh-CN" sz="2600" kern="1200"/>
                        <a:t>1</a:t>
                      </a:r>
                      <a:r>
                        <a:rPr lang="zh-CN" altLang="en-US" sz="2600" kern="1200"/>
                        <a:t>）</a:t>
                      </a:r>
                      <a:r>
                        <a:rPr lang="zh-CN" altLang="en-US" sz="2600" kern="1200">
                          <a:latin typeface="KaiTi" panose="02010609060101010101" pitchFamily="49" charset="-122"/>
                          <a:ea typeface="KaiTi" panose="02010609060101010101" pitchFamily="49" charset="-122"/>
                        </a:rPr>
                        <a:t>我的电话号码是</a:t>
                      </a:r>
                      <a:r>
                        <a:rPr lang="en-US" altLang="zh-CN" sz="2600" kern="1200" baseline="0">
                          <a:latin typeface="KaiTi" panose="02010609060101010101" pitchFamily="49" charset="-122"/>
                          <a:ea typeface="KaiTi" panose="02010609060101010101" pitchFamily="49" charset="-122"/>
                        </a:rPr>
                        <a:t>86563428</a:t>
                      </a:r>
                      <a:br>
                        <a:rPr lang="en-US" altLang="zh-CN" sz="2600" kern="1200" baseline="0">
                          <a:latin typeface="KaiTi" panose="02010609060101010101" pitchFamily="49" charset="-122"/>
                          <a:ea typeface="KaiTi" panose="02010609060101010101" pitchFamily="49" charset="-122"/>
                        </a:rPr>
                      </a:br>
                      <a:r>
                        <a:rPr lang="vi-VN" altLang="zh-CN" sz="2600" kern="1200" baseline="0">
                          <a:solidFill>
                            <a:schemeClr val="dk1"/>
                          </a:solidFill>
                          <a:latin typeface="+mn-lt"/>
                          <a:ea typeface="+mn-ea"/>
                          <a:cs typeface="+mn-cs"/>
                        </a:rPr>
                        <a:t>(b</a:t>
                      </a:r>
                      <a:r>
                        <a:rPr lang="en-US" altLang="zh-CN" sz="2600" kern="1200" baseline="0">
                          <a:solidFill>
                            <a:schemeClr val="dk1"/>
                          </a:solidFill>
                          <a:latin typeface="+mn-lt"/>
                          <a:ea typeface="+mn-ea"/>
                          <a:cs typeface="+mn-cs"/>
                        </a:rPr>
                        <a:t>ā liù</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wǔ</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liù</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sān</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sì</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èr</a:t>
                      </a:r>
                      <a:r>
                        <a:rPr lang="vi-VN" altLang="zh-CN" sz="2600" kern="1200" baseline="0">
                          <a:solidFill>
                            <a:schemeClr val="dk1"/>
                          </a:solidFill>
                          <a:latin typeface="+mn-lt"/>
                          <a:ea typeface="+mn-ea"/>
                          <a:cs typeface="+mn-cs"/>
                        </a:rPr>
                        <a:t> </a:t>
                      </a:r>
                      <a:r>
                        <a:rPr lang="en-US" altLang="zh-CN" sz="2600" kern="1200" baseline="0">
                          <a:solidFill>
                            <a:schemeClr val="dk1"/>
                          </a:solidFill>
                          <a:latin typeface="+mn-lt"/>
                          <a:ea typeface="+mn-ea"/>
                          <a:cs typeface="+mn-cs"/>
                        </a:rPr>
                        <a:t>bā</a:t>
                      </a:r>
                      <a:r>
                        <a:rPr lang="vi-VN" altLang="zh-CN" sz="2600" kern="1200" baseline="0">
                          <a:solidFill>
                            <a:schemeClr val="dk1"/>
                          </a:solidFill>
                          <a:latin typeface="+mn-lt"/>
                          <a:ea typeface="+mn-ea"/>
                          <a:cs typeface="+mn-cs"/>
                        </a:rPr>
                        <a:t>)</a:t>
                      </a:r>
                      <a:endParaRPr lang="en-US" altLang="zh-CN" sz="2600" kern="1200" baseline="0">
                        <a:solidFill>
                          <a:schemeClr val="dk1"/>
                        </a:solidFill>
                        <a:latin typeface="+mn-lt"/>
                        <a:ea typeface="+mn-ea"/>
                        <a:cs typeface="+mn-cs"/>
                      </a:endParaRPr>
                    </a:p>
                    <a:p>
                      <a:pPr marL="0" algn="ctr" defTabSz="914400" rtl="0" eaLnBrk="1" latinLnBrk="0" hangingPunct="1">
                        <a:lnSpc>
                          <a:spcPct val="150000"/>
                        </a:lnSpc>
                      </a:pPr>
                      <a:r>
                        <a:rPr lang="zh-CN" altLang="en-US" sz="2600" kern="1200" baseline="0">
                          <a:latin typeface="KaiTi" panose="02010609060101010101" pitchFamily="49" charset="-122"/>
                          <a:ea typeface="KaiTi" panose="02010609060101010101" pitchFamily="49" charset="-122"/>
                        </a:rPr>
                        <a:t>（</a:t>
                      </a:r>
                      <a:r>
                        <a:rPr lang="en-US" altLang="zh-CN" sz="2600" kern="1200" baseline="0">
                          <a:latin typeface="KaiTi" panose="02010609060101010101" pitchFamily="49" charset="-122"/>
                          <a:ea typeface="KaiTi" panose="02010609060101010101" pitchFamily="49" charset="-122"/>
                        </a:rPr>
                        <a:t>2</a:t>
                      </a:r>
                      <a:r>
                        <a:rPr lang="zh-CN" altLang="en-US" sz="2600" kern="1200" baseline="0">
                          <a:latin typeface="KaiTi" panose="02010609060101010101" pitchFamily="49" charset="-122"/>
                          <a:ea typeface="KaiTi" panose="02010609060101010101" pitchFamily="49" charset="-122"/>
                        </a:rPr>
                        <a:t>）我的房间是</a:t>
                      </a:r>
                      <a:r>
                        <a:rPr lang="en-US" altLang="zh-CN" sz="2600" kern="1200" baseline="0">
                          <a:latin typeface="KaiTi" panose="02010609060101010101" pitchFamily="49" charset="-122"/>
                          <a:ea typeface="KaiTi" panose="02010609060101010101" pitchFamily="49" charset="-122"/>
                        </a:rPr>
                        <a:t>103</a:t>
                      </a:r>
                      <a:r>
                        <a:rPr lang="zh-CN" altLang="en-US" sz="2600" kern="1200" baseline="0">
                          <a:latin typeface="KaiTi" panose="02010609060101010101" pitchFamily="49" charset="-122"/>
                          <a:ea typeface="KaiTi" panose="02010609060101010101" pitchFamily="49" charset="-122"/>
                        </a:rPr>
                        <a:t>（</a:t>
                      </a:r>
                      <a:r>
                        <a:rPr lang="en-US" altLang="zh-CN" sz="2600" kern="1200" baseline="0">
                          <a:solidFill>
                            <a:schemeClr val="dk1"/>
                          </a:solidFill>
                          <a:latin typeface="+mn-lt"/>
                          <a:ea typeface="+mn-ea"/>
                          <a:cs typeface="+mn-cs"/>
                        </a:rPr>
                        <a:t>yāo língsān</a:t>
                      </a:r>
                      <a:r>
                        <a:rPr lang="zh-CN" altLang="en-US" sz="2600" kern="1200" baseline="0">
                          <a:solidFill>
                            <a:schemeClr val="dk1"/>
                          </a:solidFill>
                          <a:latin typeface="+mn-lt"/>
                          <a:ea typeface="+mn-ea"/>
                          <a:cs typeface="+mn-cs"/>
                        </a:rPr>
                        <a:t>）</a:t>
                      </a:r>
                      <a:endParaRPr lang="vi-VN" sz="2600" kern="1200" baseline="0">
                        <a:solidFill>
                          <a:schemeClr val="dk1"/>
                        </a:solidFill>
                        <a:latin typeface="+mn-lt"/>
                        <a:ea typeface="+mn-ea"/>
                        <a:cs typeface="+mn-cs"/>
                      </a:endParaRPr>
                    </a:p>
                  </a:txBody>
                  <a:tcPr anchor="ctr"/>
                </a:tc>
                <a:extLst>
                  <a:ext uri="{0D108BD9-81ED-4DB2-BD59-A6C34878D82A}">
                    <a16:rowId xmlns:a16="http://schemas.microsoft.com/office/drawing/2014/main" val="44641353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554256561"/>
              </p:ext>
            </p:extLst>
          </p:nvPr>
        </p:nvGraphicFramePr>
        <p:xfrm>
          <a:off x="7026442" y="1485900"/>
          <a:ext cx="4844716" cy="1910443"/>
        </p:xfrm>
        <a:graphic>
          <a:graphicData uri="http://schemas.openxmlformats.org/drawingml/2006/table">
            <a:tbl>
              <a:tblPr>
                <a:tableStyleId>{775DCB02-9BB8-47FD-8907-85C794F793BA}</a:tableStyleId>
              </a:tblPr>
              <a:tblGrid>
                <a:gridCol w="4844716">
                  <a:extLst>
                    <a:ext uri="{9D8B030D-6E8A-4147-A177-3AD203B41FA5}">
                      <a16:colId xmlns:a16="http://schemas.microsoft.com/office/drawing/2014/main" val="3345600335"/>
                    </a:ext>
                  </a:extLst>
                </a:gridCol>
              </a:tblGrid>
              <a:tr h="1910443">
                <a:tc>
                  <a:txBody>
                    <a:bodyPr/>
                    <a:lstStyle/>
                    <a:p>
                      <a:pPr algn="ctr">
                        <a:lnSpc>
                          <a:spcPct val="150000"/>
                        </a:lnSpc>
                      </a:pPr>
                      <a:r>
                        <a:rPr lang="vi-VN" sz="2600" b="1" kern="1200" baseline="0">
                          <a:solidFill>
                            <a:srgbClr val="FF0000"/>
                          </a:solidFill>
                          <a:latin typeface="+mn-lt"/>
                          <a:ea typeface="+mn-ea"/>
                          <a:cs typeface="+mn-cs"/>
                        </a:rPr>
                        <a:t>Hỏi số điện thoại </a:t>
                      </a:r>
                      <a:r>
                        <a:rPr lang="zh-CN" altLang="en-US" sz="2600" b="1" kern="1200" baseline="0">
                          <a:solidFill>
                            <a:srgbClr val="FF0000"/>
                          </a:solidFill>
                          <a:latin typeface="+mn-lt"/>
                          <a:ea typeface="+mn-ea"/>
                          <a:cs typeface="+mn-cs"/>
                        </a:rPr>
                        <a:t>：</a:t>
                      </a:r>
                      <a:endParaRPr lang="vi-VN" sz="2600" b="1" kern="1200" baseline="0">
                        <a:solidFill>
                          <a:srgbClr val="FF0000"/>
                        </a:solidFill>
                        <a:latin typeface="+mn-lt"/>
                        <a:ea typeface="+mn-ea"/>
                        <a:cs typeface="+mn-cs"/>
                      </a:endParaRPr>
                    </a:p>
                    <a:p>
                      <a:pPr marL="0" algn="ctr" defTabSz="914400" rtl="0" eaLnBrk="1" latinLnBrk="0" hangingPunct="1">
                        <a:lnSpc>
                          <a:spcPct val="150000"/>
                        </a:lnSpc>
                      </a:pPr>
                      <a:r>
                        <a:rPr lang="zh-CN" altLang="en-US"/>
                        <a:t>（</a:t>
                      </a:r>
                      <a:r>
                        <a:rPr lang="en-US" altLang="zh-CN" sz="2800" kern="1200">
                          <a:solidFill>
                            <a:schemeClr val="dk1"/>
                          </a:solidFill>
                          <a:latin typeface="KaiTi" panose="02010609060101010101" pitchFamily="49" charset="-122"/>
                          <a:ea typeface="KaiTi" panose="02010609060101010101" pitchFamily="49" charset="-122"/>
                          <a:cs typeface="+mn-cs"/>
                        </a:rPr>
                        <a:t>1</a:t>
                      </a:r>
                      <a:r>
                        <a:rPr lang="zh-CN" altLang="en-US" sz="2800" kern="1200">
                          <a:solidFill>
                            <a:schemeClr val="dk1"/>
                          </a:solidFill>
                          <a:latin typeface="KaiTi" panose="02010609060101010101" pitchFamily="49" charset="-122"/>
                          <a:ea typeface="KaiTi" panose="02010609060101010101" pitchFamily="49" charset="-122"/>
                          <a:cs typeface="+mn-cs"/>
                        </a:rPr>
                        <a:t>）你的电话号码是多少？</a:t>
                      </a:r>
                      <a:endParaRPr lang="en-US" altLang="zh-CN" sz="2800" kern="1200">
                        <a:solidFill>
                          <a:schemeClr val="dk1"/>
                        </a:solidFill>
                        <a:latin typeface="KaiTi" panose="02010609060101010101" pitchFamily="49" charset="-122"/>
                        <a:ea typeface="KaiTi" panose="02010609060101010101" pitchFamily="49" charset="-122"/>
                        <a:cs typeface="+mn-cs"/>
                      </a:endParaRPr>
                    </a:p>
                    <a:p>
                      <a:pPr marL="0" algn="ctr" defTabSz="914400" rtl="0" eaLnBrk="1" latinLnBrk="0" hangingPunct="1">
                        <a:lnSpc>
                          <a:spcPct val="150000"/>
                        </a:lnSpc>
                      </a:pPr>
                      <a:r>
                        <a:rPr lang="zh-CN" altLang="en-US" sz="2800" kern="1200">
                          <a:solidFill>
                            <a:schemeClr val="dk1"/>
                          </a:solidFill>
                          <a:latin typeface="KaiTi" panose="02010609060101010101" pitchFamily="49" charset="-122"/>
                          <a:ea typeface="KaiTi" panose="02010609060101010101" pitchFamily="49" charset="-122"/>
                          <a:cs typeface="+mn-cs"/>
                        </a:rPr>
                        <a:t>（</a:t>
                      </a:r>
                      <a:r>
                        <a:rPr lang="en-US" altLang="zh-CN" sz="2800" kern="1200">
                          <a:solidFill>
                            <a:schemeClr val="dk1"/>
                          </a:solidFill>
                          <a:latin typeface="KaiTi" panose="02010609060101010101" pitchFamily="49" charset="-122"/>
                          <a:ea typeface="KaiTi" panose="02010609060101010101" pitchFamily="49" charset="-122"/>
                          <a:cs typeface="+mn-cs"/>
                        </a:rPr>
                        <a:t>2</a:t>
                      </a:r>
                      <a:r>
                        <a:rPr lang="zh-CN" altLang="en-US" sz="2800" kern="1200">
                          <a:solidFill>
                            <a:schemeClr val="dk1"/>
                          </a:solidFill>
                          <a:latin typeface="KaiTi" panose="02010609060101010101" pitchFamily="49" charset="-122"/>
                          <a:ea typeface="KaiTi" panose="02010609060101010101" pitchFamily="49" charset="-122"/>
                          <a:cs typeface="+mn-cs"/>
                        </a:rPr>
                        <a:t>）你的手机号码是多少？</a:t>
                      </a:r>
                      <a:endParaRPr lang="en-US" sz="2800" kern="1200">
                        <a:solidFill>
                          <a:schemeClr val="dk1"/>
                        </a:solidFill>
                        <a:latin typeface="KaiTi" panose="02010609060101010101" pitchFamily="49" charset="-122"/>
                        <a:ea typeface="KaiTi" panose="02010609060101010101" pitchFamily="49" charset="-122"/>
                        <a:cs typeface="+mn-cs"/>
                      </a:endParaRPr>
                    </a:p>
                  </a:txBody>
                  <a:tcPr anchor="ctr"/>
                </a:tc>
                <a:extLst>
                  <a:ext uri="{0D108BD9-81ED-4DB2-BD59-A6C34878D82A}">
                    <a16:rowId xmlns:a16="http://schemas.microsoft.com/office/drawing/2014/main" val="250424593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59854720"/>
              </p:ext>
            </p:extLst>
          </p:nvPr>
        </p:nvGraphicFramePr>
        <p:xfrm>
          <a:off x="7026442" y="3801981"/>
          <a:ext cx="4844716" cy="2506028"/>
        </p:xfrm>
        <a:graphic>
          <a:graphicData uri="http://schemas.openxmlformats.org/drawingml/2006/table">
            <a:tbl>
              <a:tblPr>
                <a:tableStyleId>{284E427A-3D55-4303-BF80-6455036E1DE7}</a:tableStyleId>
              </a:tblPr>
              <a:tblGrid>
                <a:gridCol w="4844716">
                  <a:extLst>
                    <a:ext uri="{9D8B030D-6E8A-4147-A177-3AD203B41FA5}">
                      <a16:colId xmlns:a16="http://schemas.microsoft.com/office/drawing/2014/main" val="252329334"/>
                    </a:ext>
                  </a:extLst>
                </a:gridCol>
              </a:tblGrid>
              <a:tr h="2500847">
                <a:tc>
                  <a:txBody>
                    <a:bodyPr/>
                    <a:lstStyle/>
                    <a:p>
                      <a:pPr marL="457200" lvl="1" algn="ctr" defTabSz="914400" rtl="0" eaLnBrk="1" latinLnBrk="0" hangingPunct="1">
                        <a:lnSpc>
                          <a:spcPct val="150000"/>
                        </a:lnSpc>
                      </a:pPr>
                      <a:r>
                        <a:rPr lang="vi-VN" sz="2600" b="1" kern="1200" baseline="0">
                          <a:solidFill>
                            <a:srgbClr val="FF0000"/>
                          </a:solidFill>
                          <a:latin typeface="+mn-lt"/>
                          <a:ea typeface="+mn-ea"/>
                          <a:cs typeface="+mn-cs"/>
                        </a:rPr>
                        <a:t>Hỏi số phòng :</a:t>
                      </a:r>
                      <a:endParaRPr lang="en-US" sz="2600" b="1" kern="1200" baseline="0">
                        <a:solidFill>
                          <a:srgbClr val="FF0000"/>
                        </a:solidFill>
                        <a:latin typeface="+mn-lt"/>
                        <a:ea typeface="+mn-ea"/>
                        <a:cs typeface="+mn-cs"/>
                      </a:endParaRPr>
                    </a:p>
                    <a:p>
                      <a:pPr marL="457200" lvl="1" algn="ctr" defTabSz="914400" rtl="0" eaLnBrk="1" latinLnBrk="0" hangingPunct="1">
                        <a:lnSpc>
                          <a:spcPct val="150000"/>
                        </a:lnSpc>
                      </a:pPr>
                      <a:r>
                        <a:rPr lang="zh-CN" altLang="en-US" baseline="0"/>
                        <a:t>（</a:t>
                      </a:r>
                      <a:r>
                        <a:rPr lang="en-US" altLang="zh-CN" sz="2600" kern="1200">
                          <a:solidFill>
                            <a:schemeClr val="dk1"/>
                          </a:solidFill>
                          <a:latin typeface="KaiTi" panose="02010609060101010101" pitchFamily="49" charset="-122"/>
                          <a:ea typeface="KaiTi" panose="02010609060101010101" pitchFamily="49" charset="-122"/>
                          <a:cs typeface="+mn-cs"/>
                        </a:rPr>
                        <a:t>1</a:t>
                      </a:r>
                      <a:r>
                        <a:rPr lang="zh-CN" altLang="en-US" sz="2800" kern="1200">
                          <a:solidFill>
                            <a:schemeClr val="dk1"/>
                          </a:solidFill>
                          <a:latin typeface="KaiTi" panose="02010609060101010101" pitchFamily="49" charset="-122"/>
                          <a:ea typeface="KaiTi" panose="02010609060101010101" pitchFamily="49" charset="-122"/>
                          <a:cs typeface="+mn-cs"/>
                        </a:rPr>
                        <a:t>）你的房间是多少号？</a:t>
                      </a:r>
                      <a:endParaRPr lang="en-US" altLang="zh-CN" sz="2800" kern="1200">
                        <a:solidFill>
                          <a:schemeClr val="dk1"/>
                        </a:solidFill>
                        <a:latin typeface="KaiTi" panose="02010609060101010101" pitchFamily="49" charset="-122"/>
                        <a:ea typeface="KaiTi" panose="02010609060101010101" pitchFamily="49" charset="-122"/>
                        <a:cs typeface="+mn-cs"/>
                      </a:endParaRPr>
                    </a:p>
                    <a:p>
                      <a:pPr marL="457200" lvl="1" algn="ctr" defTabSz="914400" rtl="0" eaLnBrk="1" latinLnBrk="0" hangingPunct="1">
                        <a:lnSpc>
                          <a:spcPct val="150000"/>
                        </a:lnSpc>
                      </a:pPr>
                      <a:r>
                        <a:rPr lang="zh-CN" altLang="en-US" sz="2800" kern="1200">
                          <a:solidFill>
                            <a:schemeClr val="dk1"/>
                          </a:solidFill>
                          <a:latin typeface="KaiTi" panose="02010609060101010101" pitchFamily="49" charset="-122"/>
                          <a:ea typeface="KaiTi" panose="02010609060101010101" pitchFamily="49" charset="-122"/>
                          <a:cs typeface="+mn-cs"/>
                        </a:rPr>
                        <a:t>（</a:t>
                      </a:r>
                      <a:r>
                        <a:rPr lang="en-US" altLang="zh-CN" sz="2800" kern="1200">
                          <a:solidFill>
                            <a:schemeClr val="dk1"/>
                          </a:solidFill>
                          <a:latin typeface="KaiTi" panose="02010609060101010101" pitchFamily="49" charset="-122"/>
                          <a:ea typeface="KaiTi" panose="02010609060101010101" pitchFamily="49" charset="-122"/>
                          <a:cs typeface="+mn-cs"/>
                        </a:rPr>
                        <a:t>2</a:t>
                      </a:r>
                      <a:r>
                        <a:rPr lang="zh-CN" altLang="en-US" sz="2800" kern="1200">
                          <a:solidFill>
                            <a:schemeClr val="dk1"/>
                          </a:solidFill>
                          <a:latin typeface="KaiTi" panose="02010609060101010101" pitchFamily="49" charset="-122"/>
                          <a:ea typeface="KaiTi" panose="02010609060101010101" pitchFamily="49" charset="-122"/>
                          <a:cs typeface="+mn-cs"/>
                        </a:rPr>
                        <a:t>）你的房间号码是多少？</a:t>
                      </a:r>
                      <a:endParaRPr lang="en-US" altLang="zh-CN" sz="2800" kern="1200">
                        <a:solidFill>
                          <a:schemeClr val="dk1"/>
                        </a:solidFill>
                        <a:latin typeface="KaiTi" panose="02010609060101010101" pitchFamily="49" charset="-122"/>
                        <a:ea typeface="KaiTi" panose="02010609060101010101" pitchFamily="49" charset="-122"/>
                        <a:cs typeface="+mn-cs"/>
                      </a:endParaRPr>
                    </a:p>
                    <a:p>
                      <a:pPr marL="457200" lvl="1" algn="ctr" defTabSz="914400" rtl="0" eaLnBrk="1" latinLnBrk="0" hangingPunct="1">
                        <a:lnSpc>
                          <a:spcPct val="150000"/>
                        </a:lnSpc>
                      </a:pPr>
                      <a:r>
                        <a:rPr lang="zh-CN" altLang="en-US" sz="2800" kern="1200">
                          <a:solidFill>
                            <a:schemeClr val="dk1"/>
                          </a:solidFill>
                          <a:latin typeface="KaiTi" panose="02010609060101010101" pitchFamily="49" charset="-122"/>
                          <a:ea typeface="KaiTi" panose="02010609060101010101" pitchFamily="49" charset="-122"/>
                          <a:cs typeface="+mn-cs"/>
                        </a:rPr>
                        <a:t>（</a:t>
                      </a:r>
                      <a:r>
                        <a:rPr lang="en-US" altLang="zh-CN" sz="2800" kern="1200">
                          <a:solidFill>
                            <a:schemeClr val="dk1"/>
                          </a:solidFill>
                          <a:latin typeface="KaiTi" panose="02010609060101010101" pitchFamily="49" charset="-122"/>
                          <a:ea typeface="KaiTi" panose="02010609060101010101" pitchFamily="49" charset="-122"/>
                          <a:cs typeface="+mn-cs"/>
                        </a:rPr>
                        <a:t>3</a:t>
                      </a:r>
                      <a:r>
                        <a:rPr lang="zh-CN" altLang="en-US" sz="2800" kern="1200">
                          <a:solidFill>
                            <a:schemeClr val="dk1"/>
                          </a:solidFill>
                          <a:latin typeface="KaiTi" panose="02010609060101010101" pitchFamily="49" charset="-122"/>
                          <a:ea typeface="KaiTi" panose="02010609060101010101" pitchFamily="49" charset="-122"/>
                          <a:cs typeface="+mn-cs"/>
                        </a:rPr>
                        <a:t>）你住多少号房间。</a:t>
                      </a:r>
                      <a:endParaRPr lang="en-US" sz="2800" kern="1200">
                        <a:solidFill>
                          <a:schemeClr val="dk1"/>
                        </a:solidFill>
                        <a:latin typeface="KaiTi" panose="02010609060101010101" pitchFamily="49" charset="-122"/>
                        <a:ea typeface="KaiTi" panose="02010609060101010101" pitchFamily="49" charset="-122"/>
                        <a:cs typeface="+mn-cs"/>
                      </a:endParaRPr>
                    </a:p>
                  </a:txBody>
                  <a:tcPr anchor="ctr"/>
                </a:tc>
                <a:extLst>
                  <a:ext uri="{0D108BD9-81ED-4DB2-BD59-A6C34878D82A}">
                    <a16:rowId xmlns:a16="http://schemas.microsoft.com/office/drawing/2014/main" val="1321045432"/>
                  </a:ext>
                </a:extLst>
              </a:tr>
            </a:tbl>
          </a:graphicData>
        </a:graphic>
      </p:graphicFrame>
    </p:spTree>
    <p:extLst>
      <p:ext uri="{BB962C8B-B14F-4D97-AF65-F5344CB8AC3E}">
        <p14:creationId xmlns:p14="http://schemas.microsoft.com/office/powerpoint/2010/main" val="1162790038"/>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84764372"/>
              </p:ext>
            </p:extLst>
          </p:nvPr>
        </p:nvGraphicFramePr>
        <p:xfrm>
          <a:off x="641687" y="453764"/>
          <a:ext cx="3979299" cy="705856"/>
        </p:xfrm>
        <a:graphic>
          <a:graphicData uri="http://schemas.openxmlformats.org/drawingml/2006/table">
            <a:tbl>
              <a:tblPr>
                <a:tableStyleId>{2D5ABB26-0587-4C30-8999-92F81FD0307C}</a:tableStyleId>
              </a:tblPr>
              <a:tblGrid>
                <a:gridCol w="3979299">
                  <a:extLst>
                    <a:ext uri="{9D8B030D-6E8A-4147-A177-3AD203B41FA5}">
                      <a16:colId xmlns:a16="http://schemas.microsoft.com/office/drawing/2014/main" val="2227816441"/>
                    </a:ext>
                  </a:extLst>
                </a:gridCol>
              </a:tblGrid>
              <a:tr h="705856">
                <a:tc>
                  <a:txBody>
                    <a:bodyPr/>
                    <a:lstStyle/>
                    <a:p>
                      <a:pPr algn="ctr"/>
                      <a:r>
                        <a:rPr lang="en-US" sz="2800" b="1" i="1">
                          <a:solidFill>
                            <a:srgbClr val="FF0000"/>
                          </a:solidFill>
                          <a:latin typeface="KaiTi" panose="02010609060101010101" pitchFamily="49" charset="-122"/>
                          <a:ea typeface="KaiTi" panose="02010609060101010101" pitchFamily="49" charset="-122"/>
                        </a:rPr>
                        <a:t>5.</a:t>
                      </a:r>
                      <a:r>
                        <a:rPr lang="zh-CN" altLang="en-US" sz="2800" b="1" i="1">
                          <a:solidFill>
                            <a:srgbClr val="FF0000"/>
                          </a:solidFill>
                          <a:latin typeface="KaiTi" panose="02010609060101010101" pitchFamily="49" charset="-122"/>
                          <a:ea typeface="KaiTi" panose="02010609060101010101" pitchFamily="49" charset="-122"/>
                        </a:rPr>
                        <a:t>不用谢。</a:t>
                      </a:r>
                      <a:endParaRPr lang="en-US" sz="2800" b="1" i="1">
                        <a:solidFill>
                          <a:srgbClr val="FF0000"/>
                        </a:solidFill>
                        <a:latin typeface="KaiTi" panose="02010609060101010101" pitchFamily="49" charset="-122"/>
                        <a:ea typeface="KaiTi" panose="02010609060101010101" pitchFamily="49" charset="-122"/>
                      </a:endParaRPr>
                    </a:p>
                  </a:txBody>
                  <a:tcPr/>
                </a:tc>
                <a:extLst>
                  <a:ext uri="{0D108BD9-81ED-4DB2-BD59-A6C34878D82A}">
                    <a16:rowId xmlns:a16="http://schemas.microsoft.com/office/drawing/2014/main" val="322663532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55300522"/>
              </p:ext>
            </p:extLst>
          </p:nvPr>
        </p:nvGraphicFramePr>
        <p:xfrm>
          <a:off x="751114" y="1763486"/>
          <a:ext cx="6004133" cy="3305819"/>
        </p:xfrm>
        <a:graphic>
          <a:graphicData uri="http://schemas.openxmlformats.org/drawingml/2006/table">
            <a:tbl>
              <a:tblPr>
                <a:tableStyleId>{2D5ABB26-0587-4C30-8999-92F81FD0307C}</a:tableStyleId>
              </a:tblPr>
              <a:tblGrid>
                <a:gridCol w="6004133">
                  <a:extLst>
                    <a:ext uri="{9D8B030D-6E8A-4147-A177-3AD203B41FA5}">
                      <a16:colId xmlns:a16="http://schemas.microsoft.com/office/drawing/2014/main" val="160457166"/>
                    </a:ext>
                  </a:extLst>
                </a:gridCol>
              </a:tblGrid>
              <a:tr h="3305819">
                <a:tc>
                  <a:txBody>
                    <a:bodyPr/>
                    <a:lstStyle/>
                    <a:p>
                      <a:pPr>
                        <a:lnSpc>
                          <a:spcPct val="150000"/>
                        </a:lnSpc>
                      </a:pPr>
                      <a:r>
                        <a:rPr lang="en-US" sz="3200" dirty="0" err="1">
                          <a:latin typeface="Times New Roman" panose="02020603050405020304" pitchFamily="18" charset="0"/>
                          <a:cs typeface="Times New Roman" panose="02020603050405020304" pitchFamily="18" charset="0"/>
                        </a:rPr>
                        <a:t>Đây</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là</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một</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cách</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trả</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lời</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khi</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người</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khác</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cảm</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ơn</a:t>
                      </a:r>
                      <a:r>
                        <a:rPr lang="en-US" sz="3200" baseline="0" dirty="0">
                          <a:latin typeface="Times New Roman" panose="02020603050405020304" pitchFamily="18" charset="0"/>
                          <a:cs typeface="Times New Roman" panose="02020603050405020304" pitchFamily="18" charset="0"/>
                        </a:rPr>
                        <a:t> , </a:t>
                      </a:r>
                      <a:r>
                        <a:rPr lang="en-US" sz="3200" baseline="0" dirty="0" err="1">
                          <a:latin typeface="Times New Roman" panose="02020603050405020304" pitchFamily="18" charset="0"/>
                          <a:cs typeface="Times New Roman" panose="02020603050405020304" pitchFamily="18" charset="0"/>
                        </a:rPr>
                        <a:t>cũng</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có</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thể</a:t>
                      </a:r>
                      <a:r>
                        <a:rPr lang="en-US" sz="3200" baseline="0" dirty="0">
                          <a:latin typeface="Times New Roman" panose="02020603050405020304" pitchFamily="18" charset="0"/>
                          <a:cs typeface="Times New Roman" panose="02020603050405020304" pitchFamily="18" charset="0"/>
                        </a:rPr>
                        <a:t> </a:t>
                      </a:r>
                      <a:r>
                        <a:rPr lang="en-US" sz="3200" baseline="0" dirty="0" err="1">
                          <a:latin typeface="Times New Roman" panose="02020603050405020304" pitchFamily="18" charset="0"/>
                          <a:cs typeface="Times New Roman" panose="02020603050405020304" pitchFamily="18" charset="0"/>
                        </a:rPr>
                        <a:t>nói</a:t>
                      </a:r>
                      <a:r>
                        <a:rPr lang="en-US" sz="3200" baseline="0" dirty="0">
                          <a:latin typeface="Times New Roman" panose="02020603050405020304" pitchFamily="18" charset="0"/>
                          <a:cs typeface="Times New Roman" panose="02020603050405020304" pitchFamily="18" charset="0"/>
                        </a:rPr>
                        <a:t> </a:t>
                      </a:r>
                      <a:br>
                        <a:rPr lang="en-US" sz="3200" baseline="0" dirty="0">
                          <a:latin typeface="Times New Roman" panose="02020603050405020304" pitchFamily="18" charset="0"/>
                          <a:cs typeface="Times New Roman" panose="02020603050405020304" pitchFamily="18" charset="0"/>
                        </a:rPr>
                      </a:br>
                      <a:r>
                        <a:rPr lang="zh-CN" altLang="en-US" sz="3200" baseline="0" dirty="0">
                          <a:latin typeface="Times New Roman" panose="02020603050405020304" pitchFamily="18" charset="0"/>
                          <a:cs typeface="Times New Roman" panose="02020603050405020304" pitchFamily="18" charset="0"/>
                        </a:rPr>
                        <a:t>“不用谢” </a:t>
                      </a:r>
                      <a:r>
                        <a:rPr lang="en-US" altLang="zh-CN" sz="3200" baseline="0" dirty="0" err="1">
                          <a:latin typeface="Times New Roman" panose="02020603050405020304" pitchFamily="18" charset="0"/>
                          <a:cs typeface="Times New Roman" panose="02020603050405020304" pitchFamily="18" charset="0"/>
                        </a:rPr>
                        <a:t>hoặc</a:t>
                      </a:r>
                      <a:r>
                        <a:rPr lang="en-US" altLang="zh-CN" sz="3200" baseline="0" dirty="0">
                          <a:latin typeface="Times New Roman" panose="02020603050405020304" pitchFamily="18" charset="0"/>
                          <a:cs typeface="Times New Roman" panose="02020603050405020304" pitchFamily="18" charset="0"/>
                        </a:rPr>
                        <a:t> </a:t>
                      </a:r>
                      <a:r>
                        <a:rPr lang="zh-CN" altLang="en-US" sz="3200" baseline="0" dirty="0">
                          <a:latin typeface="Times New Roman" panose="02020603050405020304" pitchFamily="18" charset="0"/>
                          <a:cs typeface="Times New Roman" panose="02020603050405020304" pitchFamily="18" charset="0"/>
                        </a:rPr>
                        <a:t>“不谢”</a:t>
                      </a:r>
                      <a:endParaRPr lang="en-US" sz="3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91611042"/>
                  </a:ext>
                </a:extLst>
              </a:tr>
            </a:tbl>
          </a:graphicData>
        </a:graphic>
      </p:graphicFrame>
    </p:spTree>
    <p:extLst>
      <p:ext uri="{BB962C8B-B14F-4D97-AF65-F5344CB8AC3E}">
        <p14:creationId xmlns:p14="http://schemas.microsoft.com/office/powerpoint/2010/main" val="421331978"/>
      </p:ext>
    </p:extLst>
  </p:cSld>
  <p:clrMapOvr>
    <a:masterClrMapping/>
  </p:clrMapOvr>
  <mc:AlternateContent xmlns:mc="http://schemas.openxmlformats.org/markup-compatibility/2006" xmlns:p14="http://schemas.microsoft.com/office/powerpoint/2010/main">
    <mc:Choice Requires="p14">
      <p:transition spd="slow" p14:dur="1250" advClick="0" advTm="0">
        <p14:switch dir="r"/>
      </p:transition>
    </mc:Choice>
    <mc:Fallback xmlns="">
      <p:transition spd="slow" advClick="0" advTm="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61092096"/>
              </p:ext>
            </p:extLst>
          </p:nvPr>
        </p:nvGraphicFramePr>
        <p:xfrm>
          <a:off x="2557573" y="1007787"/>
          <a:ext cx="7656161" cy="5261811"/>
        </p:xfrm>
        <a:graphic>
          <a:graphicData uri="http://schemas.openxmlformats.org/drawingml/2006/table">
            <a:tbl>
              <a:tblPr firstRow="1">
                <a:tableStyleId>{5C22544A-7EE6-4342-B048-85BDC9FD1C3A}</a:tableStyleId>
              </a:tblPr>
              <a:tblGrid>
                <a:gridCol w="854520">
                  <a:extLst>
                    <a:ext uri="{9D8B030D-6E8A-4147-A177-3AD203B41FA5}">
                      <a16:colId xmlns:a16="http://schemas.microsoft.com/office/drawing/2014/main" val="2897192029"/>
                    </a:ext>
                  </a:extLst>
                </a:gridCol>
                <a:gridCol w="1693138">
                  <a:extLst>
                    <a:ext uri="{9D8B030D-6E8A-4147-A177-3AD203B41FA5}">
                      <a16:colId xmlns:a16="http://schemas.microsoft.com/office/drawing/2014/main" val="2090168382"/>
                    </a:ext>
                  </a:extLst>
                </a:gridCol>
                <a:gridCol w="1677645">
                  <a:extLst>
                    <a:ext uri="{9D8B030D-6E8A-4147-A177-3AD203B41FA5}">
                      <a16:colId xmlns:a16="http://schemas.microsoft.com/office/drawing/2014/main" val="964787021"/>
                    </a:ext>
                  </a:extLst>
                </a:gridCol>
                <a:gridCol w="982405">
                  <a:extLst>
                    <a:ext uri="{9D8B030D-6E8A-4147-A177-3AD203B41FA5}">
                      <a16:colId xmlns:a16="http://schemas.microsoft.com/office/drawing/2014/main" val="934390766"/>
                    </a:ext>
                  </a:extLst>
                </a:gridCol>
                <a:gridCol w="2448453">
                  <a:extLst>
                    <a:ext uri="{9D8B030D-6E8A-4147-A177-3AD203B41FA5}">
                      <a16:colId xmlns:a16="http://schemas.microsoft.com/office/drawing/2014/main" val="1958298950"/>
                    </a:ext>
                  </a:extLst>
                </a:gridCol>
              </a:tblGrid>
              <a:tr h="1106712">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Tiếng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dirty="0" err="1">
                          <a:solidFill>
                            <a:srgbClr val="07443C"/>
                          </a:solidFill>
                          <a:effectLst/>
                          <a:latin typeface="Times New Roman" panose="02020603050405020304" pitchFamily="18" charset="0"/>
                          <a:ea typeface="+mn-ea"/>
                          <a:cs typeface="Times New Roman" panose="02020603050405020304" pitchFamily="18" charset="0"/>
                        </a:rPr>
                        <a:t>Phiên</a:t>
                      </a:r>
                      <a:r>
                        <a:rPr lang="en-US" sz="2500" b="1" kern="1200" dirty="0">
                          <a:solidFill>
                            <a:srgbClr val="07443C"/>
                          </a:solidFill>
                          <a:effectLst/>
                          <a:latin typeface="Times New Roman" panose="02020603050405020304" pitchFamily="18" charset="0"/>
                          <a:ea typeface="+mn-ea"/>
                          <a:cs typeface="Times New Roman" panose="02020603050405020304" pitchFamily="18" charset="0"/>
                        </a:rPr>
                        <a:t> </a:t>
                      </a:r>
                      <a:r>
                        <a:rPr lang="en-US" sz="2500" b="1" kern="1200" dirty="0" err="1">
                          <a:solidFill>
                            <a:srgbClr val="07443C"/>
                          </a:solidFill>
                          <a:effectLst/>
                          <a:latin typeface="Times New Roman" panose="02020603050405020304" pitchFamily="18" charset="0"/>
                          <a:ea typeface="+mn-ea"/>
                          <a:cs typeface="Times New Roman" panose="02020603050405020304" pitchFamily="18" charset="0"/>
                        </a:rPr>
                        <a:t>Âm</a:t>
                      </a:r>
                      <a:endParaRPr lang="en-US" sz="2500" b="1" kern="1200" dirty="0">
                        <a:solidFill>
                          <a:srgbClr val="07443C"/>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Từ loại</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500" b="1" kern="1200">
                          <a:solidFill>
                            <a:srgbClr val="07443C"/>
                          </a:solidFill>
                          <a:effectLst/>
                          <a:latin typeface="Times New Roman" panose="02020603050405020304" pitchFamily="18" charset="0"/>
                          <a:ea typeface="+mn-ea"/>
                          <a:cs typeface="Times New Roman" panose="02020603050405020304" pitchFamily="18" charset="0"/>
                        </a:rPr>
                        <a:t>Nghĩa của từ</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1037781">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北京</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2500" i="1" kern="1200">
                          <a:solidFill>
                            <a:schemeClr val="dk1"/>
                          </a:solidFill>
                          <a:latin typeface="Times New Roman" panose="02020603050405020304" pitchFamily="18" charset="0"/>
                          <a:ea typeface="+mn-ea"/>
                          <a:cs typeface="Times New Roman" panose="02020603050405020304" pitchFamily="18" charset="0"/>
                        </a:rPr>
                        <a:t>Běijīng</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vi-VN" sz="2500" i="0" kern="1200">
                          <a:solidFill>
                            <a:schemeClr val="dk1"/>
                          </a:solidFill>
                          <a:latin typeface="Times New Roman" panose="02020603050405020304" pitchFamily="18" charset="0"/>
                          <a:ea typeface="+mn-ea"/>
                          <a:cs typeface="Times New Roman" panose="02020603050405020304" pitchFamily="18" charset="0"/>
                        </a:rPr>
                        <a:t>Bắc Kinh</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944867">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上海</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2500" i="1" kern="1200">
                          <a:solidFill>
                            <a:schemeClr val="dk1"/>
                          </a:solidFill>
                          <a:latin typeface="Times New Roman" panose="02020603050405020304" pitchFamily="18" charset="0"/>
                          <a:ea typeface="+mn-ea"/>
                          <a:cs typeface="Times New Roman" panose="02020603050405020304" pitchFamily="18" charset="0"/>
                        </a:rPr>
                        <a:t>Shànghǎi</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vi-VN" sz="2500" i="0" kern="1200">
                          <a:solidFill>
                            <a:schemeClr val="dk1"/>
                          </a:solidFill>
                          <a:latin typeface="Times New Roman" panose="02020603050405020304" pitchFamily="18" charset="0"/>
                          <a:ea typeface="+mn-ea"/>
                          <a:cs typeface="Times New Roman" panose="02020603050405020304" pitchFamily="18" charset="0"/>
                        </a:rPr>
                        <a:t>Thượng Hải</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1489014">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南京</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2500" i="1" kern="1200">
                          <a:solidFill>
                            <a:schemeClr val="dk1"/>
                          </a:solidFill>
                          <a:latin typeface="Times New Roman" panose="02020603050405020304" pitchFamily="18" charset="0"/>
                          <a:ea typeface="+mn-ea"/>
                          <a:cs typeface="Times New Roman" panose="02020603050405020304" pitchFamily="18" charset="0"/>
                        </a:rPr>
                        <a:t>Nánjīng</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vi-VN" sz="2500" i="0" kern="1200">
                          <a:solidFill>
                            <a:schemeClr val="dk1"/>
                          </a:solidFill>
                          <a:latin typeface="Times New Roman" panose="02020603050405020304" pitchFamily="18" charset="0"/>
                          <a:ea typeface="+mn-ea"/>
                          <a:cs typeface="Times New Roman" panose="02020603050405020304" pitchFamily="18" charset="0"/>
                        </a:rPr>
                        <a:t>Nam Kinh</a:t>
                      </a:r>
                      <a:endParaRPr lang="en-US" sz="2500" i="0" kern="120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683437">
                <a:tc>
                  <a:txBody>
                    <a:bodyPr/>
                    <a:lstStyle/>
                    <a:p>
                      <a:pPr marL="0" indent="0" algn="ctr" defTabSz="914400" rtl="0" eaLnBrk="1" fontAlgn="b" latinLnBrk="0" hangingPunct="1">
                        <a:buFontTx/>
                        <a:buNone/>
                      </a:pPr>
                      <a:r>
                        <a:rPr lang="en-US" sz="25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电话</a:t>
                      </a:r>
                      <a:endParaRPr lang="en-US" sz="27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algn="ctr"/>
                      <a:r>
                        <a:rPr lang="en-US" altLang="zh-CN" sz="2500" i="1" kern="1200">
                          <a:solidFill>
                            <a:schemeClr val="dk1"/>
                          </a:solidFill>
                          <a:latin typeface="Times New Roman" panose="02020603050405020304" pitchFamily="18" charset="0"/>
                          <a:ea typeface="+mn-ea"/>
                          <a:cs typeface="Times New Roman" panose="02020603050405020304" pitchFamily="18" charset="0"/>
                        </a:rPr>
                        <a:t>diànhuà</a:t>
                      </a:r>
                      <a:endParaRPr lang="en-US" sz="2500" i="1" kern="1200">
                        <a:solidFill>
                          <a:schemeClr val="dk1"/>
                        </a:solidFill>
                        <a:latin typeface="Times New Roman" panose="02020603050405020304" pitchFamily="18" charset="0"/>
                        <a:ea typeface="+mn-ea"/>
                        <a:cs typeface="Times New Roman" panose="02020603050405020304" pitchFamily="18" charset="0"/>
                      </a:endParaRPr>
                    </a:p>
                  </a:txBody>
                  <a:tcPr marL="9521" marR="9521" marT="9521"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500">
                          <a:latin typeface="宋体" panose="02010600030101010101" pitchFamily="2" charset="-122"/>
                          <a:ea typeface="宋体" panose="02010600030101010101" pitchFamily="2" charset="-122"/>
                        </a:rPr>
                        <a:t>名</a:t>
                      </a:r>
                      <a:endParaRPr lang="en-US" sz="2500">
                        <a:latin typeface="宋体" panose="02010600030101010101" pitchFamily="2" charset="-122"/>
                        <a:ea typeface="宋体" panose="02010600030101010101" pitchFamily="2" charset="-122"/>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algn="ctr" defTabSz="914400" rtl="0" eaLnBrk="1" latinLnBrk="0" hangingPunct="1"/>
                      <a:r>
                        <a:rPr lang="vi-VN" sz="2500" i="0" kern="1200" dirty="0">
                          <a:solidFill>
                            <a:schemeClr val="dk1"/>
                          </a:solidFill>
                          <a:latin typeface="Times New Roman" panose="02020603050405020304" pitchFamily="18" charset="0"/>
                          <a:ea typeface="+mn-ea"/>
                          <a:cs typeface="Times New Roman" panose="02020603050405020304" pitchFamily="18" charset="0"/>
                        </a:rPr>
                        <a:t>Điện thoại</a:t>
                      </a:r>
                      <a:endParaRPr lang="en-US" sz="2500" i="0" kern="1200" dirty="0">
                        <a:solidFill>
                          <a:schemeClr val="dk1"/>
                        </a:solidFill>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bl>
          </a:graphicData>
        </a:graphic>
      </p:graphicFrame>
      <p:graphicFrame>
        <p:nvGraphicFramePr>
          <p:cNvPr id="8" name="Content Placeholder 3"/>
          <p:cNvGraphicFramePr>
            <a:graphicFrameLocks noGrp="1"/>
          </p:cNvGraphicFramePr>
          <p:nvPr>
            <p:ph idx="1"/>
            <p:extLst>
              <p:ext uri="{D42A27DB-BD31-4B8C-83A1-F6EECF244321}">
                <p14:modId xmlns:p14="http://schemas.microsoft.com/office/powerpoint/2010/main" val="2180163712"/>
              </p:ext>
            </p:extLst>
          </p:nvPr>
        </p:nvGraphicFramePr>
        <p:xfrm>
          <a:off x="641687" y="320840"/>
          <a:ext cx="4892839" cy="457200"/>
        </p:xfrm>
        <a:graphic>
          <a:graphicData uri="http://schemas.openxmlformats.org/drawingml/2006/table">
            <a:tbl>
              <a:tblPr>
                <a:tableStyleId>{2D5ABB26-0587-4C30-8999-92F81FD0307C}</a:tableStyleId>
              </a:tblPr>
              <a:tblGrid>
                <a:gridCol w="4892839">
                  <a:extLst>
                    <a:ext uri="{9D8B030D-6E8A-4147-A177-3AD203B41FA5}">
                      <a16:colId xmlns:a16="http://schemas.microsoft.com/office/drawing/2014/main" val="2227816441"/>
                    </a:ext>
                  </a:extLst>
                </a:gridCol>
              </a:tblGrid>
              <a:tr h="264699">
                <a:tc>
                  <a:txBody>
                    <a:bodyPr/>
                    <a:lstStyle/>
                    <a:p>
                      <a:pPr algn="ctr"/>
                      <a:r>
                        <a:rPr lang="zh-CN" altLang="en-US" sz="2400" b="1" i="1">
                          <a:solidFill>
                            <a:srgbClr val="FF0000"/>
                          </a:solidFill>
                          <a:latin typeface="KaiTi" panose="02010609060101010101" pitchFamily="49" charset="-122"/>
                          <a:ea typeface="KaiTi" panose="02010609060101010101" pitchFamily="49" charset="-122"/>
                        </a:rPr>
                        <a:t>补充词语 </a:t>
                      </a:r>
                      <a:r>
                        <a:rPr lang="en-US" altLang="zh-CN" sz="2400" b="1" i="1">
                          <a:solidFill>
                            <a:srgbClr val="FF0000"/>
                          </a:solidFill>
                          <a:latin typeface="KaiTi" panose="02010609060101010101" pitchFamily="49" charset="-122"/>
                          <a:ea typeface="KaiTi" panose="02010609060101010101" pitchFamily="49" charset="-122"/>
                        </a:rPr>
                        <a:t>Từ</a:t>
                      </a:r>
                      <a:r>
                        <a:rPr lang="en-US" altLang="zh-CN" sz="2400" b="1" i="1" baseline="0">
                          <a:solidFill>
                            <a:srgbClr val="FF0000"/>
                          </a:solidFill>
                          <a:latin typeface="KaiTi" panose="02010609060101010101" pitchFamily="49" charset="-122"/>
                          <a:ea typeface="KaiTi" panose="02010609060101010101" pitchFamily="49" charset="-122"/>
                        </a:rPr>
                        <a:t> ngữ bổ sung</a:t>
                      </a:r>
                      <a:endParaRPr lang="en-US" sz="2400" b="1" i="1">
                        <a:solidFill>
                          <a:srgbClr val="FF0000"/>
                        </a:solidFill>
                        <a:latin typeface="KaiTi" panose="02010609060101010101" pitchFamily="49" charset="-122"/>
                        <a:ea typeface="KaiTi" panose="02010609060101010101" pitchFamily="49" charset="-122"/>
                      </a:endParaRPr>
                    </a:p>
                  </a:txBody>
                  <a:tcPr/>
                </a:tc>
                <a:extLst>
                  <a:ext uri="{0D108BD9-81ED-4DB2-BD59-A6C34878D82A}">
                    <a16:rowId xmlns:a16="http://schemas.microsoft.com/office/drawing/2014/main" val="3226635329"/>
                  </a:ext>
                </a:extLst>
              </a:tr>
            </a:tbl>
          </a:graphicData>
        </a:graphic>
      </p:graphicFrame>
    </p:spTree>
    <p:extLst>
      <p:ext uri="{BB962C8B-B14F-4D97-AF65-F5344CB8AC3E}">
        <p14:creationId xmlns:p14="http://schemas.microsoft.com/office/powerpoint/2010/main" val="19507491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86D37B42-1C25-4E1A-9FD0-1DB8BDF4C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0" y="4278830"/>
            <a:ext cx="3886200" cy="2701290"/>
          </a:xfrm>
          <a:prstGeom prst="rect">
            <a:avLst/>
          </a:prstGeom>
          <a:effectLst>
            <a:outerShdw blurRad="50800" dist="38100" dir="2700000" algn="tl" rotWithShape="0">
              <a:prstClr val="black">
                <a:alpha val="40000"/>
              </a:prstClr>
            </a:outerShdw>
          </a:effectLst>
        </p:spPr>
      </p:pic>
      <p:sp>
        <p:nvSpPr>
          <p:cNvPr id="36" name="矩形 35">
            <a:extLst>
              <a:ext uri="{FF2B5EF4-FFF2-40B4-BE49-F238E27FC236}">
                <a16:creationId xmlns:a16="http://schemas.microsoft.com/office/drawing/2014/main" id="{3AFB802F-FE89-4AE6-B642-259A78812496}"/>
              </a:ext>
            </a:extLst>
          </p:cNvPr>
          <p:cNvSpPr/>
          <p:nvPr/>
        </p:nvSpPr>
        <p:spPr>
          <a:xfrm>
            <a:off x="4489687" y="2527300"/>
            <a:ext cx="7519152" cy="1862048"/>
          </a:xfrm>
          <a:prstGeom prst="rect">
            <a:avLst/>
          </a:prstGeom>
        </p:spPr>
        <p:txBody>
          <a:bodyPr wrap="square">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1500" b="1">
                <a:solidFill>
                  <a:srgbClr val="FF0000"/>
                </a:solidFill>
                <a:latin typeface="义启小魏楷" panose="02010601030101010101" pitchFamily="2" charset="-122"/>
                <a:ea typeface="长城行楷体" panose="02010609000101010101" pitchFamily="49" charset="-122"/>
                <a:cs typeface="+mn-ea"/>
              </a:rPr>
              <a:t>写汉字</a:t>
            </a:r>
            <a:endParaRPr kumimoji="0" lang="en-US" altLang="zh-CN" sz="11500" b="1" i="0" u="none" strike="noStrike" kern="1200" cap="none" spc="0" normalizeH="0" baseline="0" noProof="0" dirty="0">
              <a:ln>
                <a:noFill/>
              </a:ln>
              <a:solidFill>
                <a:srgbClr val="FF0000"/>
              </a:solidFill>
              <a:uLnTx/>
              <a:uFillTx/>
              <a:latin typeface="义启小魏楷" panose="02010601030101010101" pitchFamily="2" charset="-122"/>
              <a:ea typeface="长城行楷体" panose="02010609000101010101" pitchFamily="49" charset="-122"/>
              <a:cs typeface="+mn-ea"/>
            </a:endParaRPr>
          </a:p>
        </p:txBody>
      </p:sp>
      <p:sp>
        <p:nvSpPr>
          <p:cNvPr id="37" name="文本框 36">
            <a:extLst>
              <a:ext uri="{FF2B5EF4-FFF2-40B4-BE49-F238E27FC236}">
                <a16:creationId xmlns:a16="http://schemas.microsoft.com/office/drawing/2014/main" id="{5E5E95FF-8EB0-476E-8AF6-FB30C427C5C5}"/>
              </a:ext>
            </a:extLst>
          </p:cNvPr>
          <p:cNvSpPr txBox="1"/>
          <p:nvPr/>
        </p:nvSpPr>
        <p:spPr>
          <a:xfrm>
            <a:off x="2303206" y="69796"/>
            <a:ext cx="3744667" cy="3770263"/>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en-US" altLang="zh-CN" sz="23900" b="1" i="1">
                <a:solidFill>
                  <a:srgbClr val="00B050"/>
                </a:solidFill>
                <a:latin typeface="Times New Roman" panose="02020603050405020304" pitchFamily="18" charset="0"/>
                <a:ea typeface="义启小魏楷" panose="02010601030101010101" pitchFamily="2" charset="-122"/>
                <a:cs typeface="Times New Roman" panose="02020603050405020304" pitchFamily="18" charset="0"/>
              </a:rPr>
              <a:t>03</a:t>
            </a:r>
            <a:endParaRPr lang="zh-CN" altLang="en-US" sz="23900" b="1" i="1" dirty="0">
              <a:solidFill>
                <a:srgbClr val="00B050"/>
              </a:solidFill>
              <a:latin typeface="Times New Roman" panose="02020603050405020304" pitchFamily="18" charset="0"/>
              <a:ea typeface="义启小魏楷" panose="02010601030101010101" pitchFamily="2" charset="-122"/>
              <a:cs typeface="Times New Roman" panose="02020603050405020304" pitchFamily="18" charset="0"/>
            </a:endParaRPr>
          </a:p>
        </p:txBody>
      </p:sp>
      <p:pic>
        <p:nvPicPr>
          <p:cNvPr id="8" name="图片 11">
            <a:extLst>
              <a:ext uri="{FF2B5EF4-FFF2-40B4-BE49-F238E27FC236}">
                <a16:creationId xmlns:a16="http://schemas.microsoft.com/office/drawing/2014/main" id="{94498F4F-54FE-4C27-8376-1707B9C261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765411" y="-2"/>
            <a:ext cx="5426589" cy="25273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957566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750"/>
                                        <p:tgtEl>
                                          <p:spTgt spid="35"/>
                                        </p:tgtEl>
                                      </p:cBhvr>
                                    </p:animEffect>
                                  </p:childTnLst>
                                </p:cTn>
                              </p:par>
                            </p:childTnLst>
                          </p:cTn>
                        </p:par>
                        <p:par>
                          <p:cTn id="8" fill="hold">
                            <p:stCondLst>
                              <p:cond delay="750"/>
                            </p:stCondLst>
                            <p:childTnLst>
                              <p:par>
                                <p:cTn id="9" presetID="2" presetClass="entr" presetSubtype="4"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750" fill="hold"/>
                                        <p:tgtEl>
                                          <p:spTgt spid="37"/>
                                        </p:tgtEl>
                                        <p:attrNameLst>
                                          <p:attrName>ppt_x</p:attrName>
                                        </p:attrNameLst>
                                      </p:cBhvr>
                                      <p:tavLst>
                                        <p:tav tm="0">
                                          <p:val>
                                            <p:strVal val="#ppt_x"/>
                                          </p:val>
                                        </p:tav>
                                        <p:tav tm="100000">
                                          <p:val>
                                            <p:strVal val="#ppt_x"/>
                                          </p:val>
                                        </p:tav>
                                      </p:tavLst>
                                    </p:anim>
                                    <p:anim calcmode="lin" valueType="num">
                                      <p:cBhvr additive="base">
                                        <p:cTn id="12" dur="750" fill="hold"/>
                                        <p:tgtEl>
                                          <p:spTgt spid="37"/>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2" presetClass="entr" presetSubtype="4"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750" fill="hold"/>
                                        <p:tgtEl>
                                          <p:spTgt spid="36"/>
                                        </p:tgtEl>
                                        <p:attrNameLst>
                                          <p:attrName>ppt_x</p:attrName>
                                        </p:attrNameLst>
                                      </p:cBhvr>
                                      <p:tavLst>
                                        <p:tav tm="0">
                                          <p:val>
                                            <p:strVal val="#ppt_x"/>
                                          </p:val>
                                        </p:tav>
                                        <p:tav tm="100000">
                                          <p:val>
                                            <p:strVal val="#ppt_x"/>
                                          </p:val>
                                        </p:tav>
                                      </p:tavLst>
                                    </p:anim>
                                    <p:anim calcmode="lin" valueType="num">
                                      <p:cBhvr additive="base">
                                        <p:cTn id="17" dur="750" fill="hold"/>
                                        <p:tgtEl>
                                          <p:spTgt spid="36"/>
                                        </p:tgtEl>
                                        <p:attrNameLst>
                                          <p:attrName>ppt_y</p:attrName>
                                        </p:attrNameLst>
                                      </p:cBhvr>
                                      <p:tavLst>
                                        <p:tav tm="0">
                                          <p:val>
                                            <p:strVal val="1+#ppt_h/2"/>
                                          </p:val>
                                        </p:tav>
                                        <p:tav tm="100000">
                                          <p:val>
                                            <p:strVal val="#ppt_y"/>
                                          </p:val>
                                        </p:tav>
                                      </p:tavLst>
                                    </p:anim>
                                  </p:childTnLst>
                                </p:cTn>
                              </p:par>
                            </p:childTnLst>
                          </p:cTn>
                        </p:par>
                        <p:par>
                          <p:cTn id="18" fill="hold">
                            <p:stCondLst>
                              <p:cond delay="225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11">
            <a:extLst>
              <a:ext uri="{FF2B5EF4-FFF2-40B4-BE49-F238E27FC236}">
                <a16:creationId xmlns:a16="http://schemas.microsoft.com/office/drawing/2014/main" id="{60C0FC24-F1C0-46CF-A29F-00402A1D9566}"/>
              </a:ext>
            </a:extLst>
          </p:cNvPr>
          <p:cNvGrpSpPr/>
          <p:nvPr/>
        </p:nvGrpSpPr>
        <p:grpSpPr>
          <a:xfrm>
            <a:off x="3076001" y="2175150"/>
            <a:ext cx="5842983" cy="2339963"/>
            <a:chOff x="2418675" y="1545658"/>
            <a:chExt cx="7380169" cy="3621241"/>
          </a:xfrm>
        </p:grpSpPr>
        <p:grpSp>
          <p:nvGrpSpPr>
            <p:cNvPr id="7" name="组合 12">
              <a:extLst>
                <a:ext uri="{FF2B5EF4-FFF2-40B4-BE49-F238E27FC236}">
                  <a16:creationId xmlns:a16="http://schemas.microsoft.com/office/drawing/2014/main" id="{F8EACA51-D4A9-41C9-9F96-E524A6136D9F}"/>
                </a:ext>
              </a:extLst>
            </p:cNvPr>
            <p:cNvGrpSpPr/>
            <p:nvPr/>
          </p:nvGrpSpPr>
          <p:grpSpPr>
            <a:xfrm flipH="1" flipV="1">
              <a:off x="9270355" y="1545658"/>
              <a:ext cx="528489" cy="376022"/>
              <a:chOff x="2945453" y="2246911"/>
              <a:chExt cx="5437284" cy="3868656"/>
            </a:xfrm>
          </p:grpSpPr>
          <p:cxnSp>
            <p:nvCxnSpPr>
              <p:cNvPr id="18" name="直接连接符 24">
                <a:extLst>
                  <a:ext uri="{FF2B5EF4-FFF2-40B4-BE49-F238E27FC236}">
                    <a16:creationId xmlns:a16="http://schemas.microsoft.com/office/drawing/2014/main" id="{139030AC-337D-462E-A0BE-6EBE33608953}"/>
                  </a:ext>
                </a:extLst>
              </p:cNvPr>
              <p:cNvCxnSpPr>
                <a:cxnSpLocks/>
              </p:cNvCxnSpPr>
              <p:nvPr/>
            </p:nvCxnSpPr>
            <p:spPr>
              <a:xfrm flipH="1">
                <a:off x="3802741" y="2246911"/>
                <a:ext cx="0" cy="3868656"/>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cxnSp>
            <p:nvCxnSpPr>
              <p:cNvPr id="19" name="直接连接符 25">
                <a:extLst>
                  <a:ext uri="{FF2B5EF4-FFF2-40B4-BE49-F238E27FC236}">
                    <a16:creationId xmlns:a16="http://schemas.microsoft.com/office/drawing/2014/main" id="{26C002F0-1229-47DA-B8CC-904A1EEC6561}"/>
                  </a:ext>
                </a:extLst>
              </p:cNvPr>
              <p:cNvCxnSpPr>
                <a:cxnSpLocks/>
              </p:cNvCxnSpPr>
              <p:nvPr/>
            </p:nvCxnSpPr>
            <p:spPr>
              <a:xfrm flipV="1">
                <a:off x="2945453" y="5227012"/>
                <a:ext cx="5437284" cy="0"/>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grpSp>
        <p:grpSp>
          <p:nvGrpSpPr>
            <p:cNvPr id="8" name="组合 13">
              <a:extLst>
                <a:ext uri="{FF2B5EF4-FFF2-40B4-BE49-F238E27FC236}">
                  <a16:creationId xmlns:a16="http://schemas.microsoft.com/office/drawing/2014/main" id="{53E2887B-5ABE-4C6F-945D-2F45EC0703D0}"/>
                </a:ext>
              </a:extLst>
            </p:cNvPr>
            <p:cNvGrpSpPr/>
            <p:nvPr/>
          </p:nvGrpSpPr>
          <p:grpSpPr>
            <a:xfrm>
              <a:off x="2418675" y="4790877"/>
              <a:ext cx="528489" cy="376022"/>
              <a:chOff x="2945453" y="2246911"/>
              <a:chExt cx="5437284" cy="3868656"/>
            </a:xfrm>
          </p:grpSpPr>
          <p:cxnSp>
            <p:nvCxnSpPr>
              <p:cNvPr id="16" name="直接连接符 22">
                <a:extLst>
                  <a:ext uri="{FF2B5EF4-FFF2-40B4-BE49-F238E27FC236}">
                    <a16:creationId xmlns:a16="http://schemas.microsoft.com/office/drawing/2014/main" id="{32E53826-A205-4646-80B5-A2F7A12470E3}"/>
                  </a:ext>
                </a:extLst>
              </p:cNvPr>
              <p:cNvCxnSpPr>
                <a:cxnSpLocks/>
              </p:cNvCxnSpPr>
              <p:nvPr/>
            </p:nvCxnSpPr>
            <p:spPr>
              <a:xfrm flipH="1">
                <a:off x="3802741" y="2246911"/>
                <a:ext cx="0" cy="3868656"/>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cxnSp>
            <p:nvCxnSpPr>
              <p:cNvPr id="17" name="直接连接符 23">
                <a:extLst>
                  <a:ext uri="{FF2B5EF4-FFF2-40B4-BE49-F238E27FC236}">
                    <a16:creationId xmlns:a16="http://schemas.microsoft.com/office/drawing/2014/main" id="{F062860C-1E0C-4B1C-B8B1-FB1FD4792887}"/>
                  </a:ext>
                </a:extLst>
              </p:cNvPr>
              <p:cNvCxnSpPr>
                <a:cxnSpLocks/>
              </p:cNvCxnSpPr>
              <p:nvPr/>
            </p:nvCxnSpPr>
            <p:spPr>
              <a:xfrm flipV="1">
                <a:off x="2945453" y="5227012"/>
                <a:ext cx="5437284" cy="0"/>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grpSp>
        <p:grpSp>
          <p:nvGrpSpPr>
            <p:cNvPr id="9" name="组合 14">
              <a:extLst>
                <a:ext uri="{FF2B5EF4-FFF2-40B4-BE49-F238E27FC236}">
                  <a16:creationId xmlns:a16="http://schemas.microsoft.com/office/drawing/2014/main" id="{6F85DD94-5AFF-4558-88CD-5015B2AB1B0B}"/>
                </a:ext>
              </a:extLst>
            </p:cNvPr>
            <p:cNvGrpSpPr/>
            <p:nvPr/>
          </p:nvGrpSpPr>
          <p:grpSpPr>
            <a:xfrm flipH="1">
              <a:off x="2418675" y="1545658"/>
              <a:ext cx="7380169" cy="3621241"/>
              <a:chOff x="1931365" y="747372"/>
              <a:chExt cx="7380169" cy="3621241"/>
            </a:xfrm>
          </p:grpSpPr>
          <p:grpSp>
            <p:nvGrpSpPr>
              <p:cNvPr id="10" name="组合 15">
                <a:extLst>
                  <a:ext uri="{FF2B5EF4-FFF2-40B4-BE49-F238E27FC236}">
                    <a16:creationId xmlns:a16="http://schemas.microsoft.com/office/drawing/2014/main" id="{6258D91E-B13B-4D4C-988A-295D0D9E2E82}"/>
                  </a:ext>
                </a:extLst>
              </p:cNvPr>
              <p:cNvGrpSpPr/>
              <p:nvPr/>
            </p:nvGrpSpPr>
            <p:grpSpPr>
              <a:xfrm flipH="1" flipV="1">
                <a:off x="8783045" y="747372"/>
                <a:ext cx="528489" cy="376022"/>
                <a:chOff x="2945453" y="2246911"/>
                <a:chExt cx="5437284" cy="3868656"/>
              </a:xfrm>
            </p:grpSpPr>
            <p:cxnSp>
              <p:nvCxnSpPr>
                <p:cNvPr id="14" name="直接连接符 20">
                  <a:extLst>
                    <a:ext uri="{FF2B5EF4-FFF2-40B4-BE49-F238E27FC236}">
                      <a16:creationId xmlns:a16="http://schemas.microsoft.com/office/drawing/2014/main" id="{5E341EB1-EEBB-45B1-86C4-1897C0F8F42B}"/>
                    </a:ext>
                  </a:extLst>
                </p:cNvPr>
                <p:cNvCxnSpPr>
                  <a:cxnSpLocks/>
                </p:cNvCxnSpPr>
                <p:nvPr/>
              </p:nvCxnSpPr>
              <p:spPr>
                <a:xfrm flipH="1">
                  <a:off x="3802741" y="2246911"/>
                  <a:ext cx="0" cy="3868656"/>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cxnSp>
              <p:nvCxnSpPr>
                <p:cNvPr id="15" name="直接连接符 21">
                  <a:extLst>
                    <a:ext uri="{FF2B5EF4-FFF2-40B4-BE49-F238E27FC236}">
                      <a16:creationId xmlns:a16="http://schemas.microsoft.com/office/drawing/2014/main" id="{94A86E73-F73B-4458-AB51-BE670C40463F}"/>
                    </a:ext>
                  </a:extLst>
                </p:cNvPr>
                <p:cNvCxnSpPr>
                  <a:cxnSpLocks/>
                </p:cNvCxnSpPr>
                <p:nvPr/>
              </p:nvCxnSpPr>
              <p:spPr>
                <a:xfrm flipV="1">
                  <a:off x="2945453" y="5227012"/>
                  <a:ext cx="5437284" cy="0"/>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grpSp>
          <p:grpSp>
            <p:nvGrpSpPr>
              <p:cNvPr id="11" name="组合 17">
                <a:extLst>
                  <a:ext uri="{FF2B5EF4-FFF2-40B4-BE49-F238E27FC236}">
                    <a16:creationId xmlns:a16="http://schemas.microsoft.com/office/drawing/2014/main" id="{83570A63-D893-4BFB-A956-3880F539FCE7}"/>
                  </a:ext>
                </a:extLst>
              </p:cNvPr>
              <p:cNvGrpSpPr/>
              <p:nvPr/>
            </p:nvGrpSpPr>
            <p:grpSpPr>
              <a:xfrm>
                <a:off x="1931365" y="3992591"/>
                <a:ext cx="528489" cy="376022"/>
                <a:chOff x="2945453" y="2246911"/>
                <a:chExt cx="5437284" cy="3868656"/>
              </a:xfrm>
            </p:grpSpPr>
            <p:cxnSp>
              <p:nvCxnSpPr>
                <p:cNvPr id="12" name="直接连接符 18">
                  <a:extLst>
                    <a:ext uri="{FF2B5EF4-FFF2-40B4-BE49-F238E27FC236}">
                      <a16:creationId xmlns:a16="http://schemas.microsoft.com/office/drawing/2014/main" id="{151D164D-53A3-46D8-A9DC-FD9CD5610518}"/>
                    </a:ext>
                  </a:extLst>
                </p:cNvPr>
                <p:cNvCxnSpPr>
                  <a:cxnSpLocks/>
                </p:cNvCxnSpPr>
                <p:nvPr/>
              </p:nvCxnSpPr>
              <p:spPr>
                <a:xfrm flipH="1">
                  <a:off x="3802741" y="2246911"/>
                  <a:ext cx="0" cy="3868656"/>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cxnSp>
              <p:nvCxnSpPr>
                <p:cNvPr id="13" name="直接连接符 19">
                  <a:extLst>
                    <a:ext uri="{FF2B5EF4-FFF2-40B4-BE49-F238E27FC236}">
                      <a16:creationId xmlns:a16="http://schemas.microsoft.com/office/drawing/2014/main" id="{84BF3380-7054-41BE-8017-072412E7B540}"/>
                    </a:ext>
                  </a:extLst>
                </p:cNvPr>
                <p:cNvCxnSpPr>
                  <a:cxnSpLocks/>
                </p:cNvCxnSpPr>
                <p:nvPr/>
              </p:nvCxnSpPr>
              <p:spPr>
                <a:xfrm flipV="1">
                  <a:off x="2945453" y="5227012"/>
                  <a:ext cx="5437284" cy="0"/>
                </a:xfrm>
                <a:prstGeom prst="line">
                  <a:avLst/>
                </a:prstGeom>
                <a:ln w="28575">
                  <a:solidFill>
                    <a:srgbClr val="78875C"/>
                  </a:solidFill>
                </a:ln>
              </p:spPr>
              <p:style>
                <a:lnRef idx="1">
                  <a:schemeClr val="accent1"/>
                </a:lnRef>
                <a:fillRef idx="0">
                  <a:schemeClr val="accent1"/>
                </a:fillRef>
                <a:effectRef idx="0">
                  <a:schemeClr val="accent1"/>
                </a:effectRef>
                <a:fontRef idx="minor">
                  <a:schemeClr val="tx1"/>
                </a:fontRef>
              </p:style>
            </p:cxnSp>
          </p:grpSp>
        </p:grpSp>
      </p:grpSp>
      <p:sp>
        <p:nvSpPr>
          <p:cNvPr id="21" name="矩形 27">
            <a:extLst>
              <a:ext uri="{FF2B5EF4-FFF2-40B4-BE49-F238E27FC236}">
                <a16:creationId xmlns:a16="http://schemas.microsoft.com/office/drawing/2014/main" id="{A4DB73FC-3D72-48FB-9859-A25EA2BB2A2A}"/>
              </a:ext>
            </a:extLst>
          </p:cNvPr>
          <p:cNvSpPr/>
          <p:nvPr/>
        </p:nvSpPr>
        <p:spPr>
          <a:xfrm>
            <a:off x="3202602" y="2473503"/>
            <a:ext cx="5556653" cy="923330"/>
          </a:xfrm>
          <a:prstGeom prst="rect">
            <a:avLst/>
          </a:prstGeom>
        </p:spPr>
        <p:txBody>
          <a:bodyPr wrap="square" lIns="0" tIns="0" rIns="0" bIns="0">
            <a:spAutoFit/>
          </a:bodyPr>
          <a:lstStyle/>
          <a:p>
            <a:pPr algn="ctr">
              <a:defRPr/>
            </a:pPr>
            <a:r>
              <a:rPr lang="zh-CN" altLang="en-US" sz="6000" b="1" noProof="1">
                <a:solidFill>
                  <a:srgbClr val="00B050"/>
                </a:solidFill>
                <a:latin typeface="KaiTi" panose="02010609060101010101" pitchFamily="49" charset="-122"/>
                <a:ea typeface="KaiTi" panose="02010609060101010101" pitchFamily="49" charset="-122"/>
                <a:cs typeface="Times New Roman" panose="02020603050405020304" pitchFamily="18" charset="0"/>
                <a:sym typeface="Arial" panose="020B0604020202020204" pitchFamily="34" charset="0"/>
              </a:rPr>
              <a:t>汉语知识</a:t>
            </a:r>
          </a:p>
        </p:txBody>
      </p:sp>
    </p:spTree>
    <p:extLst>
      <p:ext uri="{BB962C8B-B14F-4D97-AF65-F5344CB8AC3E}">
        <p14:creationId xmlns:p14="http://schemas.microsoft.com/office/powerpoint/2010/main" val="1538564979"/>
      </p:ext>
    </p:extLst>
  </p:cSld>
  <p:clrMapOvr>
    <a:masterClrMapping/>
  </p:clrMapOvr>
  <mc:AlternateContent xmlns:mc="http://schemas.openxmlformats.org/markup-compatibility/2006" xmlns:p14="http://schemas.microsoft.com/office/powerpoint/2010/main">
    <mc:Choice Requires="p14">
      <p:transition spd="slow" p14:dur="1500" advTm="7567">
        <p:random/>
      </p:transition>
    </mc:Choice>
    <mc:Fallback xmlns="">
      <p:transition spd="slow" advTm="7567">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Effect transition="in" filter="fade">
                                      <p:cBhvr>
                                        <p:cTn id="9" dur="750"/>
                                        <p:tgtEl>
                                          <p:spTgt spid="6"/>
                                        </p:tgtEl>
                                      </p:cBhvr>
                                    </p:animEffect>
                                  </p:childTnLst>
                                </p:cTn>
                              </p:par>
                            </p:childTnLst>
                          </p:cTn>
                        </p:par>
                        <p:par>
                          <p:cTn id="10" fill="hold">
                            <p:stCondLst>
                              <p:cond delay="750"/>
                            </p:stCondLst>
                            <p:childTnLst>
                              <p:par>
                                <p:cTn id="11" presetID="23" presetClass="entr" presetSubtype="32"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strVal val="4*#ppt_w"/>
                                          </p:val>
                                        </p:tav>
                                        <p:tav tm="100000">
                                          <p:val>
                                            <p:strVal val="#ppt_w"/>
                                          </p:val>
                                        </p:tav>
                                      </p:tavLst>
                                    </p:anim>
                                    <p:anim calcmode="lin" valueType="num">
                                      <p:cBhvr>
                                        <p:cTn id="14" dur="500" fill="hold"/>
                                        <p:tgtEl>
                                          <p:spTgt spid="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p:cNvGraphicFramePr>
            <a:graphicFrameLocks noGrp="1"/>
          </p:cNvGraphicFramePr>
          <p:nvPr>
            <p:extLst>
              <p:ext uri="{D42A27DB-BD31-4B8C-83A1-F6EECF244321}">
                <p14:modId xmlns:p14="http://schemas.microsoft.com/office/powerpoint/2010/main" val="2513801683"/>
              </p:ext>
            </p:extLst>
          </p:nvPr>
        </p:nvGraphicFramePr>
        <p:xfrm>
          <a:off x="855213" y="1975657"/>
          <a:ext cx="7635643" cy="3399138"/>
        </p:xfrm>
        <a:graphic>
          <a:graphicData uri="http://schemas.openxmlformats.org/drawingml/2006/table">
            <a:tbl>
              <a:tblPr firstRow="1" bandRow="1">
                <a:tableStyleId>{5940675A-B579-460E-94D1-54222C63F5DA}</a:tableStyleId>
              </a:tblPr>
              <a:tblGrid>
                <a:gridCol w="2454044">
                  <a:extLst>
                    <a:ext uri="{9D8B030D-6E8A-4147-A177-3AD203B41FA5}">
                      <a16:colId xmlns:a16="http://schemas.microsoft.com/office/drawing/2014/main" val="776732330"/>
                    </a:ext>
                  </a:extLst>
                </a:gridCol>
                <a:gridCol w="3145427">
                  <a:extLst>
                    <a:ext uri="{9D8B030D-6E8A-4147-A177-3AD203B41FA5}">
                      <a16:colId xmlns:a16="http://schemas.microsoft.com/office/drawing/2014/main" val="1581289533"/>
                    </a:ext>
                  </a:extLst>
                </a:gridCol>
                <a:gridCol w="2036172">
                  <a:extLst>
                    <a:ext uri="{9D8B030D-6E8A-4147-A177-3AD203B41FA5}">
                      <a16:colId xmlns:a16="http://schemas.microsoft.com/office/drawing/2014/main" val="3295489423"/>
                    </a:ext>
                  </a:extLst>
                </a:gridCol>
              </a:tblGrid>
              <a:tr h="548426">
                <a:tc>
                  <a:txBody>
                    <a:bodyPr/>
                    <a:lstStyle/>
                    <a:p>
                      <a:pPr algn="ctr"/>
                      <a:r>
                        <a:rPr lang="en-US" sz="3000" b="1" dirty="0" err="1">
                          <a:latin typeface="Times New Roman" panose="02020603050405020304" pitchFamily="18" charset="0"/>
                          <a:cs typeface="Times New Roman" panose="02020603050405020304" pitchFamily="18" charset="0"/>
                        </a:rPr>
                        <a:t>Hình</a:t>
                      </a:r>
                      <a:r>
                        <a:rPr lang="en-US" sz="3000" b="1" baseline="0" dirty="0">
                          <a:latin typeface="Times New Roman" panose="02020603050405020304" pitchFamily="18" charset="0"/>
                          <a:cs typeface="Times New Roman" panose="02020603050405020304" pitchFamily="18" charset="0"/>
                        </a:rPr>
                        <a:t> </a:t>
                      </a:r>
                      <a:r>
                        <a:rPr lang="en-US" sz="3000" b="1" baseline="0" dirty="0" err="1">
                          <a:latin typeface="Times New Roman" panose="02020603050405020304" pitchFamily="18" charset="0"/>
                          <a:cs typeface="Times New Roman" panose="02020603050405020304" pitchFamily="18" charset="0"/>
                        </a:rPr>
                        <a:t>dạng</a:t>
                      </a:r>
                      <a:endParaRPr lang="en-US" sz="3000" b="1"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en-US" sz="3000" b="1" dirty="0" err="1">
                          <a:latin typeface="Times New Roman" panose="02020603050405020304" pitchFamily="18" charset="0"/>
                          <a:cs typeface="Times New Roman" panose="02020603050405020304" pitchFamily="18" charset="0"/>
                        </a:rPr>
                        <a:t>Tên</a:t>
                      </a:r>
                      <a:r>
                        <a:rPr lang="en-US" sz="3000" b="1" baseline="0" dirty="0">
                          <a:latin typeface="Times New Roman" panose="02020603050405020304" pitchFamily="18" charset="0"/>
                          <a:cs typeface="Times New Roman" panose="02020603050405020304" pitchFamily="18" charset="0"/>
                        </a:rPr>
                        <a:t> </a:t>
                      </a:r>
                      <a:r>
                        <a:rPr lang="en-US" sz="3000" b="1" baseline="0" dirty="0" err="1">
                          <a:latin typeface="Times New Roman" panose="02020603050405020304" pitchFamily="18" charset="0"/>
                          <a:cs typeface="Times New Roman" panose="02020603050405020304" pitchFamily="18" charset="0"/>
                        </a:rPr>
                        <a:t>gọi</a:t>
                      </a:r>
                      <a:r>
                        <a:rPr lang="en-US" sz="3000" b="1" dirty="0">
                          <a:latin typeface="Times New Roman" panose="02020603050405020304" pitchFamily="18" charset="0"/>
                          <a:cs typeface="Times New Roman" panose="02020603050405020304" pitchFamily="18" charset="0"/>
                        </a:rPr>
                        <a:t> </a:t>
                      </a:r>
                    </a:p>
                  </a:txBody>
                  <a:tcPr marL="91404" marR="91404" marT="45702" marB="45702" anchor="ctr"/>
                </a:tc>
                <a:tc>
                  <a:txBody>
                    <a:bodyPr/>
                    <a:lstStyle/>
                    <a:p>
                      <a:pPr algn="ctr"/>
                      <a:r>
                        <a:rPr lang="en-US" altLang="zh-CN" sz="3000" b="1" dirty="0" err="1">
                          <a:latin typeface="Times New Roman" panose="02020603050405020304" pitchFamily="18" charset="0"/>
                          <a:cs typeface="Times New Roman" panose="02020603050405020304" pitchFamily="18" charset="0"/>
                        </a:rPr>
                        <a:t>Chữ</a:t>
                      </a:r>
                      <a:r>
                        <a:rPr lang="en-US" altLang="zh-CN" sz="3000" b="1" dirty="0">
                          <a:latin typeface="Times New Roman" panose="02020603050405020304" pitchFamily="18" charset="0"/>
                          <a:cs typeface="Times New Roman" panose="02020603050405020304" pitchFamily="18" charset="0"/>
                        </a:rPr>
                        <a:t> </a:t>
                      </a:r>
                      <a:r>
                        <a:rPr lang="en-US" altLang="zh-CN" sz="3000" b="1" dirty="0" err="1">
                          <a:latin typeface="Times New Roman" panose="02020603050405020304" pitchFamily="18" charset="0"/>
                          <a:cs typeface="Times New Roman" panose="02020603050405020304" pitchFamily="18" charset="0"/>
                        </a:rPr>
                        <a:t>ví</a:t>
                      </a:r>
                      <a:r>
                        <a:rPr lang="en-US" altLang="zh-CN" sz="3000" b="1" baseline="0" dirty="0">
                          <a:latin typeface="Times New Roman" panose="02020603050405020304" pitchFamily="18" charset="0"/>
                          <a:cs typeface="Times New Roman" panose="02020603050405020304" pitchFamily="18" charset="0"/>
                        </a:rPr>
                        <a:t> </a:t>
                      </a:r>
                      <a:r>
                        <a:rPr lang="en-US" altLang="zh-CN" sz="3000" b="1" baseline="0" dirty="0" err="1">
                          <a:latin typeface="Times New Roman" panose="02020603050405020304" pitchFamily="18" charset="0"/>
                          <a:cs typeface="Times New Roman" panose="02020603050405020304" pitchFamily="18" charset="0"/>
                        </a:rPr>
                        <a:t>dụ</a:t>
                      </a:r>
                      <a:r>
                        <a:rPr lang="en-US" altLang="zh-CN" sz="3000" b="1" baseline="0" dirty="0">
                          <a:latin typeface="Times New Roman" panose="02020603050405020304" pitchFamily="18" charset="0"/>
                          <a:cs typeface="Times New Roman" panose="02020603050405020304" pitchFamily="18" charset="0"/>
                        </a:rPr>
                        <a:t> </a:t>
                      </a:r>
                      <a:endParaRPr lang="en-US" sz="3000" b="1" dirty="0">
                        <a:latin typeface="Times New Roman" panose="02020603050405020304" pitchFamily="18" charset="0"/>
                        <a:cs typeface="Times New Roman" panose="02020603050405020304" pitchFamily="18" charset="0"/>
                      </a:endParaRPr>
                    </a:p>
                  </a:txBody>
                  <a:tcPr marL="91404" marR="91404" marT="45702" marB="45702" anchor="ctr"/>
                </a:tc>
                <a:extLst>
                  <a:ext uri="{0D108BD9-81ED-4DB2-BD59-A6C34878D82A}">
                    <a16:rowId xmlns:a16="http://schemas.microsoft.com/office/drawing/2014/main" val="2825668343"/>
                  </a:ext>
                </a:extLst>
              </a:tr>
              <a:tr h="1425267">
                <a:tc>
                  <a:txBody>
                    <a:bodyPr/>
                    <a:lstStyle/>
                    <a:p>
                      <a:pPr algn="ctr"/>
                      <a:r>
                        <a:rPr lang="zh-CN" altLang="en-US" sz="3000">
                          <a:latin typeface="Times New Roman" panose="02020603050405020304" pitchFamily="18" charset="0"/>
                          <a:cs typeface="Times New Roman" panose="02020603050405020304" pitchFamily="18" charset="0"/>
                        </a:rPr>
                        <a:t>日</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en-US" sz="3000">
                          <a:latin typeface="Times New Roman" panose="02020603050405020304" pitchFamily="18" charset="0"/>
                          <a:cs typeface="Times New Roman" panose="02020603050405020304" pitchFamily="18" charset="0"/>
                        </a:rPr>
                        <a:t>Bộ</a:t>
                      </a:r>
                      <a:r>
                        <a:rPr lang="en-US" sz="3000" baseline="0">
                          <a:latin typeface="Times New Roman" panose="02020603050405020304" pitchFamily="18" charset="0"/>
                          <a:cs typeface="Times New Roman" panose="02020603050405020304" pitchFamily="18" charset="0"/>
                        </a:rPr>
                        <a:t>  Nhật</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zh-CN" altLang="en-US" sz="3000">
                          <a:latin typeface="Times New Roman" panose="02020603050405020304" pitchFamily="18" charset="0"/>
                          <a:cs typeface="Times New Roman" panose="02020603050405020304" pitchFamily="18" charset="0"/>
                        </a:rPr>
                        <a:t>时</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extLst>
                  <a:ext uri="{0D108BD9-81ED-4DB2-BD59-A6C34878D82A}">
                    <a16:rowId xmlns:a16="http://schemas.microsoft.com/office/drawing/2014/main" val="676076383"/>
                  </a:ext>
                </a:extLst>
              </a:tr>
              <a:tr h="1425267">
                <a:tc>
                  <a:txBody>
                    <a:bodyPr/>
                    <a:lstStyle/>
                    <a:p>
                      <a:pPr algn="ctr"/>
                      <a:r>
                        <a:rPr lang="zh-CN" altLang="en-US" sz="3000">
                          <a:latin typeface="Times New Roman" panose="02020603050405020304" pitchFamily="18" charset="0"/>
                          <a:cs typeface="Times New Roman" panose="02020603050405020304" pitchFamily="18" charset="0"/>
                        </a:rPr>
                        <a:t>氵</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en-US" sz="3000" baseline="0">
                          <a:latin typeface="Times New Roman" panose="02020603050405020304" pitchFamily="18" charset="0"/>
                          <a:cs typeface="Times New Roman" panose="02020603050405020304" pitchFamily="18" charset="0"/>
                        </a:rPr>
                        <a:t>Bộ Thủy</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zh-CN" altLang="en-US" sz="3000">
                          <a:latin typeface="Times New Roman" panose="02020603050405020304" pitchFamily="18" charset="0"/>
                          <a:cs typeface="Times New Roman" panose="02020603050405020304" pitchFamily="18" charset="0"/>
                        </a:rPr>
                        <a:t>汉</a:t>
                      </a:r>
                      <a:endParaRPr lang="en-US" sz="3000" dirty="0">
                        <a:latin typeface="Times New Roman" panose="02020603050405020304" pitchFamily="18" charset="0"/>
                        <a:cs typeface="Times New Roman" panose="02020603050405020304" pitchFamily="18" charset="0"/>
                      </a:endParaRPr>
                    </a:p>
                  </a:txBody>
                  <a:tcPr marL="91404" marR="91404" marT="45702" marB="45702" anchor="ctr"/>
                </a:tc>
                <a:extLst>
                  <a:ext uri="{0D108BD9-81ED-4DB2-BD59-A6C34878D82A}">
                    <a16:rowId xmlns:a16="http://schemas.microsoft.com/office/drawing/2014/main" val="1411738949"/>
                  </a:ext>
                </a:extLst>
              </a:tr>
            </a:tbl>
          </a:graphicData>
        </a:graphic>
      </p:graphicFrame>
      <p:graphicFrame>
        <p:nvGraphicFramePr>
          <p:cNvPr id="2" name="Table 1"/>
          <p:cNvGraphicFramePr>
            <a:graphicFrameLocks noGrp="1"/>
          </p:cNvGraphicFramePr>
          <p:nvPr/>
        </p:nvGraphicFramePr>
        <p:xfrm>
          <a:off x="711201" y="566057"/>
          <a:ext cx="2757714" cy="537029"/>
        </p:xfrm>
        <a:graphic>
          <a:graphicData uri="http://schemas.openxmlformats.org/drawingml/2006/table">
            <a:tbl>
              <a:tblPr>
                <a:tableStyleId>{2D5ABB26-0587-4C30-8999-92F81FD0307C}</a:tableStyleId>
              </a:tblPr>
              <a:tblGrid>
                <a:gridCol w="2757714">
                  <a:extLst>
                    <a:ext uri="{9D8B030D-6E8A-4147-A177-3AD203B41FA5}">
                      <a16:colId xmlns:a16="http://schemas.microsoft.com/office/drawing/2014/main" val="1520595069"/>
                    </a:ext>
                  </a:extLst>
                </a:gridCol>
              </a:tblGrid>
              <a:tr h="537029">
                <a:tc>
                  <a:txBody>
                    <a:bodyPr/>
                    <a:lstStyle/>
                    <a:p>
                      <a:pPr algn="ctr"/>
                      <a:r>
                        <a:rPr lang="en-US" sz="2400" b="1" i="1">
                          <a:solidFill>
                            <a:srgbClr val="FF0000"/>
                          </a:solidFill>
                          <a:latin typeface="Times New Roman" panose="02020603050405020304" pitchFamily="18" charset="0"/>
                          <a:cs typeface="Times New Roman" panose="02020603050405020304" pitchFamily="18" charset="0"/>
                        </a:rPr>
                        <a:t>1.Bộ</a:t>
                      </a:r>
                      <a:r>
                        <a:rPr lang="en-US" sz="2400" b="1" i="1" baseline="0">
                          <a:solidFill>
                            <a:srgbClr val="FF0000"/>
                          </a:solidFill>
                          <a:latin typeface="Times New Roman" panose="02020603050405020304" pitchFamily="18" charset="0"/>
                          <a:cs typeface="Times New Roman" panose="02020603050405020304" pitchFamily="18" charset="0"/>
                        </a:rPr>
                        <a:t>  thủ chữ Hán</a:t>
                      </a:r>
                      <a:endParaRPr lang="en-US" sz="2400" b="1" i="1">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66094726"/>
                  </a:ext>
                </a:extLst>
              </a:tr>
            </a:tbl>
          </a:graphicData>
        </a:graphic>
      </p:graphicFrame>
    </p:spTree>
    <p:extLst>
      <p:ext uri="{BB962C8B-B14F-4D97-AF65-F5344CB8AC3E}">
        <p14:creationId xmlns:p14="http://schemas.microsoft.com/office/powerpoint/2010/main" val="3099167232"/>
      </p:ext>
    </p:extLst>
  </p:cSld>
  <p:clrMapOvr>
    <a:masterClrMapping/>
  </p:clrMapOvr>
  <mc:AlternateContent xmlns:mc="http://schemas.openxmlformats.org/markup-compatibility/2006" xmlns:p14="http://schemas.microsoft.com/office/powerpoint/2010/main">
    <mc:Choice Requires="p14">
      <p:transition spd="slow" p14:dur="1500" advTm="7567">
        <p:random/>
      </p:transition>
    </mc:Choice>
    <mc:Fallback xmlns="">
      <p:transition spd="slow" advTm="7567">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p:cNvGraphicFramePr>
            <a:graphicFrameLocks noGrp="1"/>
          </p:cNvGraphicFramePr>
          <p:nvPr>
            <p:extLst>
              <p:ext uri="{D42A27DB-BD31-4B8C-83A1-F6EECF244321}">
                <p14:modId xmlns:p14="http://schemas.microsoft.com/office/powerpoint/2010/main" val="1803536583"/>
              </p:ext>
            </p:extLst>
          </p:nvPr>
        </p:nvGraphicFramePr>
        <p:xfrm>
          <a:off x="687120" y="1070296"/>
          <a:ext cx="10546937" cy="5446619"/>
        </p:xfrm>
        <a:graphic>
          <a:graphicData uri="http://schemas.openxmlformats.org/drawingml/2006/table">
            <a:tbl>
              <a:tblPr firstRow="1" bandRow="1">
                <a:tableStyleId>{5940675A-B579-460E-94D1-54222C63F5DA}</a:tableStyleId>
              </a:tblPr>
              <a:tblGrid>
                <a:gridCol w="2406916">
                  <a:extLst>
                    <a:ext uri="{9D8B030D-6E8A-4147-A177-3AD203B41FA5}">
                      <a16:colId xmlns:a16="http://schemas.microsoft.com/office/drawing/2014/main" val="1581289533"/>
                    </a:ext>
                  </a:extLst>
                </a:gridCol>
                <a:gridCol w="3355844">
                  <a:extLst>
                    <a:ext uri="{9D8B030D-6E8A-4147-A177-3AD203B41FA5}">
                      <a16:colId xmlns:a16="http://schemas.microsoft.com/office/drawing/2014/main" val="1779371238"/>
                    </a:ext>
                  </a:extLst>
                </a:gridCol>
                <a:gridCol w="2387147">
                  <a:extLst>
                    <a:ext uri="{9D8B030D-6E8A-4147-A177-3AD203B41FA5}">
                      <a16:colId xmlns:a16="http://schemas.microsoft.com/office/drawing/2014/main" val="439235033"/>
                    </a:ext>
                  </a:extLst>
                </a:gridCol>
                <a:gridCol w="2397030">
                  <a:extLst>
                    <a:ext uri="{9D8B030D-6E8A-4147-A177-3AD203B41FA5}">
                      <a16:colId xmlns:a16="http://schemas.microsoft.com/office/drawing/2014/main" val="3295489423"/>
                    </a:ext>
                  </a:extLst>
                </a:gridCol>
              </a:tblGrid>
              <a:tr h="857579">
                <a:tc>
                  <a:txBody>
                    <a:bodyPr/>
                    <a:lstStyle/>
                    <a:p>
                      <a:pPr algn="ctr"/>
                      <a:r>
                        <a:rPr lang="en-US" sz="2800" b="1" kern="1200">
                          <a:solidFill>
                            <a:schemeClr val="tx1"/>
                          </a:solidFill>
                          <a:latin typeface="Times New Roman" panose="02020603050405020304" pitchFamily="18" charset="0"/>
                          <a:ea typeface="+mn-ea"/>
                          <a:cs typeface="Times New Roman" panose="02020603050405020304" pitchFamily="18" charset="0"/>
                        </a:rPr>
                        <a:t>Bộ thủ</a:t>
                      </a:r>
                    </a:p>
                  </a:txBody>
                  <a:tcPr marL="91404" marR="91404" marT="45702" marB="4570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1">
                          <a:latin typeface="Times New Roman" panose="02020603050405020304" pitchFamily="18" charset="0"/>
                          <a:cs typeface="Times New Roman" panose="02020603050405020304" pitchFamily="18" charset="0"/>
                        </a:rPr>
                        <a:t>Thành</a:t>
                      </a:r>
                      <a:r>
                        <a:rPr lang="en-US" sz="2800" b="1" baseline="0">
                          <a:latin typeface="Times New Roman" panose="02020603050405020304" pitchFamily="18" charset="0"/>
                          <a:cs typeface="Times New Roman" panose="02020603050405020304" pitchFamily="18" charset="0"/>
                        </a:rPr>
                        <a:t> phần </a:t>
                      </a:r>
                      <a:r>
                        <a:rPr lang="en-US" sz="2800" b="1">
                          <a:latin typeface="Times New Roman" panose="02020603050405020304" pitchFamily="18" charset="0"/>
                          <a:cs typeface="Times New Roman" panose="02020603050405020304" pitchFamily="18" charset="0"/>
                        </a:rPr>
                        <a:t>kết</a:t>
                      </a:r>
                      <a:r>
                        <a:rPr lang="en-US" sz="2800" b="1" baseline="0">
                          <a:latin typeface="Times New Roman" panose="02020603050405020304" pitchFamily="18" charset="0"/>
                          <a:cs typeface="Times New Roman" panose="02020603050405020304" pitchFamily="18" charset="0"/>
                        </a:rPr>
                        <a:t> cấu</a:t>
                      </a:r>
                      <a:endParaRPr lang="en-US" sz="2800" b="1">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en-US" sz="2800" b="1" baseline="0">
                          <a:latin typeface="Times New Roman" panose="02020603050405020304" pitchFamily="18" charset="0"/>
                          <a:cs typeface="Times New Roman" panose="02020603050405020304" pitchFamily="18" charset="0"/>
                        </a:rPr>
                        <a:t>Ví dụ</a:t>
                      </a:r>
                      <a:endParaRPr lang="en-US" sz="2800" b="1"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pPr algn="ctr"/>
                      <a:r>
                        <a:rPr lang="en-US" altLang="zh-CN" sz="2800" b="1" dirty="0" err="1">
                          <a:latin typeface="Times New Roman" panose="02020603050405020304" pitchFamily="18" charset="0"/>
                          <a:cs typeface="Times New Roman" panose="02020603050405020304" pitchFamily="18" charset="0"/>
                        </a:rPr>
                        <a:t>Sơ</a:t>
                      </a:r>
                      <a:r>
                        <a:rPr lang="en-US" altLang="zh-CN" sz="2800" b="1" baseline="0" dirty="0">
                          <a:latin typeface="Times New Roman" panose="02020603050405020304" pitchFamily="18" charset="0"/>
                          <a:cs typeface="Times New Roman" panose="02020603050405020304" pitchFamily="18" charset="0"/>
                        </a:rPr>
                        <a:t> </a:t>
                      </a:r>
                      <a:r>
                        <a:rPr lang="en-US" altLang="zh-CN" sz="2800" b="1" baseline="0" dirty="0" err="1">
                          <a:latin typeface="Times New Roman" panose="02020603050405020304" pitchFamily="18" charset="0"/>
                          <a:cs typeface="Times New Roman" panose="02020603050405020304" pitchFamily="18" charset="0"/>
                        </a:rPr>
                        <a:t>đồ</a:t>
                      </a:r>
                      <a:r>
                        <a:rPr lang="en-US" altLang="zh-CN" sz="2800" b="1" baseline="0" dirty="0">
                          <a:latin typeface="Times New Roman" panose="02020603050405020304" pitchFamily="18" charset="0"/>
                          <a:cs typeface="Times New Roman" panose="02020603050405020304" pitchFamily="18" charset="0"/>
                        </a:rPr>
                        <a:t> </a:t>
                      </a:r>
                      <a:r>
                        <a:rPr lang="en-US" altLang="zh-CN" sz="2800" b="1" baseline="0" dirty="0" err="1">
                          <a:latin typeface="Times New Roman" panose="02020603050405020304" pitchFamily="18" charset="0"/>
                          <a:cs typeface="Times New Roman" panose="02020603050405020304" pitchFamily="18" charset="0"/>
                        </a:rPr>
                        <a:t>kết</a:t>
                      </a:r>
                      <a:r>
                        <a:rPr lang="en-US" altLang="zh-CN" sz="2800" b="1" baseline="0" dirty="0">
                          <a:latin typeface="Times New Roman" panose="02020603050405020304" pitchFamily="18" charset="0"/>
                          <a:cs typeface="Times New Roman" panose="02020603050405020304" pitchFamily="18" charset="0"/>
                        </a:rPr>
                        <a:t> </a:t>
                      </a:r>
                      <a:r>
                        <a:rPr lang="en-US" altLang="zh-CN" sz="2800" b="1" baseline="0" dirty="0" err="1">
                          <a:latin typeface="Times New Roman" panose="02020603050405020304" pitchFamily="18" charset="0"/>
                          <a:cs typeface="Times New Roman" panose="02020603050405020304" pitchFamily="18" charset="0"/>
                        </a:rPr>
                        <a:t>cấu</a:t>
                      </a:r>
                      <a:endParaRPr lang="en-US" sz="2800" b="1" dirty="0">
                        <a:latin typeface="Times New Roman" panose="02020603050405020304" pitchFamily="18" charset="0"/>
                        <a:cs typeface="Times New Roman" panose="02020603050405020304" pitchFamily="18" charset="0"/>
                      </a:endParaRPr>
                    </a:p>
                  </a:txBody>
                  <a:tcPr marL="91404" marR="91404" marT="45702" marB="45702" anchor="ctr"/>
                </a:tc>
                <a:extLst>
                  <a:ext uri="{0D108BD9-81ED-4DB2-BD59-A6C34878D82A}">
                    <a16:rowId xmlns:a16="http://schemas.microsoft.com/office/drawing/2014/main" val="2825668343"/>
                  </a:ext>
                </a:extLst>
              </a:tr>
              <a:tr h="2294520">
                <a:tc>
                  <a:txBody>
                    <a:bodyPr/>
                    <a:lstStyle/>
                    <a:p>
                      <a:pPr algn="ctr"/>
                      <a:r>
                        <a:rPr lang="zh-CN" altLang="en-US" sz="2600"/>
                        <a:t>日</a:t>
                      </a:r>
                      <a:endParaRPr lang="en-US" sz="2600"/>
                    </a:p>
                  </a:txBody>
                  <a:tcPr marL="91404" marR="91404" marT="45702" marB="45702" anchor="ctr"/>
                </a:tc>
                <a:tc>
                  <a:txBody>
                    <a:bodyPr/>
                    <a:lstStyle/>
                    <a:p>
                      <a:pPr algn="ctr"/>
                      <a:endParaRPr lang="en-US" sz="2600"/>
                    </a:p>
                  </a:txBody>
                  <a:tcPr marL="91404" marR="91404" marT="45702" marB="45702" anchor="ctr"/>
                </a:tc>
                <a:tc>
                  <a:txBody>
                    <a:bodyPr/>
                    <a:lstStyle/>
                    <a:p>
                      <a:pPr algn="ctr"/>
                      <a:endParaRPr lang="en-US" sz="26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endParaRPr lang="en-US" sz="2600"/>
                    </a:p>
                  </a:txBody>
                  <a:tcPr marL="91404" marR="91404" marT="45702" marB="45702" anchor="ctr"/>
                </a:tc>
                <a:extLst>
                  <a:ext uri="{0D108BD9-81ED-4DB2-BD59-A6C34878D82A}">
                    <a16:rowId xmlns:a16="http://schemas.microsoft.com/office/drawing/2014/main" val="676076383"/>
                  </a:ext>
                </a:extLst>
              </a:tr>
              <a:tr h="2294520">
                <a:tc>
                  <a:txBody>
                    <a:bodyPr/>
                    <a:lstStyle/>
                    <a:p>
                      <a:pPr marL="0" algn="ctr" defTabSz="914400" rtl="0" eaLnBrk="1" latinLnBrk="0" hangingPunct="1"/>
                      <a:r>
                        <a:rPr lang="zh-CN" altLang="en-US" sz="2600" kern="1200">
                          <a:solidFill>
                            <a:schemeClr val="tx1"/>
                          </a:solidFill>
                          <a:latin typeface="+mn-lt"/>
                          <a:ea typeface="+mn-ea"/>
                          <a:cs typeface="+mn-cs"/>
                        </a:rPr>
                        <a:t>氵</a:t>
                      </a:r>
                      <a:endParaRPr lang="en-US" sz="2600" kern="1200">
                        <a:solidFill>
                          <a:schemeClr val="tx1"/>
                        </a:solidFill>
                        <a:latin typeface="+mn-lt"/>
                        <a:ea typeface="+mn-ea"/>
                        <a:cs typeface="+mn-cs"/>
                      </a:endParaRPr>
                    </a:p>
                  </a:txBody>
                  <a:tcPr marL="91404" marR="91404" marT="45702" marB="45702" anchor="ctr"/>
                </a:tc>
                <a:tc>
                  <a:txBody>
                    <a:bodyPr/>
                    <a:lstStyle/>
                    <a:p>
                      <a:endParaRPr lang="en-US"/>
                    </a:p>
                  </a:txBody>
                  <a:tcPr marL="91404" marR="91404" marT="45702" marB="45702" anchor="ctr"/>
                </a:tc>
                <a:tc>
                  <a:txBody>
                    <a:bodyPr/>
                    <a:lstStyle/>
                    <a:p>
                      <a:pPr algn="ctr"/>
                      <a:endParaRPr lang="en-US" sz="2600" dirty="0">
                        <a:latin typeface="Times New Roman" panose="02020603050405020304" pitchFamily="18" charset="0"/>
                        <a:cs typeface="Times New Roman" panose="02020603050405020304" pitchFamily="18" charset="0"/>
                      </a:endParaRPr>
                    </a:p>
                  </a:txBody>
                  <a:tcPr marL="91404" marR="91404" marT="45702" marB="45702" anchor="ctr"/>
                </a:tc>
                <a:tc>
                  <a:txBody>
                    <a:bodyPr/>
                    <a:lstStyle/>
                    <a:p>
                      <a:endParaRPr lang="en-US" sz="2600"/>
                    </a:p>
                  </a:txBody>
                  <a:tcPr marL="91404" marR="91404" marT="45702" marB="45702" anchor="ctr"/>
                </a:tc>
                <a:extLst>
                  <a:ext uri="{0D108BD9-81ED-4DB2-BD59-A6C34878D82A}">
                    <a16:rowId xmlns:a16="http://schemas.microsoft.com/office/drawing/2014/main" val="1411738949"/>
                  </a:ext>
                </a:extLst>
              </a:tr>
            </a:tbl>
          </a:graphicData>
        </a:graphic>
      </p:graphicFrame>
      <p:pic>
        <p:nvPicPr>
          <p:cNvPr id="6" name="Picture 5"/>
          <p:cNvPicPr>
            <a:picLocks noChangeAspect="1"/>
          </p:cNvPicPr>
          <p:nvPr/>
        </p:nvPicPr>
        <p:blipFill>
          <a:blip r:embed="rId3"/>
          <a:stretch>
            <a:fillRect/>
          </a:stretch>
        </p:blipFill>
        <p:spPr>
          <a:xfrm>
            <a:off x="9380397" y="2137190"/>
            <a:ext cx="1557936" cy="1886674"/>
          </a:xfrm>
          <a:prstGeom prst="rect">
            <a:avLst/>
          </a:prstGeom>
        </p:spPr>
      </p:pic>
      <p:pic>
        <p:nvPicPr>
          <p:cNvPr id="8" name="Picture 7"/>
          <p:cNvPicPr>
            <a:picLocks noChangeAspect="1"/>
          </p:cNvPicPr>
          <p:nvPr/>
        </p:nvPicPr>
        <p:blipFill>
          <a:blip r:embed="rId4"/>
          <a:stretch>
            <a:fillRect/>
          </a:stretch>
        </p:blipFill>
        <p:spPr>
          <a:xfrm>
            <a:off x="3486101" y="4359457"/>
            <a:ext cx="2013837" cy="1784244"/>
          </a:xfrm>
          <a:prstGeom prst="rect">
            <a:avLst/>
          </a:prstGeom>
        </p:spPr>
      </p:pic>
      <p:pic>
        <p:nvPicPr>
          <p:cNvPr id="9" name="Picture 8"/>
          <p:cNvPicPr>
            <a:picLocks noChangeAspect="1"/>
          </p:cNvPicPr>
          <p:nvPr/>
        </p:nvPicPr>
        <p:blipFill>
          <a:blip r:embed="rId5"/>
          <a:stretch>
            <a:fillRect/>
          </a:stretch>
        </p:blipFill>
        <p:spPr>
          <a:xfrm>
            <a:off x="6883552" y="4396363"/>
            <a:ext cx="1766799" cy="1784244"/>
          </a:xfrm>
          <a:prstGeom prst="rect">
            <a:avLst/>
          </a:prstGeom>
        </p:spPr>
      </p:pic>
      <p:pic>
        <p:nvPicPr>
          <p:cNvPr id="10" name="Picture 9"/>
          <p:cNvPicPr>
            <a:picLocks noChangeAspect="1"/>
          </p:cNvPicPr>
          <p:nvPr/>
        </p:nvPicPr>
        <p:blipFill>
          <a:blip r:embed="rId6"/>
          <a:stretch>
            <a:fillRect/>
          </a:stretch>
        </p:blipFill>
        <p:spPr>
          <a:xfrm>
            <a:off x="9403742" y="4359457"/>
            <a:ext cx="1577968" cy="1858056"/>
          </a:xfrm>
          <a:prstGeom prst="rect">
            <a:avLst/>
          </a:prstGeom>
        </p:spPr>
      </p:pic>
      <p:graphicFrame>
        <p:nvGraphicFramePr>
          <p:cNvPr id="21" name="Table 20"/>
          <p:cNvGraphicFramePr>
            <a:graphicFrameLocks noGrp="1"/>
          </p:cNvGraphicFramePr>
          <p:nvPr>
            <p:extLst>
              <p:ext uri="{D42A27DB-BD31-4B8C-83A1-F6EECF244321}">
                <p14:modId xmlns:p14="http://schemas.microsoft.com/office/powerpoint/2010/main" val="3501229306"/>
              </p:ext>
            </p:extLst>
          </p:nvPr>
        </p:nvGraphicFramePr>
        <p:xfrm>
          <a:off x="711200" y="336884"/>
          <a:ext cx="3138233" cy="457200"/>
        </p:xfrm>
        <a:graphic>
          <a:graphicData uri="http://schemas.openxmlformats.org/drawingml/2006/table">
            <a:tbl>
              <a:tblPr>
                <a:tableStyleId>{2D5ABB26-0587-4C30-8999-92F81FD0307C}</a:tableStyleId>
              </a:tblPr>
              <a:tblGrid>
                <a:gridCol w="3138233">
                  <a:extLst>
                    <a:ext uri="{9D8B030D-6E8A-4147-A177-3AD203B41FA5}">
                      <a16:colId xmlns:a16="http://schemas.microsoft.com/office/drawing/2014/main" val="1520595069"/>
                    </a:ext>
                  </a:extLst>
                </a:gridCol>
              </a:tblGrid>
              <a:tr h="267954">
                <a:tc>
                  <a:txBody>
                    <a:bodyPr/>
                    <a:lstStyle/>
                    <a:p>
                      <a:pPr algn="ctr"/>
                      <a:r>
                        <a:rPr lang="en-US" sz="2400" b="1" i="1">
                          <a:solidFill>
                            <a:srgbClr val="FF0000"/>
                          </a:solidFill>
                          <a:latin typeface="Times New Roman" panose="02020603050405020304" pitchFamily="18" charset="0"/>
                          <a:cs typeface="Times New Roman" panose="02020603050405020304" pitchFamily="18" charset="0"/>
                        </a:rPr>
                        <a:t>2.Tổ</a:t>
                      </a:r>
                      <a:r>
                        <a:rPr lang="en-US" sz="2400" b="1" i="1" baseline="0">
                          <a:solidFill>
                            <a:srgbClr val="FF0000"/>
                          </a:solidFill>
                          <a:latin typeface="Times New Roman" panose="02020603050405020304" pitchFamily="18" charset="0"/>
                          <a:cs typeface="Times New Roman" panose="02020603050405020304" pitchFamily="18" charset="0"/>
                        </a:rPr>
                        <a:t> hợp chữ Hán</a:t>
                      </a:r>
                      <a:endParaRPr lang="en-US" sz="2400" b="1" i="1">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66094726"/>
                  </a:ext>
                </a:extLst>
              </a:tr>
            </a:tbl>
          </a:graphicData>
        </a:graphic>
      </p:graphicFrame>
      <p:pic>
        <p:nvPicPr>
          <p:cNvPr id="4" name="Picture 3"/>
          <p:cNvPicPr>
            <a:picLocks noChangeAspect="1"/>
          </p:cNvPicPr>
          <p:nvPr/>
        </p:nvPicPr>
        <p:blipFill>
          <a:blip r:embed="rId7"/>
          <a:stretch>
            <a:fillRect/>
          </a:stretch>
        </p:blipFill>
        <p:spPr>
          <a:xfrm>
            <a:off x="3486100" y="2127894"/>
            <a:ext cx="2013837" cy="1858349"/>
          </a:xfrm>
          <a:prstGeom prst="rect">
            <a:avLst/>
          </a:prstGeom>
        </p:spPr>
      </p:pic>
      <p:pic>
        <p:nvPicPr>
          <p:cNvPr id="11" name="Picture 10"/>
          <p:cNvPicPr>
            <a:picLocks noChangeAspect="1"/>
          </p:cNvPicPr>
          <p:nvPr/>
        </p:nvPicPr>
        <p:blipFill>
          <a:blip r:embed="rId8"/>
          <a:stretch>
            <a:fillRect/>
          </a:stretch>
        </p:blipFill>
        <p:spPr>
          <a:xfrm>
            <a:off x="6883551" y="2094909"/>
            <a:ext cx="1766799" cy="1891334"/>
          </a:xfrm>
          <a:prstGeom prst="rect">
            <a:avLst/>
          </a:prstGeom>
        </p:spPr>
      </p:pic>
    </p:spTree>
    <p:extLst>
      <p:ext uri="{BB962C8B-B14F-4D97-AF65-F5344CB8AC3E}">
        <p14:creationId xmlns:p14="http://schemas.microsoft.com/office/powerpoint/2010/main" val="144072670"/>
      </p:ext>
    </p:extLst>
  </p:cSld>
  <p:clrMapOvr>
    <a:masterClrMapping/>
  </p:clrMapOvr>
  <mc:AlternateContent xmlns:mc="http://schemas.openxmlformats.org/markup-compatibility/2006" xmlns:p14="http://schemas.microsoft.com/office/powerpoint/2010/main">
    <mc:Choice Requires="p14">
      <p:transition spd="slow" p14:dur="1500" advTm="7567">
        <p:random/>
      </p:transition>
    </mc:Choice>
    <mc:Fallback xmlns="">
      <p:transition spd="slow" advTm="7567">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7072-DEAA-9679-EE19-AEF55319380D}"/>
            </a:ext>
          </a:extLst>
        </p:cNvPr>
        <p:cNvGrpSpPr/>
        <p:nvPr/>
      </p:nvGrpSpPr>
      <p:grpSpPr>
        <a:xfrm>
          <a:off x="0" y="0"/>
          <a:ext cx="0" cy="0"/>
          <a:chOff x="0" y="0"/>
          <a:chExt cx="0" cy="0"/>
        </a:xfrm>
      </p:grpSpPr>
      <p:pic>
        <p:nvPicPr>
          <p:cNvPr id="35" name="图片 34">
            <a:extLst>
              <a:ext uri="{FF2B5EF4-FFF2-40B4-BE49-F238E27FC236}">
                <a16:creationId xmlns:a16="http://schemas.microsoft.com/office/drawing/2014/main" id="{C43DE2D6-0FD2-066D-F5EE-AD55FEF970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0" y="4278830"/>
            <a:ext cx="3886200" cy="2701290"/>
          </a:xfrm>
          <a:prstGeom prst="rect">
            <a:avLst/>
          </a:prstGeom>
          <a:effectLst>
            <a:outerShdw blurRad="50800" dist="38100" dir="2700000" algn="tl" rotWithShape="0">
              <a:prstClr val="black">
                <a:alpha val="40000"/>
              </a:prstClr>
            </a:outerShdw>
          </a:effectLst>
        </p:spPr>
      </p:pic>
      <p:sp>
        <p:nvSpPr>
          <p:cNvPr id="36" name="矩形 35">
            <a:extLst>
              <a:ext uri="{FF2B5EF4-FFF2-40B4-BE49-F238E27FC236}">
                <a16:creationId xmlns:a16="http://schemas.microsoft.com/office/drawing/2014/main" id="{B78B38BF-A7E0-E759-B087-D66A0F03854C}"/>
              </a:ext>
            </a:extLst>
          </p:cNvPr>
          <p:cNvSpPr/>
          <p:nvPr/>
        </p:nvSpPr>
        <p:spPr>
          <a:xfrm>
            <a:off x="4489687" y="2527300"/>
            <a:ext cx="7519152" cy="1862048"/>
          </a:xfrm>
          <a:prstGeom prst="rect">
            <a:avLst/>
          </a:prstGeom>
        </p:spPr>
        <p:txBody>
          <a:bodyPr wrap="square">
            <a:spAutoFit/>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1500" b="1" noProof="0">
                <a:solidFill>
                  <a:srgbClr val="FF0000"/>
                </a:solidFill>
                <a:latin typeface="义启小魏楷" panose="02010601030101010101" pitchFamily="2" charset="-122"/>
                <a:ea typeface="长城行楷体" panose="02010609000101010101" pitchFamily="49" charset="-122"/>
                <a:cs typeface="+mn-ea"/>
              </a:rPr>
              <a:t>练习</a:t>
            </a:r>
            <a:endParaRPr kumimoji="0" lang="en-US" altLang="zh-CN" sz="11500" b="1" i="0" u="none" strike="noStrike" kern="1200" cap="none" spc="0" normalizeH="0" baseline="0" noProof="0" dirty="0">
              <a:ln>
                <a:noFill/>
              </a:ln>
              <a:solidFill>
                <a:srgbClr val="FF0000"/>
              </a:solidFill>
              <a:uLnTx/>
              <a:uFillTx/>
              <a:latin typeface="义启小魏楷" panose="02010601030101010101" pitchFamily="2" charset="-122"/>
              <a:ea typeface="长城行楷体" panose="02010609000101010101" pitchFamily="49" charset="-122"/>
              <a:cs typeface="+mn-ea"/>
            </a:endParaRPr>
          </a:p>
        </p:txBody>
      </p:sp>
      <p:sp>
        <p:nvSpPr>
          <p:cNvPr id="37" name="文本框 36">
            <a:extLst>
              <a:ext uri="{FF2B5EF4-FFF2-40B4-BE49-F238E27FC236}">
                <a16:creationId xmlns:a16="http://schemas.microsoft.com/office/drawing/2014/main" id="{FC6C6603-DC1D-2A5C-2BB3-74B4DE9D7FEB}"/>
              </a:ext>
            </a:extLst>
          </p:cNvPr>
          <p:cNvSpPr txBox="1"/>
          <p:nvPr/>
        </p:nvSpPr>
        <p:spPr>
          <a:xfrm>
            <a:off x="2303206" y="69796"/>
            <a:ext cx="3744667" cy="3770263"/>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en-US" altLang="zh-CN" sz="23900" b="1" i="1" dirty="0">
                <a:solidFill>
                  <a:srgbClr val="00B050"/>
                </a:solidFill>
                <a:latin typeface="Times New Roman" panose="02020603050405020304" pitchFamily="18" charset="0"/>
                <a:ea typeface="义启小魏楷" panose="02010601030101010101" pitchFamily="2" charset="-122"/>
                <a:cs typeface="Times New Roman" panose="02020603050405020304" pitchFamily="18" charset="0"/>
              </a:rPr>
              <a:t>04</a:t>
            </a:r>
            <a:endParaRPr lang="zh-CN" altLang="en-US" sz="23900" b="1" i="1" dirty="0">
              <a:solidFill>
                <a:srgbClr val="00B050"/>
              </a:solidFill>
              <a:latin typeface="Times New Roman" panose="02020603050405020304" pitchFamily="18" charset="0"/>
              <a:ea typeface="义启小魏楷" panose="02010601030101010101" pitchFamily="2" charset="-122"/>
              <a:cs typeface="Times New Roman" panose="02020603050405020304" pitchFamily="18" charset="0"/>
            </a:endParaRPr>
          </a:p>
        </p:txBody>
      </p:sp>
      <p:pic>
        <p:nvPicPr>
          <p:cNvPr id="8" name="图片 11">
            <a:extLst>
              <a:ext uri="{FF2B5EF4-FFF2-40B4-BE49-F238E27FC236}">
                <a16:creationId xmlns:a16="http://schemas.microsoft.com/office/drawing/2014/main" id="{095986A8-89EA-F044-4AB6-4567093D82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765411" y="-2"/>
            <a:ext cx="5426589" cy="25273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980100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750"/>
                                        <p:tgtEl>
                                          <p:spTgt spid="35"/>
                                        </p:tgtEl>
                                      </p:cBhvr>
                                    </p:animEffect>
                                  </p:childTnLst>
                                </p:cTn>
                              </p:par>
                            </p:childTnLst>
                          </p:cTn>
                        </p:par>
                        <p:par>
                          <p:cTn id="8" fill="hold">
                            <p:stCondLst>
                              <p:cond delay="750"/>
                            </p:stCondLst>
                            <p:childTnLst>
                              <p:par>
                                <p:cTn id="9" presetID="2" presetClass="entr" presetSubtype="4"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750" fill="hold"/>
                                        <p:tgtEl>
                                          <p:spTgt spid="37"/>
                                        </p:tgtEl>
                                        <p:attrNameLst>
                                          <p:attrName>ppt_x</p:attrName>
                                        </p:attrNameLst>
                                      </p:cBhvr>
                                      <p:tavLst>
                                        <p:tav tm="0">
                                          <p:val>
                                            <p:strVal val="#ppt_x"/>
                                          </p:val>
                                        </p:tav>
                                        <p:tav tm="100000">
                                          <p:val>
                                            <p:strVal val="#ppt_x"/>
                                          </p:val>
                                        </p:tav>
                                      </p:tavLst>
                                    </p:anim>
                                    <p:anim calcmode="lin" valueType="num">
                                      <p:cBhvr additive="base">
                                        <p:cTn id="12" dur="750" fill="hold"/>
                                        <p:tgtEl>
                                          <p:spTgt spid="37"/>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2" presetClass="entr" presetSubtype="4"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750" fill="hold"/>
                                        <p:tgtEl>
                                          <p:spTgt spid="36"/>
                                        </p:tgtEl>
                                        <p:attrNameLst>
                                          <p:attrName>ppt_x</p:attrName>
                                        </p:attrNameLst>
                                      </p:cBhvr>
                                      <p:tavLst>
                                        <p:tav tm="0">
                                          <p:val>
                                            <p:strVal val="#ppt_x"/>
                                          </p:val>
                                        </p:tav>
                                        <p:tav tm="100000">
                                          <p:val>
                                            <p:strVal val="#ppt_x"/>
                                          </p:val>
                                        </p:tav>
                                      </p:tavLst>
                                    </p:anim>
                                    <p:anim calcmode="lin" valueType="num">
                                      <p:cBhvr additive="base">
                                        <p:cTn id="17" dur="750" fill="hold"/>
                                        <p:tgtEl>
                                          <p:spTgt spid="36"/>
                                        </p:tgtEl>
                                        <p:attrNameLst>
                                          <p:attrName>ppt_y</p:attrName>
                                        </p:attrNameLst>
                                      </p:cBhvr>
                                      <p:tavLst>
                                        <p:tav tm="0">
                                          <p:val>
                                            <p:strVal val="1+#ppt_h/2"/>
                                          </p:val>
                                        </p:tav>
                                        <p:tav tm="100000">
                                          <p:val>
                                            <p:strVal val="#ppt_y"/>
                                          </p:val>
                                        </p:tav>
                                      </p:tavLst>
                                    </p:anim>
                                  </p:childTnLst>
                                </p:cTn>
                              </p:par>
                            </p:childTnLst>
                          </p:cTn>
                        </p:par>
                        <p:par>
                          <p:cTn id="18" fill="hold">
                            <p:stCondLst>
                              <p:cond delay="225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2" name="图片 41">
            <a:extLst>
              <a:ext uri="{FF2B5EF4-FFF2-40B4-BE49-F238E27FC236}">
                <a16:creationId xmlns:a16="http://schemas.microsoft.com/office/drawing/2014/main" id="{B54E050B-8DE4-44FA-B55E-C0410211EF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1663" y="1993071"/>
            <a:ext cx="2204820" cy="1721160"/>
          </a:xfrm>
          <a:prstGeom prst="rect">
            <a:avLst/>
          </a:prstGeom>
        </p:spPr>
      </p:pic>
      <p:pic>
        <p:nvPicPr>
          <p:cNvPr id="6" name="图片 5">
            <a:extLst>
              <a:ext uri="{FF2B5EF4-FFF2-40B4-BE49-F238E27FC236}">
                <a16:creationId xmlns:a16="http://schemas.microsoft.com/office/drawing/2014/main" id="{3756EAE5-87E4-4C11-B586-0DCA95A3E7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flipH="1">
            <a:off x="9431218" y="3149897"/>
            <a:ext cx="3483994" cy="1953986"/>
          </a:xfrm>
          <a:prstGeom prst="rect">
            <a:avLst/>
          </a:prstGeom>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51C2FBE4-8508-4250-8ECE-8F556F9F71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67956" y="-101813"/>
            <a:ext cx="1724044" cy="3343070"/>
          </a:xfrm>
          <a:prstGeom prst="rect">
            <a:avLst/>
          </a:prstGeom>
          <a:effectLst>
            <a:outerShdw blurRad="50800" dist="38100" dir="2700000" algn="tl" rotWithShape="0">
              <a:prstClr val="black">
                <a:alpha val="40000"/>
              </a:prstClr>
            </a:outerShdw>
          </a:effectLst>
        </p:spPr>
      </p:pic>
      <p:pic>
        <p:nvPicPr>
          <p:cNvPr id="8" name="图片 7">
            <a:extLst>
              <a:ext uri="{FF2B5EF4-FFF2-40B4-BE49-F238E27FC236}">
                <a16:creationId xmlns:a16="http://schemas.microsoft.com/office/drawing/2014/main" id="{3EBD3194-FEC7-4297-B1D5-F17798D434D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3032490" cy="2336635"/>
          </a:xfrm>
          <a:prstGeom prst="rect">
            <a:avLst/>
          </a:prstGeom>
          <a:effectLst>
            <a:outerShdw blurRad="50800" dist="38100" dir="2700000" algn="tl" rotWithShape="0">
              <a:prstClr val="black">
                <a:alpha val="40000"/>
              </a:prstClr>
            </a:outerShdw>
          </a:effectLst>
        </p:spPr>
      </p:pic>
      <p:pic>
        <p:nvPicPr>
          <p:cNvPr id="19" name="图片 18">
            <a:extLst>
              <a:ext uri="{FF2B5EF4-FFF2-40B4-BE49-F238E27FC236}">
                <a16:creationId xmlns:a16="http://schemas.microsoft.com/office/drawing/2014/main" id="{1E5CC1E4-886E-4C56-B221-9609BE3A5B4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01481" y="4971935"/>
            <a:ext cx="3290519" cy="1845476"/>
          </a:xfrm>
          <a:prstGeom prst="rect">
            <a:avLst/>
          </a:prstGeom>
          <a:effectLst>
            <a:outerShdw blurRad="50800" dist="38100" dir="2700000" algn="tl" rotWithShape="0">
              <a:prstClr val="black">
                <a:alpha val="40000"/>
              </a:prstClr>
            </a:outerShdw>
          </a:effectLst>
        </p:spPr>
      </p:pic>
      <p:pic>
        <p:nvPicPr>
          <p:cNvPr id="34" name="图片 33">
            <a:extLst>
              <a:ext uri="{FF2B5EF4-FFF2-40B4-BE49-F238E27FC236}">
                <a16:creationId xmlns:a16="http://schemas.microsoft.com/office/drawing/2014/main" id="{69B6859B-52E7-4103-A0E3-9DAA29268E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18984">
            <a:off x="9275310" y="4370828"/>
            <a:ext cx="370909" cy="374206"/>
          </a:xfrm>
          <a:prstGeom prst="rect">
            <a:avLst/>
          </a:prstGeom>
        </p:spPr>
      </p:pic>
      <p:pic>
        <p:nvPicPr>
          <p:cNvPr id="35" name="图片 34">
            <a:extLst>
              <a:ext uri="{FF2B5EF4-FFF2-40B4-BE49-F238E27FC236}">
                <a16:creationId xmlns:a16="http://schemas.microsoft.com/office/drawing/2014/main" id="{ABC4A094-11FE-4B16-B742-9353EA0D27C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47431" y="1399664"/>
            <a:ext cx="347109" cy="369461"/>
          </a:xfrm>
          <a:prstGeom prst="rect">
            <a:avLst/>
          </a:prstGeom>
        </p:spPr>
      </p:pic>
      <p:pic>
        <p:nvPicPr>
          <p:cNvPr id="36" name="图片 35">
            <a:extLst>
              <a:ext uri="{FF2B5EF4-FFF2-40B4-BE49-F238E27FC236}">
                <a16:creationId xmlns:a16="http://schemas.microsoft.com/office/drawing/2014/main" id="{86C20FD1-75D2-4A5C-8939-A8E64F8D445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86973" y="2262341"/>
            <a:ext cx="680662" cy="680662"/>
          </a:xfrm>
          <a:prstGeom prst="rect">
            <a:avLst/>
          </a:prstGeom>
        </p:spPr>
      </p:pic>
      <p:pic>
        <p:nvPicPr>
          <p:cNvPr id="43" name="图片 42">
            <a:extLst>
              <a:ext uri="{FF2B5EF4-FFF2-40B4-BE49-F238E27FC236}">
                <a16:creationId xmlns:a16="http://schemas.microsoft.com/office/drawing/2014/main" id="{3614D60B-B7AC-4ECB-912B-D32ADD62923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rot="3485991">
            <a:off x="1574690" y="3698971"/>
            <a:ext cx="541612" cy="541612"/>
          </a:xfrm>
          <a:prstGeom prst="rect">
            <a:avLst/>
          </a:prstGeom>
        </p:spPr>
      </p:pic>
      <p:pic>
        <p:nvPicPr>
          <p:cNvPr id="44" name="图片 43">
            <a:extLst>
              <a:ext uri="{FF2B5EF4-FFF2-40B4-BE49-F238E27FC236}">
                <a16:creationId xmlns:a16="http://schemas.microsoft.com/office/drawing/2014/main" id="{2287DB81-E244-4258-A428-3200E3F3F7E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rot="3485991">
            <a:off x="1167009" y="4882973"/>
            <a:ext cx="448736" cy="448736"/>
          </a:xfrm>
          <a:prstGeom prst="rect">
            <a:avLst/>
          </a:prstGeom>
        </p:spPr>
      </p:pic>
      <p:pic>
        <p:nvPicPr>
          <p:cNvPr id="45" name="图片 44">
            <a:extLst>
              <a:ext uri="{FF2B5EF4-FFF2-40B4-BE49-F238E27FC236}">
                <a16:creationId xmlns:a16="http://schemas.microsoft.com/office/drawing/2014/main" id="{3658170E-EC73-4CC5-BFD9-5AA173A553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818984">
            <a:off x="1032491" y="3270481"/>
            <a:ext cx="370909" cy="374206"/>
          </a:xfrm>
          <a:prstGeom prst="rect">
            <a:avLst/>
          </a:prstGeom>
        </p:spPr>
      </p:pic>
      <p:sp>
        <p:nvSpPr>
          <p:cNvPr id="22" name="文本框 21">
            <a:extLst>
              <a:ext uri="{FF2B5EF4-FFF2-40B4-BE49-F238E27FC236}">
                <a16:creationId xmlns:a16="http://schemas.microsoft.com/office/drawing/2014/main" id="{50CECF19-F24C-4E58-96C2-91DBF335A447}"/>
              </a:ext>
            </a:extLst>
          </p:cNvPr>
          <p:cNvSpPr txBox="1"/>
          <p:nvPr/>
        </p:nvSpPr>
        <p:spPr>
          <a:xfrm>
            <a:off x="842859" y="3270577"/>
            <a:ext cx="8790484" cy="156966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600" b="1" i="0" u="none" strike="noStrike" kern="1200" cap="none" spc="0" normalizeH="0" baseline="0" noProof="0" dirty="0">
                <a:ln>
                  <a:noFill/>
                </a:ln>
                <a:solidFill>
                  <a:schemeClr val="tx1">
                    <a:lumMod val="85000"/>
                    <a:lumOff val="15000"/>
                  </a:schemeClr>
                </a:solidFill>
                <a:uLnTx/>
                <a:uFillTx/>
                <a:latin typeface="SimSun" panose="02010600030101010101" pitchFamily="2" charset="-122"/>
                <a:ea typeface="SimSun" panose="02010600030101010101" pitchFamily="2" charset="-122"/>
                <a:sym typeface="Source Han Serif SC" panose="02020400000000000000" pitchFamily="18" charset="-122"/>
              </a:rPr>
              <a:t>感谢您的欣赏</a:t>
            </a:r>
          </a:p>
        </p:txBody>
      </p:sp>
    </p:spTree>
    <p:extLst>
      <p:ext uri="{BB962C8B-B14F-4D97-AF65-F5344CB8AC3E}">
        <p14:creationId xmlns:p14="http://schemas.microsoft.com/office/powerpoint/2010/main" val="14398607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50"/>
                                        <p:tgtEl>
                                          <p:spTgt spid="8"/>
                                        </p:tgtEl>
                                      </p:cBhvr>
                                    </p:animEffect>
                                  </p:childTnLst>
                                </p:cTn>
                              </p:par>
                            </p:childTnLst>
                          </p:cTn>
                        </p:par>
                        <p:par>
                          <p:cTn id="8" fill="hold">
                            <p:stCondLst>
                              <p:cond delay="750"/>
                            </p:stCondLst>
                            <p:childTnLst>
                              <p:par>
                                <p:cTn id="9" presetID="31"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p:cTn id="11" dur="750" fill="hold"/>
                                        <p:tgtEl>
                                          <p:spTgt spid="36"/>
                                        </p:tgtEl>
                                        <p:attrNameLst>
                                          <p:attrName>ppt_w</p:attrName>
                                        </p:attrNameLst>
                                      </p:cBhvr>
                                      <p:tavLst>
                                        <p:tav tm="0">
                                          <p:val>
                                            <p:fltVal val="0"/>
                                          </p:val>
                                        </p:tav>
                                        <p:tav tm="100000">
                                          <p:val>
                                            <p:strVal val="#ppt_w"/>
                                          </p:val>
                                        </p:tav>
                                      </p:tavLst>
                                    </p:anim>
                                    <p:anim calcmode="lin" valueType="num">
                                      <p:cBhvr>
                                        <p:cTn id="12" dur="750" fill="hold"/>
                                        <p:tgtEl>
                                          <p:spTgt spid="36"/>
                                        </p:tgtEl>
                                        <p:attrNameLst>
                                          <p:attrName>ppt_h</p:attrName>
                                        </p:attrNameLst>
                                      </p:cBhvr>
                                      <p:tavLst>
                                        <p:tav tm="0">
                                          <p:val>
                                            <p:fltVal val="0"/>
                                          </p:val>
                                        </p:tav>
                                        <p:tav tm="100000">
                                          <p:val>
                                            <p:strVal val="#ppt_h"/>
                                          </p:val>
                                        </p:tav>
                                      </p:tavLst>
                                    </p:anim>
                                    <p:anim calcmode="lin" valueType="num">
                                      <p:cBhvr>
                                        <p:cTn id="13" dur="750" fill="hold"/>
                                        <p:tgtEl>
                                          <p:spTgt spid="36"/>
                                        </p:tgtEl>
                                        <p:attrNameLst>
                                          <p:attrName>style.rotation</p:attrName>
                                        </p:attrNameLst>
                                      </p:cBhvr>
                                      <p:tavLst>
                                        <p:tav tm="0">
                                          <p:val>
                                            <p:fltVal val="90"/>
                                          </p:val>
                                        </p:tav>
                                        <p:tav tm="100000">
                                          <p:val>
                                            <p:fltVal val="0"/>
                                          </p:val>
                                        </p:tav>
                                      </p:tavLst>
                                    </p:anim>
                                    <p:animEffect transition="in" filter="fade">
                                      <p:cBhvr>
                                        <p:cTn id="14" dur="750"/>
                                        <p:tgtEl>
                                          <p:spTgt spid="36"/>
                                        </p:tgtEl>
                                      </p:cBhvr>
                                    </p:animEffect>
                                  </p:childTnLst>
                                </p:cTn>
                              </p:par>
                              <p:par>
                                <p:cTn id="15" presetID="3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p:cTn id="17" dur="750" fill="hold"/>
                                        <p:tgtEl>
                                          <p:spTgt spid="45"/>
                                        </p:tgtEl>
                                        <p:attrNameLst>
                                          <p:attrName>ppt_w</p:attrName>
                                        </p:attrNameLst>
                                      </p:cBhvr>
                                      <p:tavLst>
                                        <p:tav tm="0">
                                          <p:val>
                                            <p:fltVal val="0"/>
                                          </p:val>
                                        </p:tav>
                                        <p:tav tm="100000">
                                          <p:val>
                                            <p:strVal val="#ppt_w"/>
                                          </p:val>
                                        </p:tav>
                                      </p:tavLst>
                                    </p:anim>
                                    <p:anim calcmode="lin" valueType="num">
                                      <p:cBhvr>
                                        <p:cTn id="18" dur="750" fill="hold"/>
                                        <p:tgtEl>
                                          <p:spTgt spid="45"/>
                                        </p:tgtEl>
                                        <p:attrNameLst>
                                          <p:attrName>ppt_h</p:attrName>
                                        </p:attrNameLst>
                                      </p:cBhvr>
                                      <p:tavLst>
                                        <p:tav tm="0">
                                          <p:val>
                                            <p:fltVal val="0"/>
                                          </p:val>
                                        </p:tav>
                                        <p:tav tm="100000">
                                          <p:val>
                                            <p:strVal val="#ppt_h"/>
                                          </p:val>
                                        </p:tav>
                                      </p:tavLst>
                                    </p:anim>
                                    <p:anim calcmode="lin" valueType="num">
                                      <p:cBhvr>
                                        <p:cTn id="19" dur="750" fill="hold"/>
                                        <p:tgtEl>
                                          <p:spTgt spid="45"/>
                                        </p:tgtEl>
                                        <p:attrNameLst>
                                          <p:attrName>style.rotation</p:attrName>
                                        </p:attrNameLst>
                                      </p:cBhvr>
                                      <p:tavLst>
                                        <p:tav tm="0">
                                          <p:val>
                                            <p:fltVal val="90"/>
                                          </p:val>
                                        </p:tav>
                                        <p:tav tm="100000">
                                          <p:val>
                                            <p:fltVal val="0"/>
                                          </p:val>
                                        </p:tav>
                                      </p:tavLst>
                                    </p:anim>
                                    <p:animEffect transition="in" filter="fade">
                                      <p:cBhvr>
                                        <p:cTn id="20" dur="750"/>
                                        <p:tgtEl>
                                          <p:spTgt spid="45"/>
                                        </p:tgtEl>
                                      </p:cBhvr>
                                    </p:animEffect>
                                  </p:childTnLst>
                                </p:cTn>
                              </p:par>
                              <p:par>
                                <p:cTn id="21" presetID="31" presetClass="entr" presetSubtype="0"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p:cTn id="23" dur="750" fill="hold"/>
                                        <p:tgtEl>
                                          <p:spTgt spid="43"/>
                                        </p:tgtEl>
                                        <p:attrNameLst>
                                          <p:attrName>ppt_w</p:attrName>
                                        </p:attrNameLst>
                                      </p:cBhvr>
                                      <p:tavLst>
                                        <p:tav tm="0">
                                          <p:val>
                                            <p:fltVal val="0"/>
                                          </p:val>
                                        </p:tav>
                                        <p:tav tm="100000">
                                          <p:val>
                                            <p:strVal val="#ppt_w"/>
                                          </p:val>
                                        </p:tav>
                                      </p:tavLst>
                                    </p:anim>
                                    <p:anim calcmode="lin" valueType="num">
                                      <p:cBhvr>
                                        <p:cTn id="24" dur="750" fill="hold"/>
                                        <p:tgtEl>
                                          <p:spTgt spid="43"/>
                                        </p:tgtEl>
                                        <p:attrNameLst>
                                          <p:attrName>ppt_h</p:attrName>
                                        </p:attrNameLst>
                                      </p:cBhvr>
                                      <p:tavLst>
                                        <p:tav tm="0">
                                          <p:val>
                                            <p:fltVal val="0"/>
                                          </p:val>
                                        </p:tav>
                                        <p:tav tm="100000">
                                          <p:val>
                                            <p:strVal val="#ppt_h"/>
                                          </p:val>
                                        </p:tav>
                                      </p:tavLst>
                                    </p:anim>
                                    <p:anim calcmode="lin" valueType="num">
                                      <p:cBhvr>
                                        <p:cTn id="25" dur="750" fill="hold"/>
                                        <p:tgtEl>
                                          <p:spTgt spid="43"/>
                                        </p:tgtEl>
                                        <p:attrNameLst>
                                          <p:attrName>style.rotation</p:attrName>
                                        </p:attrNameLst>
                                      </p:cBhvr>
                                      <p:tavLst>
                                        <p:tav tm="0">
                                          <p:val>
                                            <p:fltVal val="90"/>
                                          </p:val>
                                        </p:tav>
                                        <p:tav tm="100000">
                                          <p:val>
                                            <p:fltVal val="0"/>
                                          </p:val>
                                        </p:tav>
                                      </p:tavLst>
                                    </p:anim>
                                    <p:animEffect transition="in" filter="fade">
                                      <p:cBhvr>
                                        <p:cTn id="26" dur="750"/>
                                        <p:tgtEl>
                                          <p:spTgt spid="43"/>
                                        </p:tgtEl>
                                      </p:cBhvr>
                                    </p:animEffect>
                                  </p:childTnLst>
                                </p:cTn>
                              </p:par>
                              <p:par>
                                <p:cTn id="27" presetID="3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750" fill="hold"/>
                                        <p:tgtEl>
                                          <p:spTgt spid="44"/>
                                        </p:tgtEl>
                                        <p:attrNameLst>
                                          <p:attrName>ppt_w</p:attrName>
                                        </p:attrNameLst>
                                      </p:cBhvr>
                                      <p:tavLst>
                                        <p:tav tm="0">
                                          <p:val>
                                            <p:fltVal val="0"/>
                                          </p:val>
                                        </p:tav>
                                        <p:tav tm="100000">
                                          <p:val>
                                            <p:strVal val="#ppt_w"/>
                                          </p:val>
                                        </p:tav>
                                      </p:tavLst>
                                    </p:anim>
                                    <p:anim calcmode="lin" valueType="num">
                                      <p:cBhvr>
                                        <p:cTn id="30" dur="750" fill="hold"/>
                                        <p:tgtEl>
                                          <p:spTgt spid="44"/>
                                        </p:tgtEl>
                                        <p:attrNameLst>
                                          <p:attrName>ppt_h</p:attrName>
                                        </p:attrNameLst>
                                      </p:cBhvr>
                                      <p:tavLst>
                                        <p:tav tm="0">
                                          <p:val>
                                            <p:fltVal val="0"/>
                                          </p:val>
                                        </p:tav>
                                        <p:tav tm="100000">
                                          <p:val>
                                            <p:strVal val="#ppt_h"/>
                                          </p:val>
                                        </p:tav>
                                      </p:tavLst>
                                    </p:anim>
                                    <p:anim calcmode="lin" valueType="num">
                                      <p:cBhvr>
                                        <p:cTn id="31" dur="750" fill="hold"/>
                                        <p:tgtEl>
                                          <p:spTgt spid="44"/>
                                        </p:tgtEl>
                                        <p:attrNameLst>
                                          <p:attrName>style.rotation</p:attrName>
                                        </p:attrNameLst>
                                      </p:cBhvr>
                                      <p:tavLst>
                                        <p:tav tm="0">
                                          <p:val>
                                            <p:fltVal val="90"/>
                                          </p:val>
                                        </p:tav>
                                        <p:tav tm="100000">
                                          <p:val>
                                            <p:fltVal val="0"/>
                                          </p:val>
                                        </p:tav>
                                      </p:tavLst>
                                    </p:anim>
                                    <p:animEffect transition="in" filter="fade">
                                      <p:cBhvr>
                                        <p:cTn id="32" dur="750"/>
                                        <p:tgtEl>
                                          <p:spTgt spid="44"/>
                                        </p:tgtEl>
                                      </p:cBhvr>
                                    </p:animEffect>
                                  </p:childTnLst>
                                </p:cTn>
                              </p:par>
                            </p:childTnLst>
                          </p:cTn>
                        </p:par>
                        <p:par>
                          <p:cTn id="33" fill="hold">
                            <p:stCondLst>
                              <p:cond delay="1500"/>
                            </p:stCondLst>
                            <p:childTnLst>
                              <p:par>
                                <p:cTn id="34" presetID="22" presetClass="entr" presetSubtype="4" fill="hold"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750"/>
                                        <p:tgtEl>
                                          <p:spTgt spid="19"/>
                                        </p:tgtEl>
                                      </p:cBhvr>
                                    </p:animEffect>
                                  </p:childTnLst>
                                </p:cTn>
                              </p:par>
                              <p:par>
                                <p:cTn id="37" presetID="22" presetClass="entr" presetSubtype="2"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right)">
                                      <p:cBhvr>
                                        <p:cTn id="39" dur="750"/>
                                        <p:tgtEl>
                                          <p:spTgt spid="6"/>
                                        </p:tgtEl>
                                      </p:cBhvr>
                                    </p:animEffect>
                                  </p:childTnLst>
                                </p:cTn>
                              </p:par>
                              <p:par>
                                <p:cTn id="40" presetID="22" presetClass="entr" presetSubtype="2"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right)">
                                      <p:cBhvr>
                                        <p:cTn id="42" dur="750"/>
                                        <p:tgtEl>
                                          <p:spTgt spid="7"/>
                                        </p:tgtEl>
                                      </p:cBhvr>
                                    </p:animEffect>
                                  </p:childTnLst>
                                </p:cTn>
                              </p:par>
                            </p:childTnLst>
                          </p:cTn>
                        </p:par>
                        <p:par>
                          <p:cTn id="43" fill="hold">
                            <p:stCondLst>
                              <p:cond delay="2250"/>
                            </p:stCondLst>
                            <p:childTnLst>
                              <p:par>
                                <p:cTn id="44" presetID="31" presetClass="entr" presetSubtype="0" fill="hold" nodeType="after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p:cTn id="46" dur="750" fill="hold"/>
                                        <p:tgtEl>
                                          <p:spTgt spid="35"/>
                                        </p:tgtEl>
                                        <p:attrNameLst>
                                          <p:attrName>ppt_w</p:attrName>
                                        </p:attrNameLst>
                                      </p:cBhvr>
                                      <p:tavLst>
                                        <p:tav tm="0">
                                          <p:val>
                                            <p:fltVal val="0"/>
                                          </p:val>
                                        </p:tav>
                                        <p:tav tm="100000">
                                          <p:val>
                                            <p:strVal val="#ppt_w"/>
                                          </p:val>
                                        </p:tav>
                                      </p:tavLst>
                                    </p:anim>
                                    <p:anim calcmode="lin" valueType="num">
                                      <p:cBhvr>
                                        <p:cTn id="47" dur="750" fill="hold"/>
                                        <p:tgtEl>
                                          <p:spTgt spid="35"/>
                                        </p:tgtEl>
                                        <p:attrNameLst>
                                          <p:attrName>ppt_h</p:attrName>
                                        </p:attrNameLst>
                                      </p:cBhvr>
                                      <p:tavLst>
                                        <p:tav tm="0">
                                          <p:val>
                                            <p:fltVal val="0"/>
                                          </p:val>
                                        </p:tav>
                                        <p:tav tm="100000">
                                          <p:val>
                                            <p:strVal val="#ppt_h"/>
                                          </p:val>
                                        </p:tav>
                                      </p:tavLst>
                                    </p:anim>
                                    <p:anim calcmode="lin" valueType="num">
                                      <p:cBhvr>
                                        <p:cTn id="48" dur="750" fill="hold"/>
                                        <p:tgtEl>
                                          <p:spTgt spid="35"/>
                                        </p:tgtEl>
                                        <p:attrNameLst>
                                          <p:attrName>style.rotation</p:attrName>
                                        </p:attrNameLst>
                                      </p:cBhvr>
                                      <p:tavLst>
                                        <p:tav tm="0">
                                          <p:val>
                                            <p:fltVal val="90"/>
                                          </p:val>
                                        </p:tav>
                                        <p:tav tm="100000">
                                          <p:val>
                                            <p:fltVal val="0"/>
                                          </p:val>
                                        </p:tav>
                                      </p:tavLst>
                                    </p:anim>
                                    <p:animEffect transition="in" filter="fade">
                                      <p:cBhvr>
                                        <p:cTn id="49" dur="750"/>
                                        <p:tgtEl>
                                          <p:spTgt spid="35"/>
                                        </p:tgtEl>
                                      </p:cBhvr>
                                    </p:animEffect>
                                  </p:childTnLst>
                                </p:cTn>
                              </p:par>
                              <p:par>
                                <p:cTn id="50" presetID="31" presetClass="entr" presetSubtype="0"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p:cTn id="52" dur="750" fill="hold"/>
                                        <p:tgtEl>
                                          <p:spTgt spid="34"/>
                                        </p:tgtEl>
                                        <p:attrNameLst>
                                          <p:attrName>ppt_w</p:attrName>
                                        </p:attrNameLst>
                                      </p:cBhvr>
                                      <p:tavLst>
                                        <p:tav tm="0">
                                          <p:val>
                                            <p:fltVal val="0"/>
                                          </p:val>
                                        </p:tav>
                                        <p:tav tm="100000">
                                          <p:val>
                                            <p:strVal val="#ppt_w"/>
                                          </p:val>
                                        </p:tav>
                                      </p:tavLst>
                                    </p:anim>
                                    <p:anim calcmode="lin" valueType="num">
                                      <p:cBhvr>
                                        <p:cTn id="53" dur="750" fill="hold"/>
                                        <p:tgtEl>
                                          <p:spTgt spid="34"/>
                                        </p:tgtEl>
                                        <p:attrNameLst>
                                          <p:attrName>ppt_h</p:attrName>
                                        </p:attrNameLst>
                                      </p:cBhvr>
                                      <p:tavLst>
                                        <p:tav tm="0">
                                          <p:val>
                                            <p:fltVal val="0"/>
                                          </p:val>
                                        </p:tav>
                                        <p:tav tm="100000">
                                          <p:val>
                                            <p:strVal val="#ppt_h"/>
                                          </p:val>
                                        </p:tav>
                                      </p:tavLst>
                                    </p:anim>
                                    <p:anim calcmode="lin" valueType="num">
                                      <p:cBhvr>
                                        <p:cTn id="54" dur="750" fill="hold"/>
                                        <p:tgtEl>
                                          <p:spTgt spid="34"/>
                                        </p:tgtEl>
                                        <p:attrNameLst>
                                          <p:attrName>style.rotation</p:attrName>
                                        </p:attrNameLst>
                                      </p:cBhvr>
                                      <p:tavLst>
                                        <p:tav tm="0">
                                          <p:val>
                                            <p:fltVal val="90"/>
                                          </p:val>
                                        </p:tav>
                                        <p:tav tm="100000">
                                          <p:val>
                                            <p:fltVal val="0"/>
                                          </p:val>
                                        </p:tav>
                                      </p:tavLst>
                                    </p:anim>
                                    <p:animEffect transition="in" filter="fade">
                                      <p:cBhvr>
                                        <p:cTn id="55" dur="750"/>
                                        <p:tgtEl>
                                          <p:spTgt spid="34"/>
                                        </p:tgtEl>
                                      </p:cBhvr>
                                    </p:animEffect>
                                  </p:childTnLst>
                                </p:cTn>
                              </p:par>
                            </p:childTnLst>
                          </p:cTn>
                        </p:par>
                        <p:par>
                          <p:cTn id="56" fill="hold">
                            <p:stCondLst>
                              <p:cond delay="3000"/>
                            </p:stCondLst>
                            <p:childTnLst>
                              <p:par>
                                <p:cTn id="57" presetID="22" presetClass="entr" presetSubtype="4" fill="hold"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wipe(down)">
                                      <p:cBhvr>
                                        <p:cTn id="59" dur="7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5" name="Table 4">
            <a:extLst>
              <a:ext uri="{FF2B5EF4-FFF2-40B4-BE49-F238E27FC236}">
                <a16:creationId xmlns:a16="http://schemas.microsoft.com/office/drawing/2014/main" id="{1AD81DFB-1D55-6EEA-FBB5-025415BB9F4B}"/>
              </a:ext>
            </a:extLst>
          </p:cNvPr>
          <p:cNvGraphicFramePr>
            <a:graphicFrameLocks noGrp="1"/>
          </p:cNvGraphicFramePr>
          <p:nvPr>
            <p:extLst>
              <p:ext uri="{D42A27DB-BD31-4B8C-83A1-F6EECF244321}">
                <p14:modId xmlns:p14="http://schemas.microsoft.com/office/powerpoint/2010/main" val="2781928758"/>
              </p:ext>
            </p:extLst>
          </p:nvPr>
        </p:nvGraphicFramePr>
        <p:xfrm>
          <a:off x="2764722" y="39645"/>
          <a:ext cx="6999764" cy="4120000"/>
        </p:xfrm>
        <a:graphic>
          <a:graphicData uri="http://schemas.openxmlformats.org/drawingml/2006/table">
            <a:tbl>
              <a:tblPr firstRow="1">
                <a:tableStyleId>{5C22544A-7EE6-4342-B048-85BDC9FD1C3A}</a:tableStyleId>
              </a:tblPr>
              <a:tblGrid>
                <a:gridCol w="1067050">
                  <a:extLst>
                    <a:ext uri="{9D8B030D-6E8A-4147-A177-3AD203B41FA5}">
                      <a16:colId xmlns:a16="http://schemas.microsoft.com/office/drawing/2014/main" val="2897192029"/>
                    </a:ext>
                  </a:extLst>
                </a:gridCol>
                <a:gridCol w="2512263">
                  <a:extLst>
                    <a:ext uri="{9D8B030D-6E8A-4147-A177-3AD203B41FA5}">
                      <a16:colId xmlns:a16="http://schemas.microsoft.com/office/drawing/2014/main" val="2090168382"/>
                    </a:ext>
                  </a:extLst>
                </a:gridCol>
                <a:gridCol w="992937">
                  <a:extLst>
                    <a:ext uri="{9D8B030D-6E8A-4147-A177-3AD203B41FA5}">
                      <a16:colId xmlns:a16="http://schemas.microsoft.com/office/drawing/2014/main" val="964787021"/>
                    </a:ext>
                  </a:extLst>
                </a:gridCol>
                <a:gridCol w="2427514">
                  <a:extLst>
                    <a:ext uri="{9D8B030D-6E8A-4147-A177-3AD203B41FA5}">
                      <a16:colId xmlns:a16="http://schemas.microsoft.com/office/drawing/2014/main" val="934390766"/>
                    </a:ext>
                  </a:extLst>
                </a:gridCol>
              </a:tblGrid>
              <a:tr h="480000">
                <a:tc>
                  <a:txBody>
                    <a:bodyPr/>
                    <a:lstStyle/>
                    <a:p>
                      <a:pPr marL="0" indent="0" algn="ctr" defTabSz="914400" rtl="0" eaLnBrk="1" latinLnBrk="0" hangingPunct="1">
                        <a:buFontTx/>
                        <a:buNone/>
                      </a:pP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75000"/>
                        <a:alpha val="0"/>
                      </a:schemeClr>
                    </a:solidFill>
                  </a:tcPr>
                </a:tc>
                <a:tc>
                  <a:txBody>
                    <a:bodyPr/>
                    <a:lstStyle/>
                    <a:p>
                      <a:pPr marL="0" indent="0" algn="ctr" defTabSz="914400" rtl="0" eaLnBrk="1" latinLnBrk="0" hangingPunct="1">
                        <a:buFontTx/>
                        <a:buNone/>
                      </a:pPr>
                      <a:r>
                        <a:rPr lang="en-US" sz="2000" b="1" kern="1200" dirty="0" err="1">
                          <a:solidFill>
                            <a:srgbClr val="07443C"/>
                          </a:solidFill>
                          <a:effectLst/>
                          <a:latin typeface="Times New Roman" panose="02020603050405020304" pitchFamily="18" charset="0"/>
                          <a:ea typeface="+mn-ea"/>
                          <a:cs typeface="Times New Roman" panose="02020603050405020304" pitchFamily="18" charset="0"/>
                        </a:rPr>
                        <a:t>Tiếng</a:t>
                      </a: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STT</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000" b="1" kern="1200" dirty="0" err="1">
                          <a:solidFill>
                            <a:srgbClr val="07443C"/>
                          </a:solidFill>
                          <a:effectLst/>
                          <a:latin typeface="Times New Roman" panose="02020603050405020304" pitchFamily="18" charset="0"/>
                          <a:ea typeface="+mn-ea"/>
                          <a:cs typeface="Times New Roman" panose="02020603050405020304" pitchFamily="18" charset="0"/>
                        </a:rPr>
                        <a:t>Tiếng</a:t>
                      </a: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 Trung</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780970290"/>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干</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dirty="0">
                          <a:solidFill>
                            <a:schemeClr val="dk1"/>
                          </a:solidFill>
                          <a:latin typeface="Times New Roman" panose="02020603050405020304" pitchFamily="18" charset="0"/>
                          <a:ea typeface="+mn-ea"/>
                          <a:cs typeface="Times New Roman" panose="02020603050405020304" pitchFamily="18" charset="0"/>
                        </a:rPr>
                        <a:t>8</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听</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435671246"/>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宿舍</a:t>
                      </a:r>
                      <a:endParaRPr lang="en-US" sz="2800" b="1" kern="120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9</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音乐</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08783273"/>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3</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10</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东西</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870237937"/>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4</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画儿</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11</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一块儿</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391610677"/>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5</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喜欢</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12</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房间</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2914348664"/>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6</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中国画</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b="1" kern="1200" dirty="0">
                          <a:solidFill>
                            <a:srgbClr val="07443C"/>
                          </a:solidFill>
                          <a:effectLst/>
                          <a:latin typeface="Times New Roman" panose="02020603050405020304" pitchFamily="18" charset="0"/>
                          <a:ea typeface="+mn-ea"/>
                          <a:cs typeface="Times New Roman" panose="02020603050405020304" pitchFamily="18" charset="0"/>
                        </a:rPr>
                        <a:t>13</a:t>
                      </a:r>
                      <a:endParaRPr lang="en-US" sz="23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收拾</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3025155497"/>
                  </a:ext>
                </a:extLst>
              </a:tr>
              <a:tr h="520000">
                <a:tc>
                  <a:txBody>
                    <a:bodyPr/>
                    <a:lstStyle/>
                    <a:p>
                      <a:pPr marL="0" indent="0" algn="ctr" defTabSz="914400" rtl="0" eaLnBrk="1" fontAlgn="b" latinLnBrk="0" hangingPunct="1">
                        <a:buFontTx/>
                        <a:buNone/>
                      </a:pPr>
                      <a:r>
                        <a:rPr lang="en-US" sz="2000" b="0" i="0" u="none" strike="noStrike" kern="1200">
                          <a:solidFill>
                            <a:schemeClr val="tx1">
                              <a:lumMod val="50000"/>
                            </a:schemeClr>
                          </a:solidFill>
                          <a:effectLst/>
                          <a:latin typeface="Times New Roman" panose="02020603050405020304" pitchFamily="18" charset="0"/>
                          <a:ea typeface="+mn-ea"/>
                          <a:cs typeface="Times New Roman" panose="02020603050405020304" pitchFamily="18" charset="0"/>
                        </a:rPr>
                        <a:t>7</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一般</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fontAlgn="b" latinLnBrk="0" hangingPunct="1">
                        <a:buFontTx/>
                        <a:buNone/>
                      </a:pPr>
                      <a:r>
                        <a:rPr lang="en-US" sz="2000" i="0" kern="1200">
                          <a:solidFill>
                            <a:schemeClr val="dk1"/>
                          </a:solidFill>
                          <a:latin typeface="Times New Roman" panose="02020603050405020304" pitchFamily="18" charset="0"/>
                          <a:ea typeface="+mn-ea"/>
                          <a:cs typeface="Times New Roman" panose="02020603050405020304" pitchFamily="18" charset="0"/>
                        </a:rPr>
                        <a:t/>
                      </a: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tc>
                  <a:txBody>
                    <a:bodyPr/>
                    <a:lstStyle/>
                    <a:p>
                      <a:pPr marL="0" indent="0" algn="ctr" defTabSz="914400" rtl="0" eaLnBrk="1" latinLnBrk="0" hangingPunct="1">
                        <a:buFontTx/>
                        <a:buNone/>
                      </a:pPr>
                      <a:r>
                        <a:rPr lang="zh-CN" alt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rPr>
                        <a:t/>
                      </a:r>
                      <a:endParaRPr lang="en-US" sz="2800" b="1" kern="1200" dirty="0">
                        <a:solidFill>
                          <a:srgbClr val="D1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04" marR="91404" marT="45702" marB="45702"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5">
                        <a:lumMod val="75000"/>
                        <a:alpha val="0"/>
                      </a:schemeClr>
                    </a:solidFill>
                  </a:tcPr>
                </a:tc>
                <a:extLst>
                  <a:ext uri="{0D108BD9-81ED-4DB2-BD59-A6C34878D82A}">
                    <a16:rowId xmlns:a16="http://schemas.microsoft.com/office/drawing/2014/main" val="1945459062"/>
                  </a:ext>
                </a:extLst>
              </a:tr>
            </a:tbl>
          </a:graphicData>
        </a:graphic>
      </p:graphicFrame>
      <p:sp>
        <p:nvSpPr>
          <p:cNvPr id="6" name="Title 1">
            <a:extLst>
              <a:ext uri="{FF2B5EF4-FFF2-40B4-BE49-F238E27FC236}">
                <a16:creationId xmlns:a16="http://schemas.microsoft.com/office/drawing/2014/main" id="{6BE892D0-F057-4B8E-1E8C-82FCB8F53C11}"/>
              </a:ext>
            </a:extLst>
          </p:cNvPr>
          <p:cNvSpPr txBox="1">
            <a:spLocks/>
          </p:cNvSpPr>
          <p:nvPr/>
        </p:nvSpPr>
        <p:spPr>
          <a:xfrm>
            <a:off x="113699" y="39645"/>
            <a:ext cx="2936479" cy="31813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solidFill>
                  <a:srgbClr val="FF0000"/>
                </a:solidFill>
                <a:latin typeface="KaiTi" panose="02010609060101010101" pitchFamily="49" charset="-122"/>
                <a:ea typeface="KaiTi" panose="02010609060101010101" pitchFamily="49" charset="-122"/>
              </a:rPr>
              <a:t>课 文三 Bài khóa 3</a:t>
            </a:r>
            <a:endParaRPr lang="en-US" sz="2000" dirty="0">
              <a:solidFill>
                <a:srgbClr val="FF0000"/>
              </a:solidFill>
              <a:latin typeface="KaiTi" panose="02010609060101010101" pitchFamily="49" charset="-122"/>
              <a:ea typeface="KaiTi" panose="02010609060101010101" pitchFamily="49"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7567">
        <p15:prstTrans prst="airplane"/>
      </p:transition>
    </mc:Choice>
    <mc:Fallback xmlns="" xmlns:p14="http://schemas.microsoft.com/office/powerpoint/2010/main">
      <p:transition spd="slow" advTm="7567">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公司介绍23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1943</TotalTime>
  <Words>3349</Words>
  <Application>Microsoft Macintosh PowerPoint</Application>
  <PresentationFormat>Widescreen</PresentationFormat>
  <Paragraphs>971</Paragraphs>
  <Slides>72</Slides>
  <Notes>63</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等线</vt:lpstr>
      <vt:lpstr>等线 Light</vt:lpstr>
      <vt:lpstr>KaiTi</vt:lpstr>
      <vt:lpstr>微软雅黑</vt:lpstr>
      <vt:lpstr>SimSun</vt:lpstr>
      <vt:lpstr>SimSun</vt:lpstr>
      <vt:lpstr>义启小魏楷</vt:lpstr>
      <vt:lpstr>Arial</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minliang</dc:creator>
  <cp:lastModifiedBy>Nguyễn Quỳnh</cp:lastModifiedBy>
  <cp:revision>383</cp:revision>
  <dcterms:created xsi:type="dcterms:W3CDTF">2019-03-18T13:15:58Z</dcterms:created>
  <dcterms:modified xsi:type="dcterms:W3CDTF">2026-10-11T17:12:35Z</dcterms:modified>
</cp:coreProperties>
</file>